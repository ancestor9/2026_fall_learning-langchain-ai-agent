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9"/>
  </p:notesMasterIdLst>
  <p:handoutMasterIdLst>
    <p:handoutMasterId r:id="rId50"/>
  </p:handoutMasterIdLst>
  <p:sldIdLst>
    <p:sldId id="256" r:id="rId2"/>
    <p:sldId id="1136" r:id="rId3"/>
    <p:sldId id="1140" r:id="rId4"/>
    <p:sldId id="1137" r:id="rId5"/>
    <p:sldId id="1224" r:id="rId6"/>
    <p:sldId id="1153" r:id="rId7"/>
    <p:sldId id="1230" r:id="rId8"/>
    <p:sldId id="1142" r:id="rId9"/>
    <p:sldId id="1141" r:id="rId10"/>
    <p:sldId id="1228" r:id="rId11"/>
    <p:sldId id="1229" r:id="rId12"/>
    <p:sldId id="1232" r:id="rId13"/>
    <p:sldId id="1233" r:id="rId14"/>
    <p:sldId id="1234" r:id="rId15"/>
    <p:sldId id="1235" r:id="rId16"/>
    <p:sldId id="1239" r:id="rId17"/>
    <p:sldId id="1236" r:id="rId18"/>
    <p:sldId id="1237" r:id="rId19"/>
    <p:sldId id="1238" r:id="rId20"/>
    <p:sldId id="1231" r:id="rId21"/>
    <p:sldId id="1144" r:id="rId22"/>
    <p:sldId id="1241" r:id="rId23"/>
    <p:sldId id="1242" r:id="rId24"/>
    <p:sldId id="1246" r:id="rId25"/>
    <p:sldId id="1243" r:id="rId26"/>
    <p:sldId id="1244" r:id="rId27"/>
    <p:sldId id="1245" r:id="rId28"/>
    <p:sldId id="1247" r:id="rId29"/>
    <p:sldId id="1248" r:id="rId30"/>
    <p:sldId id="1249" r:id="rId31"/>
    <p:sldId id="1250" r:id="rId32"/>
    <p:sldId id="1240" r:id="rId33"/>
    <p:sldId id="1145" r:id="rId34"/>
    <p:sldId id="1252" r:id="rId35"/>
    <p:sldId id="1253" r:id="rId36"/>
    <p:sldId id="1254" r:id="rId37"/>
    <p:sldId id="1255" r:id="rId38"/>
    <p:sldId id="1261" r:id="rId39"/>
    <p:sldId id="1257" r:id="rId40"/>
    <p:sldId id="1259" r:id="rId41"/>
    <p:sldId id="1258" r:id="rId42"/>
    <p:sldId id="1260" r:id="rId43"/>
    <p:sldId id="1256" r:id="rId44"/>
    <p:sldId id="1251" r:id="rId45"/>
    <p:sldId id="1138" r:id="rId46"/>
    <p:sldId id="1143" r:id="rId47"/>
    <p:sldId id="1139" r:id="rId4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136"/>
            <p14:sldId id="1140"/>
            <p14:sldId id="1137"/>
            <p14:sldId id="1224"/>
            <p14:sldId id="1153"/>
            <p14:sldId id="1230"/>
            <p14:sldId id="1142"/>
            <p14:sldId id="1141"/>
            <p14:sldId id="1228"/>
            <p14:sldId id="1229"/>
            <p14:sldId id="1232"/>
            <p14:sldId id="1233"/>
            <p14:sldId id="1234"/>
            <p14:sldId id="1235"/>
            <p14:sldId id="1239"/>
            <p14:sldId id="1236"/>
            <p14:sldId id="1237"/>
            <p14:sldId id="1238"/>
            <p14:sldId id="1231"/>
            <p14:sldId id="1144"/>
            <p14:sldId id="1241"/>
            <p14:sldId id="1242"/>
            <p14:sldId id="1246"/>
            <p14:sldId id="1243"/>
            <p14:sldId id="1244"/>
            <p14:sldId id="1245"/>
            <p14:sldId id="1247"/>
            <p14:sldId id="1248"/>
            <p14:sldId id="1249"/>
            <p14:sldId id="1250"/>
            <p14:sldId id="1240"/>
            <p14:sldId id="1145"/>
            <p14:sldId id="1252"/>
            <p14:sldId id="1253"/>
            <p14:sldId id="1254"/>
            <p14:sldId id="1255"/>
            <p14:sldId id="1261"/>
            <p14:sldId id="1257"/>
            <p14:sldId id="1259"/>
            <p14:sldId id="1258"/>
            <p14:sldId id="1260"/>
            <p14:sldId id="1256"/>
            <p14:sldId id="1251"/>
            <p14:sldId id="1138"/>
            <p14:sldId id="1143"/>
            <p14:sldId id="1139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76E3FF"/>
    <a:srgbClr val="FF9B45"/>
    <a:srgbClr val="DD462F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>
        <p:scale>
          <a:sx n="66" d="100"/>
          <a:sy n="66" d="100"/>
        </p:scale>
        <p:origin x="1330" y="365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-15000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handoutMaster" Target="handoutMasters/handoutMaster1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commentAuthors" Target="commentAuthor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2026-08-05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2026-08-05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6D464-31C2-C029-A5BF-92F2325227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9FA5761-B988-BCCC-7BC5-C84AABE06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BA49240A-4FFF-8D87-9DC9-6B66810715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FB0160F-F34B-A542-2107-6F57352A40E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113614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23068F-4B08-142C-1EB5-1D8DA9F68B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C79132AC-EB19-D648-6B32-3D5EB194B2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BE2CB05-3A96-52D9-758B-A2281566DC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984B633-4D5D-2A75-A02C-A7217356BE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315952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797907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34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369074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2026-08-05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8/5/2026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2026-08-05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docker.com/desktop/setup/install/windows-install/" TargetMode="External"/><Relationship Id="rId2" Type="http://schemas.openxmlformats.org/officeDocument/2006/relationships/hyperlink" Target="https://learn.microsoft.com/ko-kr/windows/wsl/install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DhuaKAW819s&amp;list=PLhqjU9f_F2T8yuYZxVYzaUq3xKJa6JPvb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youtube.com/watch?v=XGmjJUrda2g&amp;t=121s" TargetMode="Externa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AP9CLEicF1s&amp;list=PLkt-u2nHD3yPD2ZkJuxozyUEnBpLoCrOe&amp;index=4&amp;t=474s" TargetMode="Externa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N6Ual_n9SaQ" TargetMode="External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9aS--Zs5ILA&amp;t=813s" TargetMode="External"/><Relationship Id="rId2" Type="http://schemas.openxmlformats.org/officeDocument/2006/relationships/hyperlink" Target="https://www.youtube.com/watch?v=3eDguAZOFsA&amp;t=40s" TargetMode="External"/><Relationship Id="rId1" Type="http://schemas.openxmlformats.org/officeDocument/2006/relationships/slideLayout" Target="../slideLayouts/slideLayout4.xml"/><Relationship Id="rId4" Type="http://schemas.openxmlformats.org/officeDocument/2006/relationships/hyperlink" Target="https://www.youtube.com/watch?v=kKkQCnqWbaU" TargetMode="Externa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EDBDF-4942-26B7-ECF8-D411863DF1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32F42C0-07C8-1960-872A-C341FE52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83E9E23-F77D-44D2-EB8C-9981740FAE8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Goals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C30ED4-574C-DB1B-8F04-3DED9F5D3882}"/>
              </a:ext>
            </a:extLst>
          </p:cNvPr>
          <p:cNvSpPr txBox="1"/>
          <p:nvPr/>
        </p:nvSpPr>
        <p:spPr>
          <a:xfrm>
            <a:off x="673101" y="1380184"/>
            <a:ext cx="84486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n8n </a:t>
            </a:r>
            <a:r>
              <a:rPr lang="en-US" altLang="ko-KR" dirty="0" err="1"/>
              <a:t>Facilatator</a:t>
            </a:r>
            <a:r>
              <a:rPr lang="en-US" altLang="ko-KR" dirty="0"/>
              <a:t> </a:t>
            </a:r>
            <a:r>
              <a:rPr lang="ko-KR" altLang="en-US" dirty="0"/>
              <a:t>길라잡이</a:t>
            </a:r>
            <a:br>
              <a:rPr lang="ko-KR" altLang="en-US" dirty="0"/>
            </a:br>
            <a:r>
              <a:rPr lang="en-US" altLang="ko-KR" dirty="0">
                <a:hlinkClick r:id="rId2"/>
              </a:rPr>
              <a:t>WSL</a:t>
            </a:r>
            <a:r>
              <a:rPr lang="ko-KR" altLang="en-US" dirty="0"/>
              <a:t> 설치하고 </a:t>
            </a:r>
            <a:r>
              <a:rPr lang="en-US" altLang="ko-KR" dirty="0" err="1"/>
              <a:t>Ubutu</a:t>
            </a:r>
            <a:r>
              <a:rPr lang="en-US" altLang="ko-KR" dirty="0"/>
              <a:t> </a:t>
            </a:r>
            <a:r>
              <a:rPr lang="ko-KR" altLang="en-US" dirty="0"/>
              <a:t>올리시고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>
                <a:hlinkClick r:id="rId3"/>
              </a:rPr>
              <a:t>docker </a:t>
            </a:r>
            <a:r>
              <a:rPr lang="en-US" altLang="ko-KR" dirty="0" err="1">
                <a:hlinkClick r:id="rId3"/>
              </a:rPr>
              <a:t>desltop</a:t>
            </a:r>
            <a:r>
              <a:rPr lang="ko-KR" altLang="en-US" dirty="0"/>
              <a:t> 으로 </a:t>
            </a:r>
            <a:r>
              <a:rPr lang="en-US" altLang="ko-KR" dirty="0"/>
              <a:t>Docker </a:t>
            </a:r>
            <a:r>
              <a:rPr lang="ko-KR" altLang="en-US" dirty="0"/>
              <a:t>묻고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>
                <a:hlinkClick r:id="rId4"/>
              </a:rPr>
              <a:t>자동화 </a:t>
            </a:r>
            <a:r>
              <a:rPr lang="ko-KR" altLang="en-US" dirty="0" err="1">
                <a:hlinkClick r:id="rId4"/>
              </a:rPr>
              <a:t>끝판왕</a:t>
            </a:r>
            <a:r>
              <a:rPr lang="ko-KR" altLang="en-US" dirty="0">
                <a:hlinkClick r:id="rId4"/>
              </a:rPr>
              <a:t> </a:t>
            </a:r>
            <a:r>
              <a:rPr lang="en-US" altLang="ko-KR" dirty="0">
                <a:hlinkClick r:id="rId4"/>
              </a:rPr>
              <a:t>n8n, </a:t>
            </a:r>
            <a:r>
              <a:rPr lang="ko-KR" altLang="en-US" dirty="0">
                <a:hlinkClick r:id="rId4"/>
              </a:rPr>
              <a:t>이렇게 설치하면 평생 무료입니다</a:t>
            </a:r>
            <a:r>
              <a:rPr lang="en-US" altLang="ko-KR" dirty="0">
                <a:hlinkClick r:id="rId4"/>
              </a:rPr>
              <a:t>! (</a:t>
            </a:r>
            <a:r>
              <a:rPr lang="ko-KR" altLang="en-US" dirty="0" err="1">
                <a:hlinkClick r:id="rId4"/>
              </a:rPr>
              <a:t>웹훅</a:t>
            </a:r>
            <a:r>
              <a:rPr lang="ko-KR" altLang="en-US" dirty="0">
                <a:hlinkClick r:id="rId4"/>
              </a:rPr>
              <a:t> 설정</a:t>
            </a:r>
            <a:r>
              <a:rPr lang="en-US" altLang="ko-KR" dirty="0">
                <a:hlinkClick r:id="rId4"/>
              </a:rPr>
              <a:t>, </a:t>
            </a:r>
            <a:r>
              <a:rPr lang="ko-KR" altLang="en-US" dirty="0">
                <a:hlinkClick r:id="rId4"/>
              </a:rPr>
              <a:t>버전 업데이트 포함</a:t>
            </a:r>
            <a:r>
              <a:rPr lang="en-US" altLang="ko-KR" dirty="0">
                <a:hlinkClick r:id="rId4"/>
              </a:rPr>
              <a:t>)</a:t>
            </a:r>
            <a:r>
              <a:rPr lang="ko-KR" altLang="en-US" dirty="0"/>
              <a:t> 보시고 따라해서 </a:t>
            </a:r>
            <a:r>
              <a:rPr lang="en-US" altLang="ko-KR" dirty="0"/>
              <a:t>n8n </a:t>
            </a:r>
            <a:r>
              <a:rPr lang="ko-KR" altLang="en-US" dirty="0"/>
              <a:t>로컬에 설치하시고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ko-KR" altLang="en-US" dirty="0"/>
              <a:t>관련 동영상보고 실습을 위해 동영상 화면</a:t>
            </a:r>
            <a:r>
              <a:rPr lang="en-US" altLang="ko-KR" dirty="0"/>
              <a:t>(workflow</a:t>
            </a:r>
            <a:r>
              <a:rPr lang="ko-KR" altLang="en-US" dirty="0"/>
              <a:t>가 있는</a:t>
            </a:r>
            <a:r>
              <a:rPr lang="en-US" altLang="ko-KR" dirty="0"/>
              <a:t>)</a:t>
            </a:r>
            <a:r>
              <a:rPr lang="ko-KR" altLang="en-US" dirty="0"/>
              <a:t>을 </a:t>
            </a:r>
            <a:r>
              <a:rPr lang="ko-KR" altLang="en-US" dirty="0" err="1"/>
              <a:t>캡쳐해서</a:t>
            </a:r>
            <a:r>
              <a:rPr lang="ko-KR" altLang="en-US" dirty="0"/>
              <a:t> </a:t>
            </a:r>
            <a:br>
              <a:rPr lang="ko-KR" altLang="en-US" dirty="0"/>
            </a:br>
            <a:endParaRPr lang="ko-KR" alt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altLang="ko-KR" dirty="0"/>
              <a:t>Geminin</a:t>
            </a:r>
            <a:r>
              <a:rPr lang="ko-KR" altLang="en-US" dirty="0"/>
              <a:t>에게 </a:t>
            </a:r>
            <a:r>
              <a:rPr lang="en-US" altLang="ko-KR" dirty="0"/>
              <a:t>n8n </a:t>
            </a:r>
            <a:r>
              <a:rPr lang="ko-KR" altLang="en-US" dirty="0"/>
              <a:t>코드 만들어 달라고 하고</a:t>
            </a:r>
            <a:r>
              <a:rPr lang="en-US" altLang="ko-KR" dirty="0"/>
              <a:t>(</a:t>
            </a:r>
            <a:r>
              <a:rPr lang="ko-KR" altLang="en-US" dirty="0"/>
              <a:t>별첨 </a:t>
            </a:r>
            <a:r>
              <a:rPr lang="en-US" altLang="ko-KR" dirty="0"/>
              <a:t>1)</a:t>
            </a:r>
            <a:br>
              <a:rPr lang="en-US" altLang="ko-KR" dirty="0"/>
            </a:br>
            <a:endParaRPr lang="en-US" altLang="ko-KR" dirty="0"/>
          </a:p>
          <a:p>
            <a:pPr>
              <a:buNone/>
            </a:pPr>
            <a:br>
              <a:rPr lang="en-US" altLang="ko-KR" dirty="0"/>
            </a:b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827070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733D7-230B-7262-0D6B-DD52F849C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8AF520-0DFF-212F-678C-B48B24C30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7AFAEEC-02D8-B680-3598-E4264BEDB88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1F8BE7D-3D5F-F2E4-F535-6C096BC84E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076" y="1556845"/>
            <a:ext cx="8885400" cy="4479416"/>
          </a:xfrm>
          <a:prstGeom prst="rect">
            <a:avLst/>
          </a:prstGeom>
        </p:spPr>
      </p:pic>
      <p:sp>
        <p:nvSpPr>
          <p:cNvPr id="8" name="제목 1">
            <a:extLst>
              <a:ext uri="{FF2B5EF4-FFF2-40B4-BE49-F238E27FC236}">
                <a16:creationId xmlns:a16="http://schemas.microsoft.com/office/drawing/2014/main" id="{B7D4EC5D-FCFC-CAEE-A7AD-BAEC6925DEFD}"/>
              </a:ext>
            </a:extLst>
          </p:cNvPr>
          <p:cNvSpPr txBox="1">
            <a:spLocks/>
          </p:cNvSpPr>
          <p:nvPr/>
        </p:nvSpPr>
        <p:spPr>
          <a:xfrm>
            <a:off x="6894510" y="327233"/>
            <a:ext cx="3619501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Image, Containers</a:t>
            </a:r>
            <a:endParaRPr lang="ko-KR" altLang="en-US" sz="1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E15D0765-4BF9-5FA8-6FC7-85816E5980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92577" y="1995056"/>
            <a:ext cx="3303423" cy="1115442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B9D8F572-9FA6-1A4B-8C25-A20942234B54}"/>
              </a:ext>
            </a:extLst>
          </p:cNvPr>
          <p:cNvSpPr/>
          <p:nvPr/>
        </p:nvSpPr>
        <p:spPr>
          <a:xfrm>
            <a:off x="8315325" y="2076450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57880"/>
              <a:gd name="adj4" fmla="val -64845"/>
              <a:gd name="adj5" fmla="val 162065"/>
              <a:gd name="adj6" fmla="val -119946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Image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설명선: 굽은 선 9">
            <a:extLst>
              <a:ext uri="{FF2B5EF4-FFF2-40B4-BE49-F238E27FC236}">
                <a16:creationId xmlns:a16="http://schemas.microsoft.com/office/drawing/2014/main" id="{391B9DFC-1BBB-4F64-37DA-71F133B443E9}"/>
              </a:ext>
            </a:extLst>
          </p:cNvPr>
          <p:cNvSpPr/>
          <p:nvPr/>
        </p:nvSpPr>
        <p:spPr>
          <a:xfrm>
            <a:off x="6485731" y="3873792"/>
            <a:ext cx="2352675" cy="365125"/>
          </a:xfrm>
          <a:prstGeom prst="borderCallout2">
            <a:avLst>
              <a:gd name="adj1" fmla="val 18750"/>
              <a:gd name="adj2" fmla="val -8333"/>
              <a:gd name="adj3" fmla="val -41250"/>
              <a:gd name="adj4" fmla="val -68488"/>
              <a:gd name="adj5" fmla="val -302283"/>
              <a:gd name="adj6" fmla="val -99703"/>
            </a:avLst>
          </a:prstGeom>
          <a:solidFill>
            <a:schemeClr val="tx1"/>
          </a:solidFill>
          <a:ln>
            <a:headEnd type="none" w="med" len="med"/>
            <a:tailEnd type="triangl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Container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927737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01801-38E9-1C82-2118-6D8010673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EBE383-5F3B-1B62-8A0E-1EA54A3F7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D27D49A-48A1-ABDE-6217-723B707453A1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Local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Server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47ED8AC-21BD-6160-8144-D8DAB7FB4395}"/>
              </a:ext>
            </a:extLst>
          </p:cNvPr>
          <p:cNvSpPr txBox="1"/>
          <p:nvPr/>
        </p:nvSpPr>
        <p:spPr>
          <a:xfrm>
            <a:off x="663576" y="1789759"/>
            <a:ext cx="10680699" cy="28467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2000" dirty="0">
                <a:latin typeface="D2Coding" panose="020B0609020101020101" pitchFamily="49" charset="-127"/>
                <a:ea typeface="D2Coding" panose="020B0609020101020101" pitchFamily="49" charset="-127"/>
              </a:rPr>
              <a:t>설치 방법</a:t>
            </a:r>
            <a:endParaRPr lang="en-US" altLang="ko-KR" sz="20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WSL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설치하고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</a:rPr>
              <a:t>Ubutu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올리시고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docker 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hlinkClick r:id="rId3"/>
              </a:rPr>
              <a:t>desltop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으로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Docker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묻고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자동화 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끝판왕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n8n,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이렇게 설치하면 평생 무료입니다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! (</a:t>
            </a:r>
            <a:r>
              <a:rPr lang="ko-KR" altLang="en-US" dirty="0" err="1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웹훅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 설정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,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버전 업데이트 포함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hlinkClick r:id="rId4"/>
              </a:rPr>
              <a:t>)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보시고 따라해서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로컬에 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57506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BA7906-8422-75FB-B686-8A4918F17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D60E6B-F2EC-3E3D-8197-E2F168C3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37114697-0109-DBB2-4517-DF6A82EC7BF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Core concept of Automation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11F340-3B1E-6BAA-8FFB-064B9D23B4CE}"/>
              </a:ext>
            </a:extLst>
          </p:cNvPr>
          <p:cNvSpPr txBox="1"/>
          <p:nvPr/>
        </p:nvSpPr>
        <p:spPr>
          <a:xfrm>
            <a:off x="751955" y="1718786"/>
            <a:ext cx="10515601" cy="27901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Trigger : what starts an automation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Filter : to allow or block certain types of data from following a path based on certain conditions. 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2000" dirty="0">
                <a:latin typeface="MS Gothic" panose="020B0609070205080204" pitchFamily="49" charset="-128"/>
                <a:ea typeface="D2Coding" panose="020B0609020101020101" pitchFamily="49" charset="-127"/>
              </a:rPr>
              <a:t>Actions (App) : allow you to interact with internal or external applications.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ko-KR" altLang="en-US" sz="2000" dirty="0">
              <a:latin typeface="MS Gothic" panose="020B0609070205080204" pitchFamily="49" charset="-128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1789080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AF90BD-0B46-D0D6-7007-8D2D1A9A32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EC3FF6-2F84-C946-93A5-E51AE4A97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CB5E933-0C3E-C5BC-19F6-59B973129D4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What is a workflow</a:t>
            </a:r>
            <a:endParaRPr lang="ko-KR" altLang="ko-KR" sz="2800" b="1" cap="none" dirty="0">
              <a:latin typeface="Lora" pitchFamily="2" charset="0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DEBD1361-E6D8-F37F-7847-3596F9C8C1CB}"/>
              </a:ext>
            </a:extLst>
          </p:cNvPr>
          <p:cNvSpPr/>
          <p:nvPr/>
        </p:nvSpPr>
        <p:spPr>
          <a:xfrm>
            <a:off x="1181100" y="3045780"/>
            <a:ext cx="1943100" cy="766439"/>
          </a:xfrm>
          <a:prstGeom prst="round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F476719A-2740-60E0-0EE8-A30122FF98CE}"/>
              </a:ext>
            </a:extLst>
          </p:cNvPr>
          <p:cNvSpPr/>
          <p:nvPr/>
        </p:nvSpPr>
        <p:spPr>
          <a:xfrm>
            <a:off x="4418408" y="2496659"/>
            <a:ext cx="2858295" cy="1864681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181950A9-9B8E-CA1C-5F23-6339A6DBBE98}"/>
              </a:ext>
            </a:extLst>
          </p:cNvPr>
          <p:cNvSpPr/>
          <p:nvPr/>
        </p:nvSpPr>
        <p:spPr>
          <a:xfrm>
            <a:off x="8570911" y="3045780"/>
            <a:ext cx="1943100" cy="7664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" name="직선 화살표 연결선 18">
            <a:extLst>
              <a:ext uri="{FF2B5EF4-FFF2-40B4-BE49-F238E27FC236}">
                <a16:creationId xmlns:a16="http://schemas.microsoft.com/office/drawing/2014/main" id="{1085A7EF-645D-1462-E30A-334FF6445118}"/>
              </a:ext>
            </a:extLst>
          </p:cNvPr>
          <p:cNvCxnSpPr>
            <a:cxnSpLocks/>
          </p:cNvCxnSpPr>
          <p:nvPr/>
        </p:nvCxnSpPr>
        <p:spPr>
          <a:xfrm>
            <a:off x="3124200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6F26E8E8-3AE7-E2B2-8810-782ECCD6FFC8}"/>
              </a:ext>
            </a:extLst>
          </p:cNvPr>
          <p:cNvCxnSpPr>
            <a:cxnSpLocks/>
          </p:cNvCxnSpPr>
          <p:nvPr/>
        </p:nvCxnSpPr>
        <p:spPr>
          <a:xfrm>
            <a:off x="7276703" y="3415822"/>
            <a:ext cx="129420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EE6FB3E-90CB-9372-4351-1825A3EF9036}"/>
              </a:ext>
            </a:extLst>
          </p:cNvPr>
          <p:cNvSpPr txBox="1"/>
          <p:nvPr/>
        </p:nvSpPr>
        <p:spPr>
          <a:xfrm>
            <a:off x="1560113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Trigger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r>
              <a:rPr lang="en-US" altLang="ko-KR" dirty="0"/>
              <a:t>Every day at 8am</a:t>
            </a:r>
          </a:p>
          <a:p>
            <a:pPr>
              <a:buNone/>
            </a:pPr>
            <a:r>
              <a:rPr lang="en-US" altLang="ko-KR" dirty="0"/>
              <a:t>When “this” happens</a:t>
            </a:r>
          </a:p>
          <a:p>
            <a:pPr>
              <a:buNone/>
            </a:pPr>
            <a:r>
              <a:rPr lang="en-US" altLang="ko-KR" dirty="0"/>
              <a:t>When launched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EACD8E9-87A8-78CA-D496-56A7CC739BD2}"/>
              </a:ext>
            </a:extLst>
          </p:cNvPr>
          <p:cNvSpPr txBox="1"/>
          <p:nvPr/>
        </p:nvSpPr>
        <p:spPr>
          <a:xfrm>
            <a:off x="5065512" y="2669739"/>
            <a:ext cx="2858295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Sorting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Filtering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Formatting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Transforming</a:t>
            </a:r>
            <a:endParaRPr lang="en-US" altLang="ko-KR" dirty="0"/>
          </a:p>
          <a:p>
            <a:pPr>
              <a:buNone/>
            </a:pPr>
            <a:r>
              <a:rPr lang="en-US" altLang="ko-KR" b="1" dirty="0"/>
              <a:t>Segmenting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i="1" dirty="0"/>
              <a:t>(based on different criteria)</a:t>
            </a:r>
            <a:endParaRPr lang="en-US" altLang="ko-KR" dirty="0"/>
          </a:p>
          <a:p>
            <a:pPr>
              <a:buNone/>
            </a:pPr>
            <a:r>
              <a:rPr lang="en-US" altLang="ko-KR" dirty="0"/>
              <a:t>If this then</a:t>
            </a:r>
          </a:p>
          <a:p>
            <a:pPr>
              <a:buNone/>
            </a:pPr>
            <a:r>
              <a:rPr lang="en-US" altLang="ko-KR" dirty="0"/>
              <a:t>Only if this</a:t>
            </a:r>
          </a:p>
          <a:p>
            <a:pPr>
              <a:buNone/>
            </a:pPr>
            <a:r>
              <a:rPr lang="en-US" altLang="ko-KR" dirty="0"/>
              <a:t>Change x to y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2B4A2D4-5284-212A-27F5-69F48B7D85F6}"/>
              </a:ext>
            </a:extLst>
          </p:cNvPr>
          <p:cNvSpPr txBox="1"/>
          <p:nvPr/>
        </p:nvSpPr>
        <p:spPr>
          <a:xfrm>
            <a:off x="8953500" y="3253085"/>
            <a:ext cx="27432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b="1" dirty="0"/>
              <a:t>Actions</a:t>
            </a:r>
          </a:p>
          <a:p>
            <a:pPr>
              <a:buNone/>
            </a:pPr>
            <a:endParaRPr lang="en-US" altLang="ko-KR" b="1" dirty="0"/>
          </a:p>
          <a:p>
            <a:pPr>
              <a:buNone/>
            </a:pPr>
            <a:endParaRPr lang="en-US" altLang="ko-KR" dirty="0"/>
          </a:p>
          <a:p>
            <a:pPr>
              <a:buNone/>
            </a:pPr>
            <a:r>
              <a:rPr lang="en-US" altLang="ko-KR" dirty="0"/>
              <a:t>Update a Google Sheet</a:t>
            </a:r>
          </a:p>
          <a:p>
            <a:pPr>
              <a:buNone/>
            </a:pPr>
            <a:r>
              <a:rPr lang="en-US" altLang="ko-KR" dirty="0"/>
              <a:t>Send an email</a:t>
            </a:r>
          </a:p>
          <a:p>
            <a:pPr>
              <a:buNone/>
            </a:pPr>
            <a:r>
              <a:rPr lang="en-US" altLang="ko-KR" dirty="0"/>
              <a:t>Notify person</a:t>
            </a:r>
          </a:p>
        </p:txBody>
      </p:sp>
    </p:spTree>
    <p:extLst>
      <p:ext uri="{BB962C8B-B14F-4D97-AF65-F5344CB8AC3E}">
        <p14:creationId xmlns:p14="http://schemas.microsoft.com/office/powerpoint/2010/main" val="39134120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F45886-F3EB-5C97-035B-53584DA5F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5E7764-79DF-14BB-4042-F31E9B152F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1D1BBEDA-D7B7-3132-2A50-ECC452568AFC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225568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1BD86-BE7B-EA6F-92A5-E2F7C63720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E369070-810A-A7D7-C5EE-C321F70ED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D5C890AB-8690-1021-0C11-E9769F652BAE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35466EB-649F-F0D7-0FA4-0F449D35B335}"/>
              </a:ext>
            </a:extLst>
          </p:cNvPr>
          <p:cNvSpPr txBox="1"/>
          <p:nvPr/>
        </p:nvSpPr>
        <p:spPr>
          <a:xfrm>
            <a:off x="744020" y="2061712"/>
            <a:ext cx="318548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Trigger Node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ko-KR" altLang="en-US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49C36F-C55F-D8C6-1863-2EB9F32B7D5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0996946-3682-469A-8D17-CA53CED17A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7978" y="1658966"/>
            <a:ext cx="5105597" cy="4401969"/>
          </a:xfrm>
          <a:prstGeom prst="rect">
            <a:avLst/>
          </a:prstGeom>
        </p:spPr>
      </p:pic>
      <p:sp>
        <p:nvSpPr>
          <p:cNvPr id="5" name="화살표: 줄무늬가 있는 오른쪽 4">
            <a:extLst>
              <a:ext uri="{FF2B5EF4-FFF2-40B4-BE49-F238E27FC236}">
                <a16:creationId xmlns:a16="http://schemas.microsoft.com/office/drawing/2014/main" id="{CDD27087-AA50-A7AB-C9C8-F5757B05327E}"/>
              </a:ext>
            </a:extLst>
          </p:cNvPr>
          <p:cNvSpPr/>
          <p:nvPr/>
        </p:nvSpPr>
        <p:spPr>
          <a:xfrm>
            <a:off x="10706100" y="3324225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10324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D0DF43-542E-B713-600D-EE938B1E6D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FB9282F-E781-E4C3-5753-DDF078026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0D94A06-FB59-FE80-BF1B-B4F7DC36BFD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Trigger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76D7252-EC8F-96CC-36F1-EFB4AA57C38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443C54AF-190A-2766-E598-7AE58B51CE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3686" y="2708539"/>
            <a:ext cx="9770711" cy="29969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15AF853-4AB5-964A-95DF-9A4AE932FF33}"/>
              </a:ext>
            </a:extLst>
          </p:cNvPr>
          <p:cNvSpPr txBox="1"/>
          <p:nvPr/>
        </p:nvSpPr>
        <p:spPr>
          <a:xfrm>
            <a:off x="475645" y="1418176"/>
            <a:ext cx="3070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2025 n8n Action Node </a:t>
            </a:r>
            <a:r>
              <a:rPr lang="ko-KR" altLang="en-US" dirty="0">
                <a:solidFill>
                  <a:srgbClr val="0563C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정리</a:t>
            </a:r>
            <a:endParaRPr lang="ko-KR" altLang="en-US" dirty="0">
              <a:solidFill>
                <a:srgbClr val="0563C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2" name="화살표: 줄무늬가 있는 오른쪽 11">
            <a:extLst>
              <a:ext uri="{FF2B5EF4-FFF2-40B4-BE49-F238E27FC236}">
                <a16:creationId xmlns:a16="http://schemas.microsoft.com/office/drawing/2014/main" id="{E1249FF2-179E-1E91-6030-F4BADC574A96}"/>
              </a:ext>
            </a:extLst>
          </p:cNvPr>
          <p:cNvSpPr/>
          <p:nvPr/>
        </p:nvSpPr>
        <p:spPr>
          <a:xfrm>
            <a:off x="498142" y="3613666"/>
            <a:ext cx="952500" cy="962025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7232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4D1AC-C48D-A42C-9FB0-5AD27899E7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2A385A8-50F6-51BA-8D1C-11A66B4DF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C22965B5-A81A-2008-5062-EB1615BEF70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API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195BCE-20D1-BBC0-F7A6-829398008ADF}"/>
              </a:ext>
            </a:extLst>
          </p:cNvPr>
          <p:cNvSpPr txBox="1"/>
          <p:nvPr/>
        </p:nvSpPr>
        <p:spPr>
          <a:xfrm>
            <a:off x="581024" y="1978410"/>
            <a:ext cx="11229975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What is an API?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000" dirty="0"/>
              <a:t>An API (Application Programming interface) exposes a service. Developers write programs to consume it.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Definition &amp; Components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3256DEA-739D-5B5A-1209-54B0F5E8F1D6}"/>
              </a:ext>
            </a:extLst>
          </p:cNvPr>
          <p:cNvSpPr txBox="1"/>
          <p:nvPr/>
        </p:nvSpPr>
        <p:spPr>
          <a:xfrm>
            <a:off x="3048000" y="3148955"/>
            <a:ext cx="6096000" cy="5600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1800" dirty="0"/>
              <a:t>→ Webhooks</a:t>
            </a:r>
          </a:p>
        </p:txBody>
      </p:sp>
    </p:spTree>
    <p:extLst>
      <p:ext uri="{BB962C8B-B14F-4D97-AF65-F5344CB8AC3E}">
        <p14:creationId xmlns:p14="http://schemas.microsoft.com/office/powerpoint/2010/main" val="17232688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3E1567-E565-83D2-55B9-C0AC16CFC9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58FB2B-9FB4-8243-EA7E-519801251C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11</a:t>
            </a:fld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5C1CD59F-A5F7-D540-0D28-AB7ACE6997CF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</p:spPr>
            <p:txBody>
              <a:bodyPr vert="horz" lIns="91440" tIns="45720" rIns="91440" bIns="45720" rtlCol="0" anchor="ctr">
                <a:normAutofit/>
              </a:bodyPr>
              <a:lstStyle>
                <a:lvl1pPr algn="ctr" defTabSz="914400" rtl="0" eaLnBrk="1" latinLnBrk="1" hangingPunct="1">
                  <a:lnSpc>
                    <a:spcPct val="90000"/>
                  </a:lnSpc>
                  <a:spcBef>
                    <a:spcPct val="0"/>
                  </a:spcBef>
                  <a:buNone/>
                  <a:defRPr sz="3200" kern="1200" cap="all" baseline="0">
                    <a:solidFill>
                      <a:schemeClr val="tx1"/>
                    </a:solidFill>
                    <a:effectLst/>
                    <a:latin typeface="Batang" panose="02030600000101010101" pitchFamily="18" charset="-127"/>
                    <a:ea typeface="Batang" panose="02030600000101010101" pitchFamily="18" charset="-127"/>
                    <a:cs typeface="+mj-cs"/>
                  </a:defRPr>
                </a:lvl1pPr>
              </a:lstStyle>
              <a:p>
                <a:pPr algn="l"/>
                <a:r>
                  <a:rPr lang="en-US" altLang="ko-KR" sz="2800" b="1" cap="none" dirty="0">
                    <a:latin typeface="Lora" pitchFamily="2" charset="0"/>
                  </a:rPr>
                  <a:t>Webhooks (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  <m:t>API</m:t>
                        </m:r>
                      </m:e>
                      <m:sup>
                        <m:r>
                          <a:rPr lang="en-US" altLang="ko-KR" b="1" i="1" cap="none" smtClean="0">
                            <a:latin typeface="Cambria Math" panose="02040503050406030204" pitchFamily="18" charset="0"/>
                          </a:rPr>
                          <m:t>-1</m:t>
                        </m:r>
                      </m:sup>
                    </m:sSup>
                  </m:oMath>
                </a14:m>
                <a:r>
                  <a:rPr lang="en-US" altLang="ko-KR" sz="2800" b="1" cap="none" dirty="0">
                    <a:latin typeface="Lora" pitchFamily="2" charset="0"/>
                  </a:rPr>
                  <a:t>)</a:t>
                </a:r>
              </a:p>
            </p:txBody>
          </p:sp>
        </mc:Choice>
        <mc:Fallback>
          <p:sp>
            <p:nvSpPr>
              <p:cNvPr id="3" name="제목 1">
                <a:extLst>
                  <a:ext uri="{FF2B5EF4-FFF2-40B4-BE49-F238E27FC236}">
                    <a16:creationId xmlns:a16="http://schemas.microsoft.com/office/drawing/2014/main" id="{5C1CD59F-A5F7-D540-0D28-AB7ACE699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75645" y="481983"/>
                <a:ext cx="10353762" cy="766439"/>
              </a:xfrm>
              <a:prstGeom prst="rect">
                <a:avLst/>
              </a:prstGeom>
              <a:blipFill>
                <a:blip r:embed="rId2"/>
                <a:stretch>
                  <a:fillRect l="-1178" b="-7143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extBox 5">
            <a:extLst>
              <a:ext uri="{FF2B5EF4-FFF2-40B4-BE49-F238E27FC236}">
                <a16:creationId xmlns:a16="http://schemas.microsoft.com/office/drawing/2014/main" id="{7A293E56-7678-9DC4-C8B7-0A1EABCC4A95}"/>
              </a:ext>
            </a:extLst>
          </p:cNvPr>
          <p:cNvSpPr txBox="1"/>
          <p:nvPr/>
        </p:nvSpPr>
        <p:spPr>
          <a:xfrm>
            <a:off x="581024" y="1978410"/>
            <a:ext cx="11229975" cy="29128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What is an API? 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000" dirty="0"/>
              <a:t>An API (Application Programming interface) exposes a service. Developers write programs to consume it.</a:t>
            </a:r>
          </a:p>
          <a:p>
            <a:pPr>
              <a:lnSpc>
                <a:spcPct val="200000"/>
              </a:lnSpc>
              <a:buNone/>
            </a:pPr>
            <a:r>
              <a:rPr lang="en-US" altLang="ko-KR" sz="2800" dirty="0"/>
              <a:t>→ Definition &amp; Components</a:t>
            </a:r>
          </a:p>
        </p:txBody>
      </p:sp>
    </p:spTree>
    <p:extLst>
      <p:ext uri="{BB962C8B-B14F-4D97-AF65-F5344CB8AC3E}">
        <p14:creationId xmlns:p14="http://schemas.microsoft.com/office/powerpoint/2010/main" val="1901961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8683D-DB6F-9B13-BAEB-3F0B68724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C97D773-8A93-CD5B-3653-C36BA2992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851FE1F8-8A38-3806-6D00-4D146183855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Node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DBDAE2-63D5-A41E-712E-47ADF300EA34}"/>
              </a:ext>
            </a:extLst>
          </p:cNvPr>
          <p:cNvSpPr txBox="1"/>
          <p:nvPr/>
        </p:nvSpPr>
        <p:spPr>
          <a:xfrm>
            <a:off x="924443" y="1580746"/>
            <a:ext cx="10515081" cy="39015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• </a:t>
            </a:r>
            <a:r>
              <a:rPr lang="en-US" altLang="ko-KR" sz="2400" b="1" dirty="0"/>
              <a:t>The building block (atom) of n8n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• </a:t>
            </a:r>
            <a:r>
              <a:rPr lang="en-US" altLang="ko-KR" sz="2400" b="1" dirty="0"/>
              <a:t>3 categories of nodes:</a:t>
            </a:r>
            <a:r>
              <a:rPr lang="en-US" altLang="ko-KR" sz="2400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→ Entry point : </a:t>
            </a:r>
            <a:r>
              <a:rPr lang="ko-KR" altLang="en-US" sz="2000" dirty="0"/>
              <a:t>워크플로우 실행을 시작시키는 트리거 노드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→ Function : </a:t>
            </a:r>
            <a:r>
              <a:rPr lang="ko-KR" altLang="en-US" sz="2000" dirty="0"/>
              <a:t>전달받은 데이터를 가공하고 제어하는 중간 처리 노드</a:t>
            </a:r>
            <a:endParaRPr lang="en-US" altLang="ko-KR" sz="2400" dirty="0"/>
          </a:p>
          <a:p>
            <a:pPr lvl="1">
              <a:lnSpc>
                <a:spcPct val="150000"/>
              </a:lnSpc>
            </a:pPr>
            <a:r>
              <a:rPr lang="en-US" altLang="ko-KR" sz="2400" dirty="0"/>
              <a:t>→ Exit point : </a:t>
            </a:r>
            <a:r>
              <a:rPr lang="ko-KR" altLang="en-US" sz="2000" dirty="0"/>
              <a:t>처리 완료된 데이터를 가지고 최종 결과를 만들어내는 액션 노드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• </a:t>
            </a:r>
            <a:r>
              <a:rPr lang="en-US" altLang="ko-KR" sz="2400" b="1" dirty="0"/>
              <a:t>Different types of nodes</a:t>
            </a:r>
            <a:endParaRPr lang="en-US" altLang="ko-KR" sz="2400" dirty="0"/>
          </a:p>
          <a:p>
            <a:pPr>
              <a:lnSpc>
                <a:spcPct val="150000"/>
              </a:lnSpc>
              <a:buNone/>
            </a:pPr>
            <a:r>
              <a:rPr lang="en-US" altLang="ko-KR" sz="2400" dirty="0"/>
              <a:t>Triggers, Actions in app, Data transformation, Flow, Files, and Advanced.</a:t>
            </a:r>
          </a:p>
        </p:txBody>
      </p:sp>
    </p:spTree>
    <p:extLst>
      <p:ext uri="{BB962C8B-B14F-4D97-AF65-F5344CB8AC3E}">
        <p14:creationId xmlns:p14="http://schemas.microsoft.com/office/powerpoint/2010/main" val="31672629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299AED-97C8-C045-2D67-A774BAD01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EAD8483-31A6-B916-4F43-BF76E5177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036261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0DC5727F-AC68-2BE3-C9CC-D78EB53C6A4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Add a Node to canvas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E33184EA-0D43-CF4A-10BE-338B2157F5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1855" y="1390360"/>
            <a:ext cx="7556953" cy="4985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613202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CD37E-5F8C-C4BF-14FA-F9112DB9F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E3520C-CAED-3E97-804E-9D1E0C8C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80761" y="299420"/>
            <a:ext cx="753545" cy="365125"/>
          </a:xfrm>
        </p:spPr>
        <p:txBody>
          <a:bodyPr/>
          <a:lstStyle/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3" name="제목 1">
            <a:extLst>
              <a:ext uri="{FF2B5EF4-FFF2-40B4-BE49-F238E27FC236}">
                <a16:creationId xmlns:a16="http://schemas.microsoft.com/office/drawing/2014/main" id="{F07DA05A-650F-D33E-2E90-FBDCEC9B287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Node actions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5C5E1C3E-E172-DF41-A9B4-688F0ED0A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2553" y="1767101"/>
            <a:ext cx="6305454" cy="426916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2F6B9F0-1E03-4F63-A688-E1EFB24C943F}"/>
              </a:ext>
            </a:extLst>
          </p:cNvPr>
          <p:cNvSpPr txBox="1"/>
          <p:nvPr/>
        </p:nvSpPr>
        <p:spPr>
          <a:xfrm>
            <a:off x="790575" y="1767101"/>
            <a:ext cx="3685754" cy="4195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Execute the node (Play)</a:t>
            </a: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Additional actions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Open node... (settings)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Rename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Deactivate node (Pause)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Pin node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Copy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Duplicate node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Delete node</a:t>
            </a:r>
          </a:p>
        </p:txBody>
      </p:sp>
    </p:spTree>
    <p:extLst>
      <p:ext uri="{BB962C8B-B14F-4D97-AF65-F5344CB8AC3E}">
        <p14:creationId xmlns:p14="http://schemas.microsoft.com/office/powerpoint/2010/main" val="200422612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7DB83-72FD-D163-0AD6-6C19A7CA8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76BEC1-2B75-D23D-F13F-B9DBB6619E02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Parameters &amp; Settings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75491333-EBA7-81A8-C365-C6A1F27606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172" y="1656598"/>
            <a:ext cx="6867622" cy="461119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6A1306F-B8AB-9607-E9C8-FCBA93A4E165}"/>
              </a:ext>
            </a:extLst>
          </p:cNvPr>
          <p:cNvSpPr txBox="1"/>
          <p:nvPr/>
        </p:nvSpPr>
        <p:spPr>
          <a:xfrm>
            <a:off x="1285875" y="1656598"/>
            <a:ext cx="3171825" cy="46111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Parameters: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Credentials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Resource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Operation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Action settings</a:t>
            </a:r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endParaRPr lang="en-US" altLang="ko-KR" dirty="0"/>
          </a:p>
          <a:p>
            <a:pPr>
              <a:lnSpc>
                <a:spcPct val="150000"/>
              </a:lnSpc>
              <a:buNone/>
            </a:pPr>
            <a:r>
              <a:rPr lang="en-US" altLang="ko-KR" dirty="0"/>
              <a:t>• </a:t>
            </a:r>
            <a:r>
              <a:rPr lang="en-US" altLang="ko-KR" b="1" dirty="0"/>
              <a:t>Settings</a:t>
            </a:r>
            <a:r>
              <a:rPr lang="en-US" altLang="ko-KR" dirty="0"/>
              <a:t>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Notes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Visual settings </a:t>
            </a:r>
          </a:p>
          <a:p>
            <a:pPr lvl="1">
              <a:lnSpc>
                <a:spcPct val="150000"/>
              </a:lnSpc>
            </a:pPr>
            <a:r>
              <a:rPr lang="en-US" altLang="ko-KR" dirty="0"/>
              <a:t>• Execution settings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FDD92D36-1C24-E290-AB1A-A87FFB0B3C7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590659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3A2CA6-6D61-59E3-16F8-854C6205F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C4B02F26-4A4A-13DB-C9B4-CF6A301DD11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Credential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0FFC24A4-D63F-2833-1432-DA2AFE3A004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76C17C-BD76-A2CC-C7E2-ACB31FC9BB47}"/>
              </a:ext>
            </a:extLst>
          </p:cNvPr>
          <p:cNvSpPr txBox="1"/>
          <p:nvPr/>
        </p:nvSpPr>
        <p:spPr>
          <a:xfrm>
            <a:off x="634467" y="1414760"/>
            <a:ext cx="3994683" cy="48074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Accessible from nodes needing to authenticate to services </a:t>
            </a:r>
            <a:r>
              <a:rPr lang="en-US" altLang="ko-KR" sz="1400" dirty="0"/>
              <a:t>(Google, Slack, Notion </a:t>
            </a:r>
            <a:r>
              <a:rPr lang="ko-KR" altLang="en-US" sz="1400" dirty="0"/>
              <a:t>등 외부 서비스 연동이 필요한 모든 노드에서 미리 등록해 둔 계정</a:t>
            </a:r>
            <a:r>
              <a:rPr lang="en-US" altLang="ko-KR" sz="1400" dirty="0"/>
              <a:t>/API </a:t>
            </a:r>
            <a:r>
              <a:rPr lang="ko-KR" altLang="en-US" sz="1400" dirty="0"/>
              <a:t>키를 불러와 재사용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endParaRPr lang="en-US" altLang="ko-KR" sz="1400" dirty="0"/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Saved at an instance-level </a:t>
            </a:r>
            <a:r>
              <a:rPr lang="en-US" altLang="ko-KR" sz="1400" dirty="0"/>
              <a:t>(</a:t>
            </a:r>
            <a:r>
              <a:rPr lang="ko-KR" altLang="en-US" sz="1400" dirty="0"/>
              <a:t>인증 정보가 특정 워크플로우 하나에만 얽매이지 않고</a:t>
            </a:r>
            <a:r>
              <a:rPr lang="en-US" altLang="ko-KR" sz="1400" dirty="0"/>
              <a:t>, n8n </a:t>
            </a:r>
            <a:r>
              <a:rPr lang="ko-KR" altLang="en-US" sz="1400" dirty="0"/>
              <a:t>서버</a:t>
            </a:r>
            <a:r>
              <a:rPr lang="en-US" altLang="ko-KR" sz="1400" dirty="0"/>
              <a:t>(</a:t>
            </a:r>
            <a:r>
              <a:rPr lang="ko-KR" altLang="en-US" sz="1400" dirty="0"/>
              <a:t>인스턴스</a:t>
            </a:r>
            <a:r>
              <a:rPr lang="en-US" altLang="ko-KR" sz="1400" dirty="0"/>
              <a:t>) </a:t>
            </a:r>
            <a:r>
              <a:rPr lang="ko-KR" altLang="en-US" sz="1400" dirty="0"/>
              <a:t>전체에 저장</a:t>
            </a:r>
            <a:r>
              <a:rPr lang="en-US" altLang="ko-KR" sz="1400" dirty="0"/>
              <a:t>)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dirty="0"/>
              <a:t>Different sharing options</a:t>
            </a:r>
            <a:endParaRPr lang="ko-KR" altLang="en-US" dirty="0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4B4989C1-7F5F-2F6C-A210-0AF553E633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26437" y="1667776"/>
            <a:ext cx="6831096" cy="423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757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35FB32-EFFC-3661-DAF3-AC0312F770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D2AB8855-87FD-D5E1-F80B-E83A4B3F833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Data (Schema)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B67DCA29-CD2B-DD36-3A78-E834B8927FB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0F8BEE5-1BF8-797E-CBDD-0A4DFA2F8D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6824" y="1470879"/>
            <a:ext cx="9110191" cy="5080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999396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A94C88-F55E-E347-89EB-211D632F4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75F3E95-1F73-D684-AC63-BB81F2C1A6B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Data (Table)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121E9F83-125B-8318-514B-628F439C899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15C9C8C5-C56E-BA46-00F6-29DF80464B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4279" y="1465982"/>
            <a:ext cx="9156494" cy="5071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61528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1EDEF3-3406-31D4-8808-1D9CCC4F25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63CA923E-F38A-FCA4-C73E-433FBDC9736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b="1" cap="none" dirty="0">
                <a:latin typeface="Lora" pitchFamily="2" charset="0"/>
              </a:rPr>
              <a:t>Data (JSON)</a:t>
            </a:r>
          </a:p>
        </p:txBody>
      </p:sp>
      <p:sp>
        <p:nvSpPr>
          <p:cNvPr id="6" name="슬라이드 번호 개체 틀 3">
            <a:extLst>
              <a:ext uri="{FF2B5EF4-FFF2-40B4-BE49-F238E27FC236}">
                <a16:creationId xmlns:a16="http://schemas.microsoft.com/office/drawing/2014/main" id="{2E664C8D-3F7B-FE2E-0113-EA701A2F4136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19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2749E49-1645-608A-9423-80040F3927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5176" y="1438274"/>
            <a:ext cx="9025172" cy="5033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732941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838E00-8707-B57A-7C2A-5C829C28B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A697E9-7A97-D2B1-1707-442913F933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Beginner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E5E0F2A-30DE-3D86-612A-26C87202C5B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7612622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DEA6DC-7AD1-A11C-7700-7106DCD13B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그림 19">
            <a:extLst>
              <a:ext uri="{FF2B5EF4-FFF2-40B4-BE49-F238E27FC236}">
                <a16:creationId xmlns:a16="http://schemas.microsoft.com/office/drawing/2014/main" id="{C381B5DE-3942-3D64-FCFC-E0D10CE6C4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70" y="1570039"/>
            <a:ext cx="3613011" cy="2579879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B3301EA-E0D6-FABD-9A4A-C14F3FA402A3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getting started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A2F66EF-8EF4-7B39-893B-8B6410415820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4261991-91D2-65FF-0407-AD4F8E154F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2039" y="1559160"/>
            <a:ext cx="6323272" cy="1630819"/>
          </a:xfrm>
          <a:prstGeom prst="rect">
            <a:avLst/>
          </a:prstGeom>
        </p:spPr>
      </p:pic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EE37A33-0CA9-2286-22CA-AC001F3F70F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E6153E80-EDF7-CC05-0CBB-728B098EEE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54" y="3860859"/>
            <a:ext cx="9067800" cy="2668454"/>
          </a:xfrm>
          <a:prstGeom prst="rect">
            <a:avLst/>
          </a:prstGeom>
        </p:spPr>
      </p:pic>
      <p:cxnSp>
        <p:nvCxnSpPr>
          <p:cNvPr id="15" name="연결선: 구부러짐 14">
            <a:extLst>
              <a:ext uri="{FF2B5EF4-FFF2-40B4-BE49-F238E27FC236}">
                <a16:creationId xmlns:a16="http://schemas.microsoft.com/office/drawing/2014/main" id="{45222F38-D3BC-C153-8CF0-B0648FD4F5BB}"/>
              </a:ext>
            </a:extLst>
          </p:cNvPr>
          <p:cNvCxnSpPr>
            <a:cxnSpLocks/>
            <a:stCxn id="20" idx="3"/>
            <a:endCxn id="10" idx="0"/>
          </p:cNvCxnSpPr>
          <p:nvPr/>
        </p:nvCxnSpPr>
        <p:spPr>
          <a:xfrm>
            <a:off x="4261781" y="2859979"/>
            <a:ext cx="2942873" cy="1000880"/>
          </a:xfrm>
          <a:prstGeom prst="curvedConnector2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0075453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A6C16-BF69-BE46-5661-CF320F691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272F3017-12B1-A620-359C-E23C4AC3A2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Data Concept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13AD022-383C-D598-21DF-20D392EB96E0}"/>
              </a:ext>
            </a:extLst>
          </p:cNvPr>
          <p:cNvSpPr txBox="1"/>
          <p:nvPr/>
        </p:nvSpPr>
        <p:spPr>
          <a:xfrm>
            <a:off x="1839395" y="350150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FD0BDA0A-DB01-721D-2F26-FEB253D4415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D06BB882-D50D-1A61-FEFF-F4F88A8243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3671" y="1896398"/>
            <a:ext cx="3573655" cy="2551777"/>
          </a:xfrm>
          <a:prstGeom prst="rect">
            <a:avLst/>
          </a:prstGeom>
          <a:ln w="28575">
            <a:solidFill>
              <a:srgbClr val="00B0F0"/>
            </a:solidFill>
          </a:ln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74119BE7-D95B-4815-2F19-F2210AC50E88}"/>
              </a:ext>
            </a:extLst>
          </p:cNvPr>
          <p:cNvSpPr txBox="1"/>
          <p:nvPr/>
        </p:nvSpPr>
        <p:spPr>
          <a:xfrm>
            <a:off x="7986151" y="1639223"/>
            <a:ext cx="3248025" cy="489364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28575"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"Harris",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paulharris@gmail.com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Bennet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marcus@quantum.io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Quantum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Rodriguez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sophia@horizon.com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Horizon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{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first_name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Emily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last_name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"Johnson",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email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  "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company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": </a:t>
            </a:r>
            <a:r>
              <a:rPr lang="ko-KR" altLang="en-US" sz="12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null</a:t>
            </a:r>
            <a:endParaRPr lang="ko-KR" altLang="en-US" sz="12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 }</a:t>
            </a:r>
          </a:p>
          <a:p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DBCC4-05D3-CA69-5B3F-CA568EF8E3F2}"/>
              </a:ext>
            </a:extLst>
          </p:cNvPr>
          <p:cNvSpPr txBox="1"/>
          <p:nvPr/>
        </p:nvSpPr>
        <p:spPr>
          <a:xfrm>
            <a:off x="7905750" y="126989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01C6A82-BC96-D7DE-46E5-E08EBA5CAEF1}"/>
              </a:ext>
            </a:extLst>
          </p:cNvPr>
          <p:cNvSpPr txBox="1"/>
          <p:nvPr/>
        </p:nvSpPr>
        <p:spPr>
          <a:xfrm>
            <a:off x="1667383" y="1544681"/>
            <a:ext cx="18002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List of JSON</a:t>
            </a:r>
            <a:endParaRPr lang="ko-KR" altLang="en-US" dirty="0"/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1D6421B7-DD79-09EA-D08D-6882984D04B5}"/>
              </a:ext>
            </a:extLst>
          </p:cNvPr>
          <p:cNvSpPr/>
          <p:nvPr/>
        </p:nvSpPr>
        <p:spPr>
          <a:xfrm>
            <a:off x="2100208" y="3093093"/>
            <a:ext cx="3062341" cy="36933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448CCFC-B9E6-CCF2-0AF9-CC7055EC241E}"/>
              </a:ext>
            </a:extLst>
          </p:cNvPr>
          <p:cNvSpPr txBox="1"/>
          <p:nvPr/>
        </p:nvSpPr>
        <p:spPr>
          <a:xfrm>
            <a:off x="3811118" y="5096151"/>
            <a:ext cx="3831523" cy="7851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ko-KR" sz="1600" dirty="0"/>
              <a:t>There is a 1:1 correspondence between lists of JSONs and Tables.</a:t>
            </a:r>
            <a:endParaRPr lang="ko-KR" altLang="en-US" sz="16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75C6018-4F93-DBD7-9E13-2E15640672AE}"/>
              </a:ext>
            </a:extLst>
          </p:cNvPr>
          <p:cNvSpPr/>
          <p:nvPr/>
        </p:nvSpPr>
        <p:spPr>
          <a:xfrm>
            <a:off x="8134350" y="1901393"/>
            <a:ext cx="2943225" cy="106088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4559F9F-A180-D718-5907-C5AF93D78B36}"/>
              </a:ext>
            </a:extLst>
          </p:cNvPr>
          <p:cNvSpPr txBox="1"/>
          <p:nvPr/>
        </p:nvSpPr>
        <p:spPr>
          <a:xfrm>
            <a:off x="5979662" y="2432278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FF0000"/>
                </a:solidFill>
              </a:rPr>
              <a:t>Item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02C09106-1845-9EBB-D3F6-13E0BA7FA30B}"/>
              </a:ext>
            </a:extLst>
          </p:cNvPr>
          <p:cNvSpPr txBox="1"/>
          <p:nvPr/>
        </p:nvSpPr>
        <p:spPr>
          <a:xfrm>
            <a:off x="5979662" y="3687059"/>
            <a:ext cx="12573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b="1" dirty="0">
                <a:solidFill>
                  <a:srgbClr val="00B0F0"/>
                </a:solidFill>
              </a:rPr>
              <a:t>Items</a:t>
            </a:r>
            <a:endParaRPr lang="ko-KR" altLang="en-US" b="1" dirty="0">
              <a:solidFill>
                <a:srgbClr val="00B0F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9509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CABB3E-2CFB-CDB3-728A-68477FCDB6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A729EFCE-766F-2B59-9ADC-4466672343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6596" y="3088474"/>
            <a:ext cx="7482811" cy="2049062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E8F1FDA3-CC76-97F4-23C7-118FBA02D66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20318B4A-5B55-D2CD-4EFC-D40B55CDEEC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076AA8E-54E9-9273-512C-992BE281A66D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5B784D4-0FC6-524A-ADB0-397F9FD418F9}"/>
              </a:ext>
            </a:extLst>
          </p:cNvPr>
          <p:cNvSpPr txBox="1"/>
          <p:nvPr/>
        </p:nvSpPr>
        <p:spPr>
          <a:xfrm>
            <a:off x="4095750" y="2044005"/>
            <a:ext cx="466725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{}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DE86588-8547-46BC-9111-1B99605FA3F5}"/>
              </a:ext>
            </a:extLst>
          </p:cNvPr>
          <p:cNvSpPr txBox="1"/>
          <p:nvPr/>
        </p:nvSpPr>
        <p:spPr>
          <a:xfrm>
            <a:off x="6419850" y="2044005"/>
            <a:ext cx="1076325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JSON1,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JSON2,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JSON3,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JSON4,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87DC499-E2F9-B394-B9B5-3F6C2C9AD6C8}"/>
              </a:ext>
            </a:extLst>
          </p:cNvPr>
          <p:cNvSpPr txBox="1"/>
          <p:nvPr/>
        </p:nvSpPr>
        <p:spPr>
          <a:xfrm>
            <a:off x="8662728" y="2044005"/>
            <a:ext cx="100012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[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JSON5,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JSON6,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5DD3EC4-6A8E-1980-3D56-2DE19BFE628A}"/>
              </a:ext>
            </a:extLst>
          </p:cNvPr>
          <p:cNvSpPr txBox="1"/>
          <p:nvPr/>
        </p:nvSpPr>
        <p:spPr>
          <a:xfrm>
            <a:off x="3560347" y="5125779"/>
            <a:ext cx="209217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This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node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launches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returns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data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B3DFDC7-DA40-D2F9-C277-95C9EA766228}"/>
              </a:ext>
            </a:extLst>
          </p:cNvPr>
          <p:cNvSpPr txBox="1"/>
          <p:nvPr/>
        </p:nvSpPr>
        <p:spPr>
          <a:xfrm>
            <a:off x="6270771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Sheets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executes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once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01FB942-A51F-17CB-158C-1E3D71596E04}"/>
              </a:ext>
            </a:extLst>
          </p:cNvPr>
          <p:cNvSpPr txBox="1"/>
          <p:nvPr/>
        </p:nvSpPr>
        <p:spPr>
          <a:xfrm>
            <a:off x="8616763" y="5114021"/>
            <a:ext cx="2092179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 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reads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the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and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outputs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2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item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6096327-2054-DDBB-93E9-3D8861ACC98F}"/>
              </a:ext>
            </a:extLst>
          </p:cNvPr>
          <p:cNvSpPr txBox="1"/>
          <p:nvPr/>
        </p:nvSpPr>
        <p:spPr>
          <a:xfrm>
            <a:off x="907073" y="5223266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What happens?</a:t>
            </a:r>
            <a:endParaRPr lang="ko-KR" altLang="en-US" b="1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A70FDA32-DE58-9F05-DBD4-10D9F2BA9819}"/>
              </a:ext>
            </a:extLst>
          </p:cNvPr>
          <p:cNvSpPr txBox="1"/>
          <p:nvPr/>
        </p:nvSpPr>
        <p:spPr>
          <a:xfrm>
            <a:off x="907073" y="2367170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Output</a:t>
            </a:r>
            <a:endParaRPr lang="ko-KR" altLang="en-US" b="1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CD7A47C-F0E0-EF28-8414-E5839FE9EE80}"/>
              </a:ext>
            </a:extLst>
          </p:cNvPr>
          <p:cNvSpPr txBox="1"/>
          <p:nvPr/>
        </p:nvSpPr>
        <p:spPr>
          <a:xfrm>
            <a:off x="907073" y="3795218"/>
            <a:ext cx="1905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b="1" dirty="0"/>
              <a:t>Node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370292285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30528-E8CA-5FAC-A679-2821851029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B7C9772-1978-BD9C-2C47-51DA37808C5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How nodes use items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28BFD51-9A74-5DE0-3DAC-D7A8EDA4C5F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24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495AA84-C82F-FC19-662E-8CF2796780F1}"/>
              </a:ext>
            </a:extLst>
          </p:cNvPr>
          <p:cNvSpPr txBox="1"/>
          <p:nvPr/>
        </p:nvSpPr>
        <p:spPr>
          <a:xfrm>
            <a:off x="475645" y="135113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n8n nodes execute </a:t>
            </a:r>
            <a:r>
              <a:rPr lang="en-US" altLang="ko-KR" b="1" dirty="0"/>
              <a:t>once per item</a:t>
            </a:r>
            <a:r>
              <a:rPr lang="en-US" altLang="ko-KR" dirty="0"/>
              <a:t> in the input data.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755CA4BD-01EA-3255-2CD4-CF6160D1D3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645" y="1720465"/>
            <a:ext cx="2694213" cy="2074688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A198E8-D071-2032-9BF0-8C34AB7C7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55" y="1823176"/>
            <a:ext cx="8637751" cy="44285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468590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ACC63-C3F1-7ED3-B6F1-26C82373B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C295FCA-8123-8833-2C86-572ED5D4630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Expressions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E0050E6E-B32E-FCA2-B5D3-4DC889CF82D1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F5642319-D247-EAD0-7126-1C20EFC287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9119" y="2951132"/>
            <a:ext cx="10353762" cy="34728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C338AC4-8F60-C377-F2F5-17D00AD6AB39}"/>
              </a:ext>
            </a:extLst>
          </p:cNvPr>
          <p:cNvSpPr txBox="1"/>
          <p:nvPr/>
        </p:nvSpPr>
        <p:spPr>
          <a:xfrm>
            <a:off x="801530" y="1248422"/>
            <a:ext cx="3429000" cy="17027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altLang="ko-KR" b="1" dirty="0"/>
              <a:t>Expressions can combine:</a:t>
            </a:r>
            <a:endParaRPr lang="en-US" altLang="ko-KR" dirty="0"/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Plain text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Item variables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80858933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E7A8E-4621-6242-1C10-EE351E3430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1D71E8A-97C5-E091-6B68-41666E5E49A5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Node : Edit Fields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4672A883-FEB8-A1A7-BBBB-807B78BB61AD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4772606-C9D7-6B86-5AB9-B0110F6B79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39" y="1545817"/>
            <a:ext cx="7791411" cy="1312238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DCD8186A-C649-F1B5-CF1C-A7F304D941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09158" y="2858055"/>
            <a:ext cx="7271603" cy="38173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9350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870640-950E-154F-8352-1766A5675D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7B9B9EB-E8AE-6E05-6EA9-D739E27064E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7CC5C5B8-72FD-C796-026E-F84C33FEAB2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E8C094BB-37CB-3BF2-B33D-A3AD657879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9100" y="2244301"/>
            <a:ext cx="7196384" cy="422155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71EB72F-9724-4726-99ED-2FE8324638B7}"/>
              </a:ext>
            </a:extLst>
          </p:cNvPr>
          <p:cNvSpPr txBox="1"/>
          <p:nvPr/>
        </p:nvSpPr>
        <p:spPr>
          <a:xfrm>
            <a:off x="608995" y="1494562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ko-KR" dirty="0"/>
              <a:t>List of all the workflows of the </a:t>
            </a:r>
            <a:r>
              <a:rPr lang="en-US" altLang="ko-KR" b="1" dirty="0"/>
              <a:t>n8n instance</a:t>
            </a:r>
            <a:r>
              <a:rPr lang="en-US" altLang="ko-KR" dirty="0"/>
              <a:t>.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Names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Tags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Owners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Last updated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en-US" altLang="ko-KR" dirty="0"/>
          </a:p>
          <a:p>
            <a:pPr>
              <a:buNone/>
            </a:pPr>
            <a:r>
              <a:rPr lang="en-US" altLang="ko-KR" b="1" dirty="0"/>
              <a:t>My workflows</a:t>
            </a:r>
            <a:r>
              <a:rPr lang="en-US" altLang="ko-KR" dirty="0"/>
              <a:t> filter.</a:t>
            </a:r>
          </a:p>
        </p:txBody>
      </p:sp>
    </p:spTree>
    <p:extLst>
      <p:ext uri="{BB962C8B-B14F-4D97-AF65-F5344CB8AC3E}">
        <p14:creationId xmlns:p14="http://schemas.microsoft.com/office/powerpoint/2010/main" val="20309869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6A1FFF-BC0D-017D-B707-AAFF4FD46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158A80D2-CD6D-F138-AA8E-D1E23EAA80D7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Core workflow concepts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B0CE914E-ADA6-3EC2-F06F-3CF9C28034E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95A70C03-752A-5037-9C8C-A566F9E729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1272" y="3658338"/>
            <a:ext cx="7115654" cy="2900242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E4AD9F42-F5D6-42C9-D149-C93202745D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395" y="1248422"/>
            <a:ext cx="7369179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15342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DB31B4-2EC0-443F-A43B-558D863904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B46F2522-D584-AD09-384E-F349D54B2CC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Useful nodes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C1E36BB3-862B-1CAF-7F2F-5F845B6DB7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29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B3683503-4CAE-FEC7-75A8-715BAD498F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3626" y="2619308"/>
            <a:ext cx="9354308" cy="1876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88078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40574-8EAD-7EEB-3303-7D481A822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3466FE8-56F6-226A-8E9C-49EAD7981E5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Others</a:t>
            </a:r>
          </a:p>
        </p:txBody>
      </p:sp>
      <p:sp>
        <p:nvSpPr>
          <p:cNvPr id="11" name="슬라이드 번호 개체 틀 3">
            <a:extLst>
              <a:ext uri="{FF2B5EF4-FFF2-40B4-BE49-F238E27FC236}">
                <a16:creationId xmlns:a16="http://schemas.microsoft.com/office/drawing/2014/main" id="{08B307F7-5BA1-45FF-3BFD-0F6C95AA07F3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E679E8B-8F1B-B884-F899-9837A427E08F}"/>
              </a:ext>
            </a:extLst>
          </p:cNvPr>
          <p:cNvSpPr txBox="1"/>
          <p:nvPr/>
        </p:nvSpPr>
        <p:spPr>
          <a:xfrm>
            <a:off x="1752600" y="2348984"/>
            <a:ext cx="6877050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Error handling</a:t>
            </a:r>
            <a:endParaRPr lang="en-US" altLang="ko-KR" sz="2000" b="1" i="0" dirty="0">
              <a:solidFill>
                <a:srgbClr val="0F0F0F"/>
              </a:solidFill>
              <a:effectLst/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dirty="0">
                <a:solidFill>
                  <a:srgbClr val="0F0F0F"/>
                </a:solidFill>
                <a:latin typeface="Roboto" panose="02000000000000000000" pitchFamily="2" charset="0"/>
              </a:rPr>
              <a:t>Execution Logs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Debugging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Workflow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Credential Sharing</a:t>
            </a:r>
          </a:p>
          <a:p>
            <a:pPr marL="285750" indent="-285750" algn="l">
              <a:buFont typeface="Wingdings" panose="05000000000000000000" pitchFamily="2" charset="2"/>
              <a:buChar char="§"/>
            </a:pPr>
            <a:endParaRPr lang="en-US" altLang="ko-KR" sz="2000" b="1" dirty="0">
              <a:solidFill>
                <a:srgbClr val="0F0F0F"/>
              </a:solidFill>
              <a:latin typeface="Roboto" panose="02000000000000000000" pitchFamily="2" charset="0"/>
            </a:endParaRPr>
          </a:p>
          <a:p>
            <a:pPr marL="285750" indent="-285750" algn="l">
              <a:buFont typeface="Wingdings" panose="05000000000000000000" pitchFamily="2" charset="2"/>
              <a:buChar char="§"/>
            </a:pPr>
            <a:r>
              <a:rPr lang="en-US" altLang="ko-KR" sz="2000" b="1" i="0" dirty="0">
                <a:solidFill>
                  <a:srgbClr val="0F0F0F"/>
                </a:solidFill>
                <a:effectLst/>
                <a:latin typeface="Roboto" panose="02000000000000000000" pitchFamily="2" charset="0"/>
              </a:rPr>
              <a:t>n8n API</a:t>
            </a:r>
          </a:p>
        </p:txBody>
      </p:sp>
    </p:spTree>
    <p:extLst>
      <p:ext uri="{BB962C8B-B14F-4D97-AF65-F5344CB8AC3E}">
        <p14:creationId xmlns:p14="http://schemas.microsoft.com/office/powerpoint/2010/main" val="132510077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3910205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1CBD6D-BF4A-65C2-992E-99A556BB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4DB9F5D-17CF-2C48-F8CD-E12C2AAC5DA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55F7129-3A08-6F5D-4FE3-373FBE89C49A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0C681CD-DFEA-1306-8138-057EF9E8BE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095" y="2516363"/>
            <a:ext cx="7318240" cy="36463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0D6F175-6527-D67F-B12D-03D4C7CC9759}"/>
              </a:ext>
            </a:extLst>
          </p:cNvPr>
          <p:cNvSpPr txBox="1"/>
          <p:nvPr/>
        </p:nvSpPr>
        <p:spPr>
          <a:xfrm>
            <a:off x="542320" y="1248422"/>
            <a:ext cx="10916255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: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과제를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깃허브의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파이썬코드로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upload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하면 구글시트에 이름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(name)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github_url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입력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50000"/>
              </a:lnSpc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: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학생들의 코드를 몇 가지 기준에 따라 점수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(grade)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와 평가내용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(comments)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을 자동입력</a:t>
            </a: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E5302DB2-A13E-CD42-6255-28C18E3B48C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71048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2824F6-E5EB-EF43-685C-2DDB88C30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25962D8-E163-A2E1-AA4F-0380E0BF809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Homework</a:t>
            </a:r>
            <a:r>
              <a:rPr lang="ko-KR" altLang="en-US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349BDF9-74B9-B0E3-5E88-CCFABA2E20B5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88B5EEFA-6922-97B2-24CE-991B6A74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480" y="2044210"/>
            <a:ext cx="10849040" cy="3317945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3EE45BD8-D869-0E65-2C62-C5EB3405CF0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77414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1939797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AC3D9D-ED45-4A43-F676-077B497D1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846CA17B-88CB-A9F6-4F1A-51E8BEF6D42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: Vector DB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6541130-FC1D-4B28-64D8-712C1F853D5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79B5D769-8FF5-3395-7346-8ABE69512EC9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B2F529-CE7E-B1FB-E0F8-01C804C3C722}"/>
              </a:ext>
            </a:extLst>
          </p:cNvPr>
          <p:cNvSpPr txBox="1"/>
          <p:nvPr/>
        </p:nvSpPr>
        <p:spPr>
          <a:xfrm>
            <a:off x="591620" y="1248422"/>
            <a:ext cx="11047930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드라이브의 문서 변경을 감지하여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가 검색할 수 있는 형태로 변환한 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데이터베이스에 자동 저장하는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파일 변환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파이프라인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F7B55537-878D-02BB-B9D9-1FD63322A6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3277" y="2533272"/>
            <a:ext cx="7284009" cy="384274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5B2EA8AB-50F2-8B4B-4C5E-E9E594379078}"/>
              </a:ext>
            </a:extLst>
          </p:cNvPr>
          <p:cNvSpPr txBox="1"/>
          <p:nvPr/>
        </p:nvSpPr>
        <p:spPr>
          <a:xfrm>
            <a:off x="8134901" y="5940590"/>
            <a:ext cx="3799405" cy="617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AI Agent with RAG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 동영상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구글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드라이브에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새로운 파일을 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update</a:t>
            </a:r>
            <a:r>
              <a:rPr lang="ko-KR" altLang="en-US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를 하고 실습</a:t>
            </a:r>
            <a:r>
              <a:rPr lang="en-US" altLang="ko-KR" sz="12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186850690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774DE0-5AE2-C7D2-DA90-13130142D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5A4BAA1-80DE-772A-5E24-1BCA04AC9E1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Vector DB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C2F1F0-02D3-D963-8609-179340A9C17D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12430B21-2557-10AD-3750-0990B8354A5B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04F2C78-D453-32DB-20A9-29FA0B387519}"/>
              </a:ext>
            </a:extLst>
          </p:cNvPr>
          <p:cNvSpPr txBox="1"/>
          <p:nvPr/>
        </p:nvSpPr>
        <p:spPr>
          <a:xfrm>
            <a:off x="576262" y="1404784"/>
            <a:ext cx="11039476" cy="49712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 감지 및 다운로드 (Google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Drive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구글 드라이브에서 대상 파일(PDF 등)이 추가되거나 수정되면 트리거가 동작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Download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file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노드가 감지된 파일의 실제 원본 바이너리 데이터를 받아오기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7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텍스트 추출 및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청킹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Default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Data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➔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Recursive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Character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Data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Loader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다운로드한 파일 바이너리에서 문맥(텍스트)을 읽기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Text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Splitter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읽어온 긴 텍스트를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LLM이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검색하기 적합한 크기의 조각(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Chunk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으로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잘라내기(문서가 총 11개의 조각으로 분할)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변환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Embeddings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Google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잘라낸 11개의 텍스트 조각을 구글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Gemini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임베딩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모델로 보내기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AI가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의미를 계산할 수 있도록 각 텍스트를 3,072차원의 수치 데이터(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)로 변환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WordEmbedding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ko-KR" altLang="en-US" sz="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데이터베이스 저장 (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Vector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Store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생성된 벡터 데이터와 원본 텍스트 조각을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DB의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documents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테이블에 최종 저장</a:t>
            </a:r>
          </a:p>
          <a:p>
            <a:pPr marL="742950" lvl="1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작업이 완료되면 AI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챗봇이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이 PDF 내용을 기반으로 질문에 답변을 제공</a:t>
            </a:r>
          </a:p>
        </p:txBody>
      </p:sp>
    </p:spTree>
    <p:extLst>
      <p:ext uri="{BB962C8B-B14F-4D97-AF65-F5344CB8AC3E}">
        <p14:creationId xmlns:p14="http://schemas.microsoft.com/office/powerpoint/2010/main" val="385837488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EB6EF5-03ED-9F77-ADCA-C54D1A3E05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92704C1-4B64-A764-6B61-98D2A05105D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CA5A31B-7B04-C85B-D89A-7227056A997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2AE4F0D1-013B-4AC7-73AA-93C18678FC5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A035BF-DEB8-5698-AF31-1E4C029C0F42}"/>
              </a:ext>
            </a:extLst>
          </p:cNvPr>
          <p:cNvSpPr txBox="1"/>
          <p:nvPr/>
        </p:nvSpPr>
        <p:spPr>
          <a:xfrm>
            <a:off x="591620" y="1248422"/>
            <a:ext cx="11047930" cy="7910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 질문을 받으면 대화 맥락과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지식베이스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문서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함께 참조하여 정확하게 답변하는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RAG(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검색 증강 생성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기반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AI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대화 에이전트 워크플로우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FF301A2-EBB8-CBF8-1D3B-5533F3951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763" y="2214308"/>
            <a:ext cx="6463277" cy="4282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05858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561E-A4F5-DCE5-D371-2920F5D81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320AAD03-9A68-CE1F-6EF0-23AD7A420C78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2FC08B-9E6A-8817-4D7A-A47549386AC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4D8A310-A54D-1E82-A4BB-2E4E9A9E446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38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0F05E5-FF67-99FC-304A-9872DE54355B}"/>
              </a:ext>
            </a:extLst>
          </p:cNvPr>
          <p:cNvSpPr txBox="1"/>
          <p:nvPr/>
        </p:nvSpPr>
        <p:spPr>
          <a:xfrm>
            <a:off x="576262" y="1404784"/>
            <a:ext cx="11039476" cy="36141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When chat message received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입력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사용자가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챗봇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창에 메시지를 전송하면 작동을 시작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AI Agent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두뇌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제어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입력받은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질문을 분석하고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기억과 지식 검색 도구를 활용하여 최종 답변 생성을 총괄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Groq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Chat Model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추론 모델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빠르게 문맥을 이해하고 자연스러운 답변 언어를 생성하도록 초고속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을 제공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Postgres Chat Memory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대화 기억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 이전 대화 내역을 저장하고 읽어와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연속적인 질의응답 시 이전 문맥을 유지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Vector Store1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지식 검색 도구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외부 문서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(PDF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데이터가 저장되어 있는 벡터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로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AI Agent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가 답변에 필요한 자료를 직접 찾아볼 수 있는 도구 역할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800100" lvl="1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Embeddings Google Gemini1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벡터 변환기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):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사용자의 질문을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3,072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차원의 벡터 수치로 변환하여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en-US" altLang="ko-KR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Supabase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DB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수치적으로 가장 연관성이 높은 문서 조각을 찾기</a:t>
            </a:r>
          </a:p>
        </p:txBody>
      </p:sp>
    </p:spTree>
    <p:extLst>
      <p:ext uri="{BB962C8B-B14F-4D97-AF65-F5344CB8AC3E}">
        <p14:creationId xmlns:p14="http://schemas.microsoft.com/office/powerpoint/2010/main" val="16113707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D764E0-0A98-1FD6-4FFA-A2E6415746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C5E85E1-5F8A-624F-1AAE-B2E60D4777D0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CDC2FF6-79C0-151A-2F03-225A7F606191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D1BB9700-3DCE-925A-A93A-E72A36E9A05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39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3AEF7BB-2CBD-5358-053C-7C8C4A18D8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69" y="1761954"/>
            <a:ext cx="7761149" cy="3876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21220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E9D34D-0A21-41AD-064D-27658C9D7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97A04655-F73F-C692-DA20-228FBED4E099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0758F3-0A33-C8BA-EB4E-5FC35B12E3FF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DC0102E-1733-08D1-7FD2-1BC3C9FEAB0A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40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51A40CA-E54E-3283-851B-7CE4FFFAD5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276" y="1865788"/>
            <a:ext cx="11062340" cy="383016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AFD99DCE-8C94-5492-6201-6B001FC473BA}"/>
              </a:ext>
            </a:extLst>
          </p:cNvPr>
          <p:cNvSpPr/>
          <p:nvPr/>
        </p:nvSpPr>
        <p:spPr>
          <a:xfrm>
            <a:off x="629720" y="31644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4541957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A2EE0-7B72-4636-10DC-B8C3D1A3C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0D182C5E-A618-FBDF-99A3-BB6BFA0BF99F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Vector DB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D3D47D-BCDE-46D7-2CB8-47AE6F48570E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9126CBDC-323D-F49A-AF4C-D176A51EA622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41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D29E0AA-A989-EAB0-2C5E-63DBFB9679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720" y="1374854"/>
            <a:ext cx="10437746" cy="5197396"/>
          </a:xfrm>
          <a:prstGeom prst="rect">
            <a:avLst/>
          </a:prstGeom>
        </p:spPr>
      </p:pic>
      <p:sp>
        <p:nvSpPr>
          <p:cNvPr id="9" name="설명선: 굽은 선 8">
            <a:extLst>
              <a:ext uri="{FF2B5EF4-FFF2-40B4-BE49-F238E27FC236}">
                <a16:creationId xmlns:a16="http://schemas.microsoft.com/office/drawing/2014/main" id="{01F6310F-BB0B-1EFC-0B01-18AC25CE8631}"/>
              </a:ext>
            </a:extLst>
          </p:cNvPr>
          <p:cNvSpPr/>
          <p:nvPr/>
        </p:nvSpPr>
        <p:spPr>
          <a:xfrm>
            <a:off x="7038976" y="1489154"/>
            <a:ext cx="4904856" cy="1010835"/>
          </a:xfrm>
          <a:prstGeom prst="borderCallout2">
            <a:avLst>
              <a:gd name="adj1" fmla="val 68691"/>
              <a:gd name="adj2" fmla="val -3909"/>
              <a:gd name="adj3" fmla="val 92249"/>
              <a:gd name="adj4" fmla="val -18142"/>
              <a:gd name="adj5" fmla="val 157915"/>
              <a:gd name="adj6" fmla="val -24298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1, "to": 92: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 문서의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92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내용을 잘라 만든 첫 번째 조각의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</a:p>
          <a:p>
            <a:pPr marL="171450" indent="-171450">
              <a:buFont typeface="Wingdings" panose="05000000000000000000" pitchFamily="2" charset="2"/>
              <a:buChar char="Ø"/>
            </a:pPr>
            <a:endParaRPr lang="en-US" altLang="ko-KR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171450" indent="-171450">
              <a:buFont typeface="Wingdings" panose="05000000000000000000" pitchFamily="2" charset="2"/>
              <a:buChar char="Ø"/>
            </a:pP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"from": 94, "to": 136: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두 번째 조각으로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원본의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94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줄부터 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136</a:t>
            </a:r>
            <a:r>
              <a:rPr lang="ko-KR" altLang="en-US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번째 줄까지의 내용　</a:t>
            </a:r>
            <a:r>
              <a:rPr lang="en-US" altLang="ko-KR" sz="1100" dirty="0">
                <a:solidFill>
                  <a:schemeClr val="tx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Embedding Vector</a:t>
            </a:r>
            <a:endParaRPr lang="ko-KR" altLang="en-US" sz="1100" dirty="0">
              <a:solidFill>
                <a:schemeClr val="tx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2AB68D60-EE25-462B-3992-8FB006ACC1FB}"/>
              </a:ext>
            </a:extLst>
          </p:cNvPr>
          <p:cNvSpPr/>
          <p:nvPr/>
        </p:nvSpPr>
        <p:spPr>
          <a:xfrm>
            <a:off x="3409950" y="3095625"/>
            <a:ext cx="7343775" cy="581025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E293A09-3E6F-2D86-64AE-21C28F4A5DF4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7647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C76B9F-574C-EE14-73F7-02933FAB3E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5009BBE8-1146-6EFB-21CB-012CF33E8684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FF41F08-EE80-0F5D-6FFF-1F166729CBE0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42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96D8616-7EAD-BC0D-27E6-864312F395AA}"/>
              </a:ext>
            </a:extLst>
          </p:cNvPr>
          <p:cNvSpPr/>
          <p:nvPr/>
        </p:nvSpPr>
        <p:spPr>
          <a:xfrm>
            <a:off x="658295" y="2364344"/>
            <a:ext cx="408505" cy="369332"/>
          </a:xfrm>
          <a:prstGeom prst="rect">
            <a:avLst/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6B1D54BD-0A9D-544E-9DF7-1867595373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901" y="1749597"/>
            <a:ext cx="1109784" cy="366114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4E176A6-D1F5-72F5-8582-E8DD20496E9F}"/>
              </a:ext>
            </a:extLst>
          </p:cNvPr>
          <p:cNvSpPr txBox="1"/>
          <p:nvPr/>
        </p:nvSpPr>
        <p:spPr>
          <a:xfrm>
            <a:off x="436492" y="2089487"/>
            <a:ext cx="1156193" cy="793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를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click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한 후 </a:t>
            </a:r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3860CF18-5253-FD30-11F6-AE7761E5E3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6602" y="133350"/>
            <a:ext cx="4433216" cy="3912274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DD2A207C-F724-7A34-02CF-2C66B8624B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6600" y="4000501"/>
            <a:ext cx="4433217" cy="2724149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581A2DBE-5A3B-09ED-4948-8D1FBB96B5B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70941" y="254670"/>
            <a:ext cx="4841326" cy="3104515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75F4F371-1475-2E5F-27D6-2812D0B8620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76813" y="3387907"/>
            <a:ext cx="4828844" cy="3067354"/>
          </a:xfrm>
          <a:prstGeom prst="rect">
            <a:avLst/>
          </a:prstGeom>
        </p:spPr>
      </p:pic>
      <p:sp>
        <p:nvSpPr>
          <p:cNvPr id="23" name="직사각형 22">
            <a:extLst>
              <a:ext uri="{FF2B5EF4-FFF2-40B4-BE49-F238E27FC236}">
                <a16:creationId xmlns:a16="http://schemas.microsoft.com/office/drawing/2014/main" id="{2FD1F0CE-1F2C-8EDA-083A-BC36C8D703E7}"/>
              </a:ext>
            </a:extLst>
          </p:cNvPr>
          <p:cNvSpPr/>
          <p:nvPr/>
        </p:nvSpPr>
        <p:spPr>
          <a:xfrm>
            <a:off x="8432800" y="5462905"/>
            <a:ext cx="2636377" cy="1151255"/>
          </a:xfrm>
          <a:prstGeom prst="rect">
            <a:avLst/>
          </a:prstGeom>
          <a:noFill/>
          <a:ln w="28575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D5EC47B9-B087-66DE-71FB-5CE86CFEA2CA}"/>
              </a:ext>
            </a:extLst>
          </p:cNvPr>
          <p:cNvSpPr/>
          <p:nvPr/>
        </p:nvSpPr>
        <p:spPr>
          <a:xfrm>
            <a:off x="2873046" y="1646664"/>
            <a:ext cx="3517594" cy="257989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0AB69AF-71F2-2B2B-8356-365E649610DC}"/>
              </a:ext>
            </a:extLst>
          </p:cNvPr>
          <p:cNvSpPr/>
          <p:nvPr/>
        </p:nvSpPr>
        <p:spPr>
          <a:xfrm>
            <a:off x="2873046" y="4471144"/>
            <a:ext cx="3517594" cy="1147410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05B8230-0240-DC71-7076-638318D4D2F2}"/>
              </a:ext>
            </a:extLst>
          </p:cNvPr>
          <p:cNvSpPr txBox="1"/>
          <p:nvPr/>
        </p:nvSpPr>
        <p:spPr>
          <a:xfrm>
            <a:off x="9318954" y="1272543"/>
            <a:ext cx="2517446" cy="954107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Direct Connection (IPv6)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사용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: Session pooler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이는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IPv4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전용 주소라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에서 연결이 가능</a:t>
            </a:r>
          </a:p>
        </p:txBody>
      </p:sp>
    </p:spTree>
    <p:extLst>
      <p:ext uri="{BB962C8B-B14F-4D97-AF65-F5344CB8AC3E}">
        <p14:creationId xmlns:p14="http://schemas.microsoft.com/office/powerpoint/2010/main" val="375656346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DF2AF-F63C-9014-C256-E0B1E8573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73C722C3-A681-42C5-1727-0EC1D6A355D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AI Agent RAG Workflow 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DFF02E-9E6D-5478-8A71-D7BFFE7FE873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B08F3617-13F4-36A0-1AD9-CDE57732614E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A44C99D-E3F4-C9EF-E472-66EAF5F381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8751" y="1832299"/>
            <a:ext cx="10085387" cy="481792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36EB8FE-A25E-0173-6E47-BEE4A975E663}"/>
              </a:ext>
            </a:extLst>
          </p:cNvPr>
          <p:cNvSpPr txBox="1"/>
          <p:nvPr/>
        </p:nvSpPr>
        <p:spPr>
          <a:xfrm>
            <a:off x="591620" y="1248422"/>
            <a:ext cx="11342686" cy="423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강의 자료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(pdf)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Vector 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저장하고 조상구에 대해 질문하면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DB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검색하여 답변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(Vetor DB + 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질문 </a:t>
            </a:r>
            <a:r>
              <a:rPr lang="en-US" altLang="ko-KR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= Prompt)</a:t>
            </a:r>
            <a:r>
              <a:rPr lang="ko-KR" altLang="en-US" sz="1600" b="1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422367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BF34D7-3C96-6A8C-1F23-24373A19E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5EAD5ABA-B1EE-AE18-52A7-D72CEB07C16C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61EFB21-72BA-1B62-A292-BC6F2B1B35ED}"/>
              </a:ext>
            </a:extLst>
          </p:cNvPr>
          <p:cNvSpPr txBox="1"/>
          <p:nvPr/>
        </p:nvSpPr>
        <p:spPr>
          <a:xfrm>
            <a:off x="582095" y="2684810"/>
            <a:ext cx="11066980" cy="3345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LLM(Gemini, </a:t>
            </a: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Chatgpt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Claude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등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에게 원하는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정의하여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코드로 생성하라고 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유튜브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동영상의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workflow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화면캡쳐하여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코드 생성 요청한 후 복사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-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붙이기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claude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desktop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</a:t>
            </a:r>
            <a:endParaRPr lang="en-US" altLang="ko-KR" sz="16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AI "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딸깍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"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으로 만드는 슈퍼자동화 시나리오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! </a:t>
            </a:r>
            <a:r>
              <a:rPr lang="ko-KR" altLang="en-US" sz="14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클로드</a:t>
            </a:r>
            <a:r>
              <a:rPr lang="en-US" altLang="ko-KR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4+MCP </a:t>
            </a:r>
            <a:r>
              <a:rPr lang="ko-KR" altLang="en-US" sz="14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/>
              </a:rPr>
              <a:t>가 미쳤습니다</a:t>
            </a:r>
            <a:endParaRPr lang="en-US" altLang="ko-KR" sz="14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 marL="742950" lvl="1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n8n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노가다 끝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클로드로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 워크플로우 자동 생성하는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'8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단계 프롬프트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+ MCP 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세팅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' (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성공률 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10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배</a:t>
            </a:r>
            <a:r>
              <a:rPr lang="en-US" altLang="ko-KR" sz="14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3"/>
              </a:rPr>
              <a:t>)</a:t>
            </a:r>
            <a:endParaRPr lang="en-US" altLang="ko-KR" sz="1400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  context7  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server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연결하는 것도 귀찮다면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,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v"/>
            </a:pP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Antigravity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Workflow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직접 만들기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~~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이걸로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"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자동화의 판도가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(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구글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안티그래비티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  <a:hlinkClick r:id="rId4"/>
              </a:rPr>
              <a:t>)</a:t>
            </a:r>
            <a:endParaRPr lang="ko-KR" altLang="en-US" sz="16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80D5E0-C6FF-6BBF-600F-FAA66AF19197}"/>
              </a:ext>
            </a:extLst>
          </p:cNvPr>
          <p:cNvSpPr txBox="1"/>
          <p:nvPr/>
        </p:nvSpPr>
        <p:spPr>
          <a:xfrm>
            <a:off x="582095" y="1400175"/>
            <a:ext cx="11143180" cy="880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부탁해서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부탁하면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  <a:endParaRPr lang="ko-KR" altLang="en-US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924DF526-22AF-8A39-2A37-F74A286214CC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45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594780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E7401-AD49-931E-5629-866E258F73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41DF8B59-661E-605A-CFC9-9B1A7684FEE6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LLM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45F3050-E51F-C7FB-58C2-E1F5336796F0}"/>
              </a:ext>
            </a:extLst>
          </p:cNvPr>
          <p:cNvSpPr txBox="1"/>
          <p:nvPr/>
        </p:nvSpPr>
        <p:spPr>
          <a:xfrm>
            <a:off x="524410" y="1281868"/>
            <a:ext cx="11143180" cy="2533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코드를 요청해서 복사하고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 붙여넣기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 LLM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에게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MCP serve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를 붙여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코드를 요청하고 나의 로컬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직접 작동시키기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(</a:t>
            </a:r>
            <a:r>
              <a:rPr lang="en-US" altLang="ko-KR" dirty="0" err="1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json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으로 소통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VS Code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cline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설치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Local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 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URL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주소와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API 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  <a:sym typeface="Wingdings" panose="05000000000000000000" pitchFamily="2" charset="2"/>
              </a:rPr>
              <a:t>키를 복사하기</a:t>
            </a:r>
            <a:endParaRPr lang="en-US" altLang="ko-KR" dirty="0">
              <a:latin typeface="D2Coding" panose="020B0609020101020101" pitchFamily="49" charset="-127"/>
              <a:ea typeface="D2Coding" panose="020B0609020101020101" pitchFamily="49" charset="-127"/>
              <a:sym typeface="Wingdings" panose="05000000000000000000" pitchFamily="2" charset="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Cline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에서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MCP</a:t>
            </a:r>
            <a:r>
              <a:rPr lang="ko-KR" altLang="en-US" dirty="0">
                <a:latin typeface="D2Coding" panose="020B0609020101020101" pitchFamily="49" charset="-127"/>
                <a:ea typeface="D2Coding" panose="020B0609020101020101" pitchFamily="49" charset="-127"/>
              </a:rPr>
              <a:t> 서버 연결</a:t>
            </a:r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lang="en-US" altLang="ko-KR" dirty="0" err="1"/>
              <a:t>cline_mcp_settings.json</a:t>
            </a:r>
            <a:r>
              <a:rPr lang="en-US" altLang="ko-KR" dirty="0"/>
              <a:t>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dirty="0"/>
              <a:t>Prompt : 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E10C70F6-E1E3-8AB0-49C2-177A8137DC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241" y="2339439"/>
            <a:ext cx="5208630" cy="361141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C1E72FFB-4C0B-0F25-E1B2-125863277F75}"/>
              </a:ext>
            </a:extLst>
          </p:cNvPr>
          <p:cNvSpPr txBox="1"/>
          <p:nvPr/>
        </p:nvSpPr>
        <p:spPr>
          <a:xfrm>
            <a:off x="1796026" y="3706146"/>
            <a:ext cx="4490474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매일 아침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9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시에 특정 </a:t>
            </a:r>
            <a:r>
              <a:rPr lang="ko-KR" altLang="en-US" sz="16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웹훅으로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 요청을 보내는 워크플로우를 만들고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생성해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 "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이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JSON 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워크플로우를 내 로컬 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r>
              <a:rPr lang="ko-KR" altLang="en-US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에 임포트하고 실행해 줘</a:t>
            </a:r>
            <a:r>
              <a:rPr lang="en-US" altLang="ko-KR" sz="1600" dirty="0">
                <a:latin typeface="D2Coding" panose="020B0609020101020101" pitchFamily="49" charset="-127"/>
                <a:ea typeface="D2Coding" panose="020B0609020101020101" pitchFamily="49" charset="-127"/>
              </a:rPr>
              <a:t>."</a:t>
            </a:r>
            <a:endParaRPr lang="ko-KR" altLang="en-US" sz="1600" dirty="0"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A8B57DDC-BF91-8CD6-8CF7-734D2DFB6F77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46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02092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490780-D962-F205-381A-9EC36E3B8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7C785D48-E001-C56F-D44C-7E2D938F8C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435" y="1540912"/>
            <a:ext cx="3624765" cy="4553841"/>
          </a:xfrm>
          <a:prstGeom prst="rect">
            <a:avLst/>
          </a:prstGeom>
        </p:spPr>
      </p:pic>
      <p:sp>
        <p:nvSpPr>
          <p:cNvPr id="9" name="제목 1">
            <a:extLst>
              <a:ext uri="{FF2B5EF4-FFF2-40B4-BE49-F238E27FC236}">
                <a16:creationId xmlns:a16="http://schemas.microsoft.com/office/drawing/2014/main" id="{260178FD-69B6-47EA-0380-87D02BE4066A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n8n dances with cline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568671-CF62-BA73-B18E-DB0F6F09FE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90656" y="4640605"/>
            <a:ext cx="6801294" cy="1395656"/>
          </a:xfrm>
          <a:prstGeom prst="rect">
            <a:avLst/>
          </a:prstGeom>
        </p:spPr>
      </p:pic>
      <p:sp>
        <p:nvSpPr>
          <p:cNvPr id="5" name="슬라이드 번호 개체 틀 3">
            <a:extLst>
              <a:ext uri="{FF2B5EF4-FFF2-40B4-BE49-F238E27FC236}">
                <a16:creationId xmlns:a16="http://schemas.microsoft.com/office/drawing/2014/main" id="{11BD2C6D-2FFD-AC68-6F0D-547FAB757C05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47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EAF5E0-5318-CEE6-477F-E98B74D644E1}"/>
              </a:ext>
            </a:extLst>
          </p:cNvPr>
          <p:cNvSpPr txBox="1"/>
          <p:nvPr/>
        </p:nvSpPr>
        <p:spPr>
          <a:xfrm>
            <a:off x="5084761" y="2144294"/>
            <a:ext cx="6096000" cy="160043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다음 조건에 맞는 n8n 워크플로를 생성하고 로컬 n8n에 등록해줘.</a:t>
            </a:r>
          </a:p>
          <a:p>
            <a:endParaRPr lang="ko-KR" altLang="en-US" sz="1400" dirty="0"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트리거: [예: Schedule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Trigger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- 매일 오전 9시]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- 작업 단계: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1. [예: HTTP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Request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날씨 API 호출]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2.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Code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노션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속성(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Property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) 구조에 맞게 데이터 가공]</a:t>
            </a:r>
          </a:p>
          <a:p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 3. [예: </a:t>
            </a:r>
            <a:r>
              <a:rPr lang="ko-KR" altLang="en-US" sz="1400" dirty="0" err="1">
                <a:latin typeface="D2Coding" panose="020B0609020101020101" pitchFamily="49" charset="-127"/>
                <a:ea typeface="D2Coding" panose="020B0609020101020101" pitchFamily="49" charset="-127"/>
              </a:rPr>
              <a:t>Notion</a:t>
            </a:r>
            <a:r>
              <a:rPr lang="ko-KR" altLang="en-US" sz="1400" dirty="0">
                <a:latin typeface="D2Coding" panose="020B0609020101020101" pitchFamily="49" charset="-127"/>
                <a:ea typeface="D2Coding" panose="020B0609020101020101" pitchFamily="49" charset="-127"/>
              </a:rPr>
              <a:t> 노드로 특정 데이터베이스에 새 페이지 생성]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788D05D-8F33-5695-ED2A-3612090429FB}"/>
              </a:ext>
            </a:extLst>
          </p:cNvPr>
          <p:cNvSpPr txBox="1"/>
          <p:nvPr/>
        </p:nvSpPr>
        <p:spPr>
          <a:xfrm>
            <a:off x="4990656" y="174690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latin typeface="D2Coding" panose="020B0609020101020101" pitchFamily="49" charset="-127"/>
                <a:ea typeface="D2Coding" panose="020B0609020101020101" pitchFamily="49" charset="-127"/>
              </a:rPr>
              <a:t>Prompt</a:t>
            </a:r>
            <a:r>
              <a:rPr lang="ko-KR" altLang="en-US" sz="1800" dirty="0"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endParaRPr lang="ko-KR" altLang="en-US" dirty="0"/>
          </a:p>
        </p:txBody>
      </p:sp>
      <p:cxnSp>
        <p:nvCxnSpPr>
          <p:cNvPr id="14" name="연결선: 구부러짐 13">
            <a:extLst>
              <a:ext uri="{FF2B5EF4-FFF2-40B4-BE49-F238E27FC236}">
                <a16:creationId xmlns:a16="http://schemas.microsoft.com/office/drawing/2014/main" id="{BB490C65-C2E1-B342-7A51-9B143853B83F}"/>
              </a:ext>
            </a:extLst>
          </p:cNvPr>
          <p:cNvCxnSpPr/>
          <p:nvPr/>
        </p:nvCxnSpPr>
        <p:spPr>
          <a:xfrm rot="5400000" flipH="1" flipV="1">
            <a:off x="3109913" y="3652838"/>
            <a:ext cx="2143125" cy="1962150"/>
          </a:xfrm>
          <a:prstGeom prst="curved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화살표: 아래쪽 14">
            <a:extLst>
              <a:ext uri="{FF2B5EF4-FFF2-40B4-BE49-F238E27FC236}">
                <a16:creationId xmlns:a16="http://schemas.microsoft.com/office/drawing/2014/main" id="{EE9364EE-5534-F05D-F208-399CAE94BFD9}"/>
              </a:ext>
            </a:extLst>
          </p:cNvPr>
          <p:cNvSpPr/>
          <p:nvPr/>
        </p:nvSpPr>
        <p:spPr>
          <a:xfrm>
            <a:off x="7629525" y="4010025"/>
            <a:ext cx="723900" cy="54292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7603890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17324</TotalTime>
  <Words>1745</Words>
  <Application>Microsoft Office PowerPoint</Application>
  <PresentationFormat>와이드스크린</PresentationFormat>
  <Paragraphs>317</Paragraphs>
  <Slides>47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47</vt:i4>
      </vt:variant>
    </vt:vector>
  </HeadingPairs>
  <TitlesOfParts>
    <vt:vector size="58" baseType="lpstr">
      <vt:lpstr>D2Coding</vt:lpstr>
      <vt:lpstr>MS Gothic</vt:lpstr>
      <vt:lpstr>맑은 고딕</vt:lpstr>
      <vt:lpstr>바탕</vt:lpstr>
      <vt:lpstr>Arial</vt:lpstr>
      <vt:lpstr>Cambria Math</vt:lpstr>
      <vt:lpstr>Lora</vt:lpstr>
      <vt:lpstr>Roboto</vt:lpstr>
      <vt:lpstr>Segoe UI Emoji</vt:lpstr>
      <vt:lpstr>Wingdings</vt:lpstr>
      <vt:lpstr>WelcomeDoc</vt:lpstr>
      <vt:lpstr>n8n AI Workflow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Beginner Tutorials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Homework</vt:lpstr>
      <vt:lpstr>PowerPoint 프레젠테이션</vt:lpstr>
      <vt:lpstr>PowerPoint 프레젠테이션</vt:lpstr>
      <vt:lpstr>n8n Homework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n8n Homework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228</cp:revision>
  <dcterms:created xsi:type="dcterms:W3CDTF">2026-04-06T01:00:39Z</dcterms:created>
  <dcterms:modified xsi:type="dcterms:W3CDTF">2026-08-06T14:39:19Z</dcterms:modified>
  <cp:version/>
</cp:coreProperties>
</file>