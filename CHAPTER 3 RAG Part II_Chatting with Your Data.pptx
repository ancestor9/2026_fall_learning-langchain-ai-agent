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56" r:id="rId2"/>
    <p:sldId id="1136" r:id="rId3"/>
    <p:sldId id="1140" r:id="rId4"/>
    <p:sldId id="1141" r:id="rId5"/>
    <p:sldId id="1144" r:id="rId6"/>
    <p:sldId id="1142" r:id="rId7"/>
    <p:sldId id="1143" r:id="rId8"/>
    <p:sldId id="1145" r:id="rId9"/>
    <p:sldId id="1147" r:id="rId10"/>
    <p:sldId id="1146" r:id="rId11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6"/>
            <p14:sldId id="1140"/>
            <p14:sldId id="1141"/>
            <p14:sldId id="1144"/>
            <p14:sldId id="1142"/>
            <p14:sldId id="1143"/>
            <p14:sldId id="1145"/>
            <p14:sldId id="1147"/>
            <p14:sldId id="1146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FF9B45"/>
    <a:srgbClr val="DD462F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2026-07-17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2026-07-17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2026-07-17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2026-07-17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CHAPERT 3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RAG Part II: Chatting with Your Data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DBDF-4942-26B7-ECF8-D411863D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2F42C0-07C8-1960-872A-C341FE529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83E9E23-F77D-44D2-EB8C-9981740FAE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CB7729-09DC-4690-5139-CD2649D9221F}"/>
              </a:ext>
            </a:extLst>
          </p:cNvPr>
          <p:cNvSpPr txBox="1"/>
          <p:nvPr/>
        </p:nvSpPr>
        <p:spPr>
          <a:xfrm>
            <a:off x="1166927" y="1724672"/>
            <a:ext cx="10100629" cy="958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 err="1"/>
              <a:t>머신러닝</a:t>
            </a:r>
            <a:r>
              <a:rPr lang="ko-KR" altLang="en-US" sz="2000" dirty="0"/>
              <a:t> 알고리즘</a:t>
            </a:r>
            <a:endParaRPr lang="en-US" altLang="ko-KR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/>
              <a:t>분산과 편향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82707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6AADB-16FD-D031-093A-078B9B45A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513C64-8E36-4C85-8182-010E8425C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FF27C86-F5A7-56AC-6B7D-6AB573A8361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What is RAG(Retrieval-Augmented Generation)?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DE27A3-7BCD-B963-0B8B-1E167166F732}"/>
              </a:ext>
            </a:extLst>
          </p:cNvPr>
          <p:cNvSpPr txBox="1"/>
          <p:nvPr/>
        </p:nvSpPr>
        <p:spPr>
          <a:xfrm>
            <a:off x="609600" y="1248422"/>
            <a:ext cx="10972800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RAG is automated system to fetch relevant information based on a user’s query, append it as context to the prompt, and then execute the generation request to the LLM.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914B3C4-49E5-C000-A4BB-024EA4627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444" y="2337662"/>
            <a:ext cx="7712108" cy="358171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6632C8E-0AC8-B413-126F-75B105DAB138}"/>
              </a:ext>
            </a:extLst>
          </p:cNvPr>
          <p:cNvSpPr txBox="1"/>
          <p:nvPr/>
        </p:nvSpPr>
        <p:spPr>
          <a:xfrm>
            <a:off x="8772524" y="2381615"/>
            <a:ext cx="3143251" cy="36009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인덱싱 </a:t>
            </a:r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(Indexing)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외부 데이터 소스를 전처리하고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데이터의 의미를 나타내는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임베딩을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벡터 저장소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(Vector Store)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에 저장하여 나중에 쉽게 검색할 수 있도록 만드는 과정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2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2. </a:t>
            </a:r>
            <a:r>
              <a:rPr lang="ko-KR" altLang="en-US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검색 </a:t>
            </a:r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(Retrieval)</a:t>
            </a:r>
          </a:p>
          <a:p>
            <a:pPr marL="228600" indent="-22860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사용자의 질문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(Query)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을 기반으로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벡터 저장소에 보관되어 있는 관련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임베딩과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데이터를 찾아오는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추출하는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과정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28600" indent="-228600">
              <a:buFont typeface="Wingdings" panose="05000000000000000000" pitchFamily="2" charset="2"/>
              <a:buChar char="§"/>
            </a:pP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3. </a:t>
            </a:r>
            <a:r>
              <a:rPr lang="ko-KR" altLang="en-US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생성 </a:t>
            </a:r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(Generation)</a:t>
            </a:r>
          </a:p>
          <a:p>
            <a:pPr marL="228600" indent="-22860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사용자의 원래 질문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(Prompt)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과 검색을 통해 찾아낸 관련 문서들을 하나로 결합하여 최종 프롬프트를 만들고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이를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모델에 보내 예측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답변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을 유도하는 과정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1685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8372F-584A-3720-5EA3-5BC174A41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BF2D68-AA20-60CC-0560-7ADC31CC5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FD712C7-88FF-B03C-0041-0910E14CF15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Retrieving Relevant Documents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C66EEA0-1F46-6B06-7214-66461A633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7" y="1641609"/>
            <a:ext cx="4133848" cy="48187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D42372-0CC1-F607-2405-C7C478F4983B}"/>
              </a:ext>
            </a:extLst>
          </p:cNvPr>
          <p:cNvSpPr txBox="1"/>
          <p:nvPr/>
        </p:nvSpPr>
        <p:spPr>
          <a:xfrm>
            <a:off x="5391757" y="1641609"/>
            <a:ext cx="6171591" cy="19011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An example flow of indexing documents alongside retrieval of relevant documents from a vector store; the Hierarchical Navigable Small World (HNSW) box depicts calculating similarity of documents against the user’s query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8C37FB-284E-EC98-BE38-02540B0599AA}"/>
                  </a:ext>
                </a:extLst>
              </p:cNvPr>
              <p:cNvSpPr txBox="1"/>
              <p:nvPr/>
            </p:nvSpPr>
            <p:spPr>
              <a:xfrm>
                <a:off x="5391757" y="3935958"/>
                <a:ext cx="6096000" cy="1437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8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Hierarchical Navigable Small World (HNSW)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RDBMS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의 </a:t>
                </a:r>
                <a:r>
                  <a:rPr lang="en-US" altLang="ko-KR" sz="1600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B+Tree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알고리즘과 유사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: 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새로운 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query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에 대해 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N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개의 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vectors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를 대상으로 </a:t>
                </a:r>
                <a:r>
                  <a:rPr lang="ko-KR" altLang="en-US" sz="1600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검색시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연산 효율이 증가 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ko-KR" sz="16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</m:oMath>
                </a14:m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</a:t>
                </a:r>
                <a:endParaRPr lang="ko-KR" altLang="en-US" sz="1600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8C37FB-284E-EC98-BE38-02540B059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1757" y="3935958"/>
                <a:ext cx="6096000" cy="1437830"/>
              </a:xfrm>
              <a:prstGeom prst="rect">
                <a:avLst/>
              </a:prstGeom>
              <a:blipFill>
                <a:blip r:embed="rId3"/>
                <a:stretch>
                  <a:fillRect l="-800" t="-2542" b="-42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0759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750F7-41AF-AE88-E1DC-B4511268E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5F14AE-F576-6569-5A5C-1C2911C8D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5C9C2A0-964F-B1F3-1D67-029CEE79CE1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Retrieving Relevant Documents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09A1C9-9C9F-B20D-8C7D-C0613F3A5AC4}"/>
              </a:ext>
            </a:extLst>
          </p:cNvPr>
          <p:cNvSpPr txBox="1"/>
          <p:nvPr/>
        </p:nvSpPr>
        <p:spPr>
          <a:xfrm>
            <a:off x="589164" y="1348800"/>
            <a:ext cx="6507480" cy="212365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==========================================</a:t>
            </a:r>
            <a:endParaRPr lang="ko-KR" altLang="en-US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1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환경 변수 및 인증 정보 설정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==========================================</a:t>
            </a:r>
            <a:endParaRPr lang="ko-KR" altLang="en-US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1)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접속 정보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앞서 확인한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API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주소와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anon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키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SUPABASE_URL = "https://tllrshlupjcikzaywaqm.supabase.co" 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SUPABASE_KEY =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userdata.get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buNone/>
            </a:pPr>
            <a:endParaRPr lang="en-US" altLang="ko-KR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supabase_client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Client =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create_client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(SUPABASE_URL, SUPABASE_KEY)</a:t>
            </a:r>
          </a:p>
          <a:p>
            <a:pPr>
              <a:buNone/>
            </a:pPr>
            <a:b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2)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Groq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API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키 설정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YOUR_API_KEY =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userdata.get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groq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buNone/>
            </a:pP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os.environ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["GROQ_API_KEY"] = YOUR_API_KEY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558C6B-74A4-A3A1-B6ED-C278B9DC5E2F}"/>
              </a:ext>
            </a:extLst>
          </p:cNvPr>
          <p:cNvSpPr txBox="1"/>
          <p:nvPr/>
        </p:nvSpPr>
        <p:spPr>
          <a:xfrm>
            <a:off x="4199139" y="3092788"/>
            <a:ext cx="6507480" cy="330859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==========================================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2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 로드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분할 및 </a:t>
            </a:r>
            <a:r>
              <a:rPr lang="ko-KR" altLang="en-US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(Ingestion)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==========================================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문서 로드 및 분할</a:t>
            </a:r>
          </a:p>
          <a:p>
            <a:pPr>
              <a:buNone/>
            </a:pP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raw_documents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TextLoader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('./test.txt', encoding='utf-8').load()</a:t>
            </a:r>
          </a:p>
          <a:p>
            <a:pPr>
              <a:buNone/>
            </a:pP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text_splitter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RecursiveCharacterTextSplitter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chunk_size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=1000,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chunk_overlap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=200)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documents =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text_splitter.split_documents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raw_documents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endParaRPr lang="en-US" altLang="ko-KR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수파베이스와 연동할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HuggingFace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384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차원 </a:t>
            </a:r>
            <a:r>
              <a:rPr lang="ko-KR" altLang="en-US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모델 설정</a:t>
            </a:r>
          </a:p>
          <a:p>
            <a:pPr>
              <a:buNone/>
            </a:pP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embeddings_model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HuggingFaceEmbeddings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model_name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="all-MiniLM-L6-v2")</a:t>
            </a:r>
          </a:p>
          <a:p>
            <a:pPr>
              <a:buNone/>
            </a:pPr>
            <a:endParaRPr lang="en-US" altLang="ko-KR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VectorStore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 데이터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Store (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인덱싱 및 저장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SupabaseVectorStore.from_documents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documents=documents,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embedding=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embeddings_model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client=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supabase_client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table_name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="documents",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query_name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match_documents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  # SQL Editor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 등록한 함수 이름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4398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07014-8714-34AC-34E8-516648C36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F1093B-1C5C-EA61-2A57-7D96D8A5F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4F1AF93-E975-B956-7159-AE13BD3B424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Retrieving Relevant Documents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B68EEC-4E15-A8F4-D42E-03E389DEFB13}"/>
              </a:ext>
            </a:extLst>
          </p:cNvPr>
          <p:cNvSpPr txBox="1"/>
          <p:nvPr/>
        </p:nvSpPr>
        <p:spPr>
          <a:xfrm>
            <a:off x="630693" y="1313988"/>
            <a:ext cx="6507480" cy="2970044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==========================================</a:t>
            </a:r>
            <a:endParaRPr lang="ko-KR" altLang="en-US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3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검색기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(Retriever)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및 프롬프트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Groq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LLM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설정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==========================================</a:t>
            </a:r>
            <a:endParaRPr lang="ko-KR" altLang="en-US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유사한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(cosine similarity)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문서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개를 뽑아오는 </a:t>
            </a:r>
            <a:r>
              <a:rPr lang="ko-KR" altLang="en-US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리트리버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생성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retriever =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db.as_retriever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search_kwargs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={"k": 2})</a:t>
            </a:r>
          </a:p>
          <a:p>
            <a:pPr>
              <a:buNone/>
            </a:pPr>
            <a:b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query = 'Who are the key figures in the ancient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greek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history of philosophy?'</a:t>
            </a:r>
          </a:p>
          <a:p>
            <a:pPr>
              <a:buNone/>
            </a:pPr>
            <a:b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프롬프트 템플릿 정의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prompt =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ChatPromptTemplate.from_template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"""Answer the question based only on the following context: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{context}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  Question: {question}"""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b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초고속 가성비 모델인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Groq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(Llama 3)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모델로 교체</a:t>
            </a:r>
          </a:p>
          <a:p>
            <a:pPr>
              <a:buNone/>
            </a:pP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ChatGroq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model_name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="llama-3.1-8b-instant", temperature=0)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C492F2-B932-47EA-82F0-F939B140AD3A}"/>
              </a:ext>
            </a:extLst>
          </p:cNvPr>
          <p:cNvSpPr txBox="1"/>
          <p:nvPr/>
        </p:nvSpPr>
        <p:spPr>
          <a:xfrm>
            <a:off x="6096000" y="2394890"/>
            <a:ext cx="5832729" cy="364715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==========================================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4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LCEL @chain </a:t>
            </a:r>
            <a:r>
              <a:rPr lang="ko-KR" altLang="en-US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데코레이터를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활용한 효율적인 파이썬 함수 캡슐화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(Generation)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==========================================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print("Running RAG system using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Groq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...\n")</a:t>
            </a:r>
          </a:p>
          <a:p>
            <a:pPr>
              <a:buNone/>
            </a:pPr>
            <a:endParaRPr lang="en-US" altLang="ko-KR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@chain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qa_chain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input_query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# 1. Retrieval: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질문과 관련된 문서 조각 가져오기</a:t>
            </a:r>
          </a:p>
          <a:p>
            <a:pPr>
              <a:buNone/>
            </a:pP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docs =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retriever.invoke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input_query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# 2. Prompt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조립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질문과 컨텍스트 결합</a:t>
            </a:r>
          </a:p>
          <a:p>
            <a:pPr>
              <a:buNone/>
            </a:pP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formatted =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prompt.invoke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({"context": docs, "question":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input_query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})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# 3. Generation: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Groq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LLM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을 통해 답변 생성</a:t>
            </a:r>
          </a:p>
          <a:p>
            <a:pPr>
              <a:buNone/>
            </a:pP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answer =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llm.invoke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(formatted)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return answer</a:t>
            </a:r>
          </a:p>
          <a:p>
            <a:pPr>
              <a:buNone/>
            </a:pPr>
            <a:endParaRPr lang="en-US" altLang="ko-KR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RAG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체인 실행 및 결과 출력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result =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qa_chain.invoke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(query)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print("[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최종 답변 결과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]")</a:t>
            </a:r>
            <a:endParaRPr lang="ko-KR" altLang="en-US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result.content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D322B9-219C-8B79-A1AA-6578697278DE}"/>
              </a:ext>
            </a:extLst>
          </p:cNvPr>
          <p:cNvSpPr txBox="1"/>
          <p:nvPr/>
        </p:nvSpPr>
        <p:spPr>
          <a:xfrm>
            <a:off x="630693" y="5020598"/>
            <a:ext cx="5124450" cy="101566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The ancient Greek history of philosophy is a monumental chapter in human intellectual history. Greek philosophers and scientists laid the………..</a:t>
            </a:r>
          </a:p>
          <a:p>
            <a:endParaRPr lang="en-US" altLang="ko-KR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최종 답변이 안 나오는 이유는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281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44B8C-B5B7-ACB2-470A-E3EABFB4A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F298C9-2596-E2C9-F069-99D435BFE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20C3598-52CB-E2CD-3B36-0771802B88F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How to build a production-ready RAG system?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C5F91C8-3335-5794-A260-4E134A236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489" y="1690133"/>
            <a:ext cx="5854224" cy="43055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A1FD390-1697-9486-30C6-D60725BBD184}"/>
              </a:ext>
            </a:extLst>
          </p:cNvPr>
          <p:cNvSpPr txBox="1"/>
          <p:nvPr/>
        </p:nvSpPr>
        <p:spPr>
          <a:xfrm>
            <a:off x="6638925" y="1690133"/>
            <a:ext cx="511492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 입력의 가변성 관리: 사용자마다 다르게 입력하는 질문의 품질(모호함, 오타 등)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에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어떻게 대응할 것인가?</a:t>
            </a:r>
          </a:p>
          <a:p>
            <a:pPr marL="342900" indent="-342900">
              <a:buFont typeface="+mj-lt"/>
              <a:buAutoNum type="arabicPeriod"/>
            </a:pPr>
            <a:endParaRPr lang="ko-KR" altLang="en-US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쿼리 라우팅(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Routing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): 다양한 데이터 소스 중 질문에 맞는 적절한 데이터 소스로 쿼리를 어떻게 분류하고 보낼 것인가?</a:t>
            </a:r>
          </a:p>
          <a:p>
            <a:pPr marL="342900" indent="-342900">
              <a:buFont typeface="+mj-lt"/>
              <a:buAutoNum type="arabicPeriod"/>
            </a:pPr>
            <a:endParaRPr lang="ko-KR" altLang="en-US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쿼리 언어 변환: 사용자의 자연어 질문을 대상 데이터 소스가 이해할 수 있는 쿼리 언어(예: SQL,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NoSQL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쿼리 등)로 어떻게 변환할 것인가?</a:t>
            </a:r>
          </a:p>
          <a:p>
            <a:pPr marL="342900" indent="-342900">
              <a:buFont typeface="+mj-lt"/>
              <a:buAutoNum type="arabicPeriod"/>
            </a:pPr>
            <a:endParaRPr lang="ko-KR" altLang="en-US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인덱싱 프로세스 최적화: 텍스트 분할(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Text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Splitting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 및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 과정을 어떻게 최적화할 것인가?</a:t>
            </a:r>
            <a:endParaRPr lang="en-US" altLang="ko-KR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검색 결과 이후에 후처리 알고리즘을 최적화 단계를 통해 어떻게 답변을 정확히 할 것인가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  <a:endParaRPr lang="ko-KR" altLang="en-US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5848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E5245-9EDB-46A3-1F2A-4501E08E4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188EE8-FE27-FA83-E7F6-84D649D4D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8DB553A-0412-FD51-E0DB-FBD53447FA1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Query Transformation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6CD26D-1BF6-C93E-CACA-6F5B48C79395}"/>
              </a:ext>
            </a:extLst>
          </p:cNvPr>
          <p:cNvSpPr txBox="1"/>
          <p:nvPr/>
        </p:nvSpPr>
        <p:spPr>
          <a:xfrm>
            <a:off x="542320" y="1452061"/>
            <a:ext cx="10925780" cy="4671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Rewrite-Retrieve-Read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Query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차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차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,..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변환한 후 벡터스토어에서 조각 문서를 찾아 내기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Multi-Query Retrieval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Query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질문을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3~4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개의 다른 표현으로 복제한 후 벡터스토어에서 조각 문서를 찾아 내기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RAG-Fusion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Multi-Query Retrieval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여러 개의 질문에서 도출된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조각 문서에 랭킹을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부여하여 찾아내기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Hypothetical Document Embeddings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사용자의 질문을 기반으로 가상의 문서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(Hypothetical Document)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생성하고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문서를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임베딩하여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벡터 유사도를 바탕으로 관련 문서를 검색하는 방식</a:t>
            </a:r>
          </a:p>
        </p:txBody>
      </p:sp>
    </p:spTree>
    <p:extLst>
      <p:ext uri="{BB962C8B-B14F-4D97-AF65-F5344CB8AC3E}">
        <p14:creationId xmlns:p14="http://schemas.microsoft.com/office/powerpoint/2010/main" val="1432651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6F4E3-E67C-9BAF-371A-93DFEECB9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06B752-0047-4A9A-D6ED-EE1C0D46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7AD7CBA-31A4-09CB-B7B4-C0EE49E65DE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Query Transformation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06B856-0E9C-4457-343E-665F75B83343}"/>
              </a:ext>
            </a:extLst>
          </p:cNvPr>
          <p:cNvSpPr txBox="1"/>
          <p:nvPr/>
        </p:nvSpPr>
        <p:spPr>
          <a:xfrm>
            <a:off x="8077805" y="709111"/>
            <a:ext cx="3600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Rewrite-Retrieve-Read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7427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CDC85-5E1A-1016-76E9-AE940CBDF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E73430-8836-961C-5301-71E1947D0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E1C45773-93D9-590A-3670-583BFB0FBB0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Query Transformation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D5CBB4-32B5-6778-4C36-D7987FBAD9AD}"/>
              </a:ext>
            </a:extLst>
          </p:cNvPr>
          <p:cNvSpPr txBox="1"/>
          <p:nvPr/>
        </p:nvSpPr>
        <p:spPr>
          <a:xfrm>
            <a:off x="7944455" y="690061"/>
            <a:ext cx="3600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Rewrite-Retrieve-Read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27233DF-4C16-66F3-20FB-FAF524AA1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4029" y="2267020"/>
            <a:ext cx="4054191" cy="294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725849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14092</TotalTime>
  <Words>991</Words>
  <Application>Microsoft Office PowerPoint</Application>
  <PresentationFormat>와이드스크린</PresentationFormat>
  <Paragraphs>126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D2Coding</vt:lpstr>
      <vt:lpstr>맑은 고딕</vt:lpstr>
      <vt:lpstr>바탕</vt:lpstr>
      <vt:lpstr>Arial</vt:lpstr>
      <vt:lpstr>Cambria Math</vt:lpstr>
      <vt:lpstr>Wingdings</vt:lpstr>
      <vt:lpstr>WelcomeDoc</vt:lpstr>
      <vt:lpstr>CHAPERT 3 RAG Part II: Chatting with Your Data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192</cp:revision>
  <dcterms:created xsi:type="dcterms:W3CDTF">2026-04-06T01:00:39Z</dcterms:created>
  <dcterms:modified xsi:type="dcterms:W3CDTF">2026-07-19T16:45:31Z</dcterms:modified>
  <cp:version/>
</cp:coreProperties>
</file>