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handoutMasterIdLst>
    <p:handoutMasterId r:id="rId24"/>
  </p:handoutMasterIdLst>
  <p:sldIdLst>
    <p:sldId id="256" r:id="rId2"/>
    <p:sldId id="1136" r:id="rId3"/>
    <p:sldId id="1140" r:id="rId4"/>
    <p:sldId id="1141" r:id="rId5"/>
    <p:sldId id="1144" r:id="rId6"/>
    <p:sldId id="1142" r:id="rId7"/>
    <p:sldId id="1143" r:id="rId8"/>
    <p:sldId id="1150" r:id="rId9"/>
    <p:sldId id="1153" r:id="rId10"/>
    <p:sldId id="1145" r:id="rId11"/>
    <p:sldId id="1147" r:id="rId12"/>
    <p:sldId id="1149" r:id="rId13"/>
    <p:sldId id="1148" r:id="rId14"/>
    <p:sldId id="1146" r:id="rId15"/>
    <p:sldId id="1154" r:id="rId16"/>
    <p:sldId id="1151" r:id="rId17"/>
    <p:sldId id="1152" r:id="rId18"/>
    <p:sldId id="1155" r:id="rId19"/>
    <p:sldId id="1156" r:id="rId20"/>
    <p:sldId id="1157" r:id="rId21"/>
    <p:sldId id="1158" r:id="rId2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41"/>
            <p14:sldId id="1144"/>
            <p14:sldId id="1142"/>
            <p14:sldId id="1143"/>
            <p14:sldId id="1150"/>
            <p14:sldId id="1153"/>
            <p14:sldId id="1145"/>
            <p14:sldId id="1147"/>
            <p14:sldId id="1149"/>
            <p14:sldId id="1148"/>
            <p14:sldId id="1146"/>
            <p14:sldId id="1154"/>
            <p14:sldId id="1151"/>
            <p14:sldId id="1152"/>
            <p14:sldId id="1155"/>
            <p14:sldId id="1156"/>
            <p14:sldId id="1157"/>
            <p14:sldId id="115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38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rag-from-scratch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cohere.com/blog/rerank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3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II: Chatting with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RAG(Retrieval-Augmented Generation)?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is automated system to fetch relevant information based on a user’s query, append it as context to the prompt, and then execute the generation request to the LLM.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914B3C4-49E5-C000-A4BB-024EA4627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2337662"/>
            <a:ext cx="7712108" cy="358171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6632C8E-0AC8-B413-126F-75B105DAB138}"/>
              </a:ext>
            </a:extLst>
          </p:cNvPr>
          <p:cNvSpPr txBox="1"/>
          <p:nvPr/>
        </p:nvSpPr>
        <p:spPr>
          <a:xfrm>
            <a:off x="8772524" y="2381615"/>
            <a:ext cx="3143251" cy="36009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(Indexing)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데이터 소스를 전처리하고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의미를 나타내는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저장소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저장하여 나중에 쉽게 검색할 수 있도록 만드는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(Retrieval)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기반으로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저장소에 보관되어 있는 관련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찾아오는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추출하는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28600" indent="-22860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원래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(Prompt)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검색을 통해 찾아낸 관련 문서들을 하나로 결합하여 최종 프롬프트를 만들고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보내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답변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유도하는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8372F-584A-3720-5EA3-5BC174A4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F2D68-AA20-60CC-0560-7ADC31CC5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D712C7-88FF-B03C-0041-0910E14CF1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66EEA0-1F46-6B06-7214-66461A633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7" y="1641609"/>
            <a:ext cx="4133848" cy="48187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42372-0CC1-F607-2405-C7C478F4983B}"/>
              </a:ext>
            </a:extLst>
          </p:cNvPr>
          <p:cNvSpPr txBox="1"/>
          <p:nvPr/>
        </p:nvSpPr>
        <p:spPr>
          <a:xfrm>
            <a:off x="5391757" y="1641609"/>
            <a:ext cx="6171591" cy="19011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An example flow of indexing documents alongside retrieval of relevant documents from a vector store; the Hierarchical Navigable Small World (HNSW) box depicts calculating similarity of documents against the user’s query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/>
              <p:nvPr/>
            </p:nvSpPr>
            <p:spPr>
              <a:xfrm>
                <a:off x="5391757" y="3935958"/>
                <a:ext cx="6096000" cy="1437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Hierarchical Navigable Small World (HNSW)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RDBMS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B+Tree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알고리즘과 유사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: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새로운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대해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vectors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대상으로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검색시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연산 효율이 증가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6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altLang="ko-KR" sz="1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1757" y="3935958"/>
                <a:ext cx="6096000" cy="1437830"/>
              </a:xfrm>
              <a:prstGeom prst="rect">
                <a:avLst/>
              </a:prstGeom>
              <a:blipFill>
                <a:blip r:embed="rId3"/>
                <a:stretch>
                  <a:fillRect l="-800" t="-2542" b="-42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0759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750F7-41AF-AE88-E1DC-B4511268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5F14AE-F576-6569-5A5C-1C2911C8D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C9C2A0-964F-B1F3-1D67-029CEE79CE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09A1C9-9C9F-B20D-8C7D-C0613F3A5AC4}"/>
              </a:ext>
            </a:extLst>
          </p:cNvPr>
          <p:cNvSpPr txBox="1"/>
          <p:nvPr/>
        </p:nvSpPr>
        <p:spPr>
          <a:xfrm>
            <a:off x="589164" y="1348800"/>
            <a:ext cx="6507480" cy="21236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환경 변수 및 인증 정보 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1)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접속 정보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앞서 확인한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주소와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anon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"https://tllrshlupjcikzaywaqm.supabase.co"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2)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 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YOUR_API_KEY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["GROQ_API_KEY"] = YOUR_API_KEY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558C6B-74A4-A3A1-B6ED-C278B9DC5E2F}"/>
              </a:ext>
            </a:extLst>
          </p:cNvPr>
          <p:cNvSpPr txBox="1"/>
          <p:nvPr/>
        </p:nvSpPr>
        <p:spPr>
          <a:xfrm>
            <a:off x="4199139" y="3092788"/>
            <a:ext cx="6507480" cy="330859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분할 및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(Ingestion)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로드 및 분할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encoding='utf-8').load()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text_splitter.split_documents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수파베이스와 연동할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384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설정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데이터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인덱싱 및 저장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documents=documents,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embedding=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client=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="documents",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 # SQL Editor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등록한 함수 이름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398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07014-8714-34AC-34E8-516648C3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F1093B-1C5C-EA61-2A57-7D96D8A5F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4F1AF93-E975-B956-7159-AE13BD3B42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B68EEC-4E15-A8F4-D42E-03E389DEFB13}"/>
              </a:ext>
            </a:extLst>
          </p:cNvPr>
          <p:cNvSpPr txBox="1"/>
          <p:nvPr/>
        </p:nvSpPr>
        <p:spPr>
          <a:xfrm>
            <a:off x="630693" y="1313988"/>
            <a:ext cx="6507480" cy="297004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검색기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(Retriever)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프롬프트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유사한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(cosine similarity)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개를 뽑아오는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리트리버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db.as_retriever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search_kwargs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={"k": 2})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'Who are the key figures in the ancient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greek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history of philosophy?'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프롬프트 템플릿 정의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ChatPromptTemplate.from_template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"""Answer the question based only on the following context: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{context}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  Question: {question}"""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초고속 가성비 모델인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(Llama 3)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모델로 교체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="llama-3.1-8b-instant", temperature=0)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492F2-B932-47EA-82F0-F939B140AD3A}"/>
              </a:ext>
            </a:extLst>
          </p:cNvPr>
          <p:cNvSpPr txBox="1"/>
          <p:nvPr/>
        </p:nvSpPr>
        <p:spPr>
          <a:xfrm>
            <a:off x="6096000" y="2394890"/>
            <a:ext cx="5832729" cy="364715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LCEL @chain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데코레이터를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활용한 효율적인 파이썬 함수 캡슐화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print("Running RAG system using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...\n")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@chain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1. Retrieval: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관련된 문서 조각 가져오기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2. Prompt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조립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컨텍스트 결합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formatted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({"context": docs, "question":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3. Generation: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통해 답변 생성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answer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(formatted)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return answer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RAG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체인 실행 및 결과 출력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print("[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답변 결과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result.content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D322B9-219C-8B79-A1AA-6578697278DE}"/>
              </a:ext>
            </a:extLst>
          </p:cNvPr>
          <p:cNvSpPr txBox="1"/>
          <p:nvPr/>
        </p:nvSpPr>
        <p:spPr>
          <a:xfrm>
            <a:off x="630693" y="5020598"/>
            <a:ext cx="5124450" cy="101566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ancient Greek history of philosophy is a monumental chapter in human intellectual history. Greek philosophers and scientists laid the………..</a:t>
            </a: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답변이 안 나오는 이유는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281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44B8C-B5B7-ACB2-470A-E3EABFB4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F298C9-2596-E2C9-F069-99D435BFE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20C3598-52CB-E2CD-3B36-0771802B88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build a production-ready RAG system?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F91C8-3335-5794-A260-4E134A236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9" y="1690133"/>
            <a:ext cx="5854224" cy="43055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1FD390-1697-9486-30C6-D60725BBD184}"/>
              </a:ext>
            </a:extLst>
          </p:cNvPr>
          <p:cNvSpPr txBox="1"/>
          <p:nvPr/>
        </p:nvSpPr>
        <p:spPr>
          <a:xfrm>
            <a:off x="6638925" y="1690133"/>
            <a:ext cx="511492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입력의 가변성 관리: 사용자마다 다르게 입력하는 질문의 품질(모호함, 오타 등)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어떻게 대응할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쿼리 라우팅(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다양한 데이터 소스 중 질문에 맞는 적절한 데이터 소스로 쿼리를 어떻게 분류하고 보낼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쿼리 언어 변환: 사용자의 자연어 질문을 대상 데이터 소스가 이해할 수 있는 쿼리 언어(예: SQL,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NoSQL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쿼리 등)로 어떻게 변환할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프로세스 최적화: 텍스트 분할(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및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과정을 어떻게 최적화할 것인가?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검색 결과 이후에 후처리 알고리즘을 최적화 단계를 통해 어떻게 답변을 정확히 할 것인가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5848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D65FA-5A82-B436-A744-71C8BC1BF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97A10316-F9AC-8EAD-793D-31A1E7253398}"/>
              </a:ext>
            </a:extLst>
          </p:cNvPr>
          <p:cNvSpPr/>
          <p:nvPr/>
        </p:nvSpPr>
        <p:spPr>
          <a:xfrm>
            <a:off x="2152650" y="1400751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ACDC4-8095-55D2-F009-9C85960D8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DD2CD5-595E-D34C-47F2-1533438A42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8E036-F1F3-29F5-2DCD-2E433A8FFF4F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3663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2AD99-116A-1D7B-57C9-C622DBDBF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 descr="도서관에서 램프 아래서 공부하는 사람들">
            <a:extLst>
              <a:ext uri="{FF2B5EF4-FFF2-40B4-BE49-F238E27FC236}">
                <a16:creationId xmlns:a16="http://schemas.microsoft.com/office/drawing/2014/main" id="{EED2A11B-8C3A-E9C2-E4A2-7B0ABD97A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0" y="2366012"/>
            <a:ext cx="4371975" cy="287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43317B-A396-DE0D-1096-E289F92E4AD5}"/>
              </a:ext>
            </a:extLst>
          </p:cNvPr>
          <p:cNvSpPr txBox="1"/>
          <p:nvPr/>
        </p:nvSpPr>
        <p:spPr>
          <a:xfrm>
            <a:off x="5791200" y="2333489"/>
            <a:ext cx="5543550" cy="2617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바꾸면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보이지 않던 정답이 보인다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! </a:t>
            </a:r>
          </a:p>
          <a:p>
            <a:pPr>
              <a:lnSpc>
                <a:spcPct val="200000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도서관에 모인 여러 사람이 저마다의 시선으로 책을 읽듯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하나의 질문을 다양한 관점에서 질문하라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>
              <a:lnSpc>
                <a:spcPct val="200000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아는 만큼 질문하니 배우자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188EE8-FE27-FA83-E7F6-84D649D4D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6CD26D-1BF6-C93E-CACA-6F5B48C79395}"/>
              </a:ext>
            </a:extLst>
          </p:cNvPr>
          <p:cNvSpPr txBox="1"/>
          <p:nvPr/>
        </p:nvSpPr>
        <p:spPr>
          <a:xfrm>
            <a:off x="542320" y="1575886"/>
            <a:ext cx="1092578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,..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여러 개의 질문에서 도출된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조각 문서에 랭킹을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부여하여 찾아내기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기반으로 가상의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(Hypothetical Document)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생성하고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문서를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유사도를 바탕으로 관련 문서를 검색하는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F4E3-E67C-9BAF-371A-93DFEECB9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06B752-0047-4A9A-D6ED-EE1C0D467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AD7CBA-31A4-09CB-B7B4-C0EE49E65DE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06B856-0E9C-4457-343E-665F75B83343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F518FF1-57CE-0E5F-CF06-80C8F9A48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881" y="2469458"/>
            <a:ext cx="7773074" cy="37493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E57281-8E6A-D274-A120-7ACFD40C1A10}"/>
              </a:ext>
            </a:extLst>
          </p:cNvPr>
          <p:cNvSpPr txBox="1"/>
          <p:nvPr/>
        </p:nvSpPr>
        <p:spPr>
          <a:xfrm>
            <a:off x="104775" y="1301686"/>
            <a:ext cx="1148328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7427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C52D-50D8-DE43-C625-4ED19DE4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EF8195-F95A-ED5B-2D6B-59CAE325F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305C63E-AA27-C44C-1DAC-C4E541FCFC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E05CA3-677A-03A6-7E7E-0C6E4CC16359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19354A-E1BC-7136-D599-84F38A0036C6}"/>
              </a:ext>
            </a:extLst>
          </p:cNvPr>
          <p:cNvSpPr txBox="1"/>
          <p:nvPr/>
        </p:nvSpPr>
        <p:spPr>
          <a:xfrm>
            <a:off x="104775" y="1235011"/>
            <a:ext cx="11483286" cy="120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검색한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모두 랭킹을 부여하여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의도한 표현을 정확히 포착하고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쿼리를 효과적으로 탐색하며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검색되는 문서의 범위를 넓혀 뜻밖의 유용한 발견을 가능하게 하는 알고리즘이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D0E03-CDFF-3C49-02F7-7E812922B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590" y="2728913"/>
            <a:ext cx="9113606" cy="341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14B9924-C338-1A7A-E575-7C8DF3FA9D97}"/>
              </a:ext>
            </a:extLst>
          </p:cNvPr>
          <p:cNvSpPr txBox="1"/>
          <p:nvPr/>
        </p:nvSpPr>
        <p:spPr>
          <a:xfrm>
            <a:off x="991590" y="6229350"/>
            <a:ext cx="530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source : https://github.com/langchain-ai/rag-from-scratch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EE2F95-384F-75CC-DDB6-DC0F58A88ABC}"/>
              </a:ext>
            </a:extLst>
          </p:cNvPr>
          <p:cNvSpPr txBox="1"/>
          <p:nvPr/>
        </p:nvSpPr>
        <p:spPr>
          <a:xfrm>
            <a:off x="8933080" y="6218823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Cohere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참고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946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66FF2-8F08-1AF5-2531-DA9A1728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78D84-4872-2E1E-7AC5-71F1A9E46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F8DB056-06F0-CB23-713E-F4804CF08B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16B2D-A0E4-6EBA-3C78-4F56485C0946}"/>
              </a:ext>
            </a:extLst>
          </p:cNvPr>
          <p:cNvSpPr txBox="1"/>
          <p:nvPr/>
        </p:nvSpPr>
        <p:spPr>
          <a:xfrm>
            <a:off x="7639050" y="709111"/>
            <a:ext cx="40392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593AB51-8EAB-5853-0D76-BB5F27AC4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71" y="1830277"/>
            <a:ext cx="7151704" cy="4388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C4F66C-EE80-AC0E-D364-94B62758DDE9}"/>
              </a:ext>
            </a:extLst>
          </p:cNvPr>
          <p:cNvSpPr txBox="1"/>
          <p:nvPr/>
        </p:nvSpPr>
        <p:spPr>
          <a:xfrm>
            <a:off x="8086553" y="1706452"/>
            <a:ext cx="3562868" cy="2644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검색할 때 원래 질문인 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연주황색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그대로 사용하는 것보다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 만들어진 가짜 답변인 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연빨간색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사용하면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정답 문서들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🟢🟢🟢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모여 있는 곳으로 훨씬 더 가깝게 접근할 수 있어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정확도가 높아지는 알고리즘</a:t>
            </a:r>
          </a:p>
        </p:txBody>
      </p:sp>
    </p:spTree>
    <p:extLst>
      <p:ext uri="{BB962C8B-B14F-4D97-AF65-F5344CB8AC3E}">
        <p14:creationId xmlns:p14="http://schemas.microsoft.com/office/powerpoint/2010/main" val="1777427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CDC85-5E1A-1016-76E9-AE940CBDF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E73430-8836-961C-5301-71E1947D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1C45773-93D9-590A-3670-583BFB0FBB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 : 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D8536A-089E-D4BA-543D-9B7346C3698E}"/>
              </a:ext>
            </a:extLst>
          </p:cNvPr>
          <p:cNvSpPr txBox="1"/>
          <p:nvPr/>
        </p:nvSpPr>
        <p:spPr>
          <a:xfrm>
            <a:off x="585787" y="1481168"/>
            <a:ext cx="11020425" cy="472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쿼리를 변형할까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던진 날것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그대로의 질문은 검색 엔진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이해하기에 너무 짧거나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군더더기가 많거나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문맥이 빠져 있을 수 있으니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필터이자 확장기로 사용하여 검색하기 가장 좋은 최적의 상태로 변형하는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구축 시 가장 자주 쓰이는 패턴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가이드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 제거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(Removing irrelevant text):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안녕하세요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혹시 다름이 아니라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연말정산 프로세스에 대해 알고 싶어서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문의드리는데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..."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인사말이나 불필요한 수식어를 깎아내고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연말정산 프로세스라는 핵심 키워드만 남겨라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 반영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(Grounding with past history):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사용자가 이전에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샌프란시스코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(SF)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 어때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묻고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무엇을 묻는지 알 수 없습니다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이전 대화 맥락을 합쳐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날씨라는 온전한 질문으로 복원하라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ConversationalRetrievalChain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검색망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넓히기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(Casting a wider net):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원리로 유의어나 연관 질문들을 여러 개 생성해 냄으로써 단 한 번의 검색으로는 놓칠 수 있었던 정답 문서들을 촘촘하게 찾아내라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064725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6E461-5CBD-3C82-01EF-70D3B1BB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BC9C171-5FD1-C19E-6578-901B156E2161}"/>
              </a:ext>
            </a:extLst>
          </p:cNvPr>
          <p:cNvSpPr/>
          <p:nvPr/>
        </p:nvSpPr>
        <p:spPr>
          <a:xfrm>
            <a:off x="2152650" y="365817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96177E-948F-8948-C77F-0B2D47F01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3BB8CC-BF29-6D14-D7CE-44DADEBEDC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B1B7E-1C6B-C25C-D18B-96DDDF736764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557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9B1D0-AA4E-FFDF-46BF-D75795FF1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DEFC5F-326D-26B9-2ACC-A68DB81FA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930725-FCAF-2D11-6493-8D22257126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9F91F-AC31-CCC8-D12B-09B1EC48CCA1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027F0CC-4A4B-98EB-C735-B408F5416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753166"/>
            <a:ext cx="6950042" cy="3177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9D94A8-9F75-B509-5B85-70D06E5ED9C5}"/>
              </a:ext>
            </a:extLst>
          </p:cNvPr>
          <p:cNvSpPr txBox="1"/>
          <p:nvPr/>
        </p:nvSpPr>
        <p:spPr>
          <a:xfrm>
            <a:off x="552449" y="1248422"/>
            <a:ext cx="110966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정해진 규칙대로 길을 찾는 방식으로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Pydantic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Literal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결과물의 선택지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스키마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엄격히 제한한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분석해서 이 형식에 맞춰 답해라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 명령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(Function Calling)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B56ED5-C021-65AF-865F-9F69E5B5B0F2}"/>
              </a:ext>
            </a:extLst>
          </p:cNvPr>
          <p:cNvSpPr txBox="1"/>
          <p:nvPr/>
        </p:nvSpPr>
        <p:spPr>
          <a:xfrm>
            <a:off x="7830155" y="2753166"/>
            <a:ext cx="3829050" cy="2644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복잡한 조건문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비즈니스 로직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혹은 데이터 구조에 맞춘 정교하고 정밀한 분기가 가능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거쳐야 하므로 답변 속도가 상대면으로 느리고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비용이 발생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 소스의 종류가 명확하게 정해져 있고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단어 비교 이상의 깊은 문맥 판단이 필요한 경우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9948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12EEB-190A-86E9-C96A-9AF9C98A3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B3646E-1AC7-2F67-01E4-2C6E12439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937CC13-8946-2354-9B1C-DF61EA1DC04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DA209-6860-FCD6-3ECD-C1F3D2B90633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E604AD-BA68-FF75-86AF-82B61E31D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2" y="2805191"/>
            <a:ext cx="6988146" cy="27586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88D741-0036-4797-3EA9-C00EDA6FCAD0}"/>
              </a:ext>
            </a:extLst>
          </p:cNvPr>
          <p:cNvSpPr txBox="1"/>
          <p:nvPr/>
        </p:nvSpPr>
        <p:spPr>
          <a:xfrm>
            <a:off x="609297" y="1248422"/>
            <a:ext cx="109734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없이 각 목적지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(DB)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대표하는 여러 개의 샘플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(Example Prompts)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벡터화하여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미리 저장한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 벡터가 들어오면 이 샘플질문들과 코사인 유사도로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1:N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비교해 해당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31372-6152-D43F-69ED-BC1D406CF576}"/>
              </a:ext>
            </a:extLst>
          </p:cNvPr>
          <p:cNvSpPr txBox="1"/>
          <p:nvPr/>
        </p:nvSpPr>
        <p:spPr>
          <a:xfrm>
            <a:off x="7781407" y="2884762"/>
            <a:ext cx="4077218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추론 과정을 생략하므로 속도가 압도적으로 빠르고(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밀리초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단위), 비용이 거의 들지 않음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단점: 정해진 샘플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문장들과의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유사성'에만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의존하므로, 복잡하고 정교한 조건부 분기는 어려움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상황: 자주 들어오는 질문 패턴이 명확히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갈려있고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비용 절감과 빠른 응답 속도가 최우선인 경우</a:t>
            </a:r>
          </a:p>
        </p:txBody>
      </p:sp>
    </p:spTree>
    <p:extLst>
      <p:ext uri="{BB962C8B-B14F-4D97-AF65-F5344CB8AC3E}">
        <p14:creationId xmlns:p14="http://schemas.microsoft.com/office/powerpoint/2010/main" val="2267266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2463D-366D-2B2B-52E1-FC802DB4B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31CABE4-A4EA-3C35-D08A-90CAA5B9E1A8}"/>
              </a:ext>
            </a:extLst>
          </p:cNvPr>
          <p:cNvSpPr/>
          <p:nvPr/>
        </p:nvSpPr>
        <p:spPr>
          <a:xfrm>
            <a:off x="2152650" y="516312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3494DE-760D-008E-0D20-721C21CB6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58F8EA-6724-9B2B-13EB-451014536D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04547-CE37-5C70-211C-92CD5247E38A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36213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A156F-E80F-CCB3-ED85-5B95EFE2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871DAF-63F8-8502-F8DC-D5802D63E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4E45EB-21F8-4261-E403-625565A488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Construction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6F0206-695A-0E6A-F3BF-FC530C7AC2C1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/>
              <a:t>Text-to-Metadata Filter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FFCE8C-4944-E5F0-3B30-8022342A424D}"/>
              </a:ext>
            </a:extLst>
          </p:cNvPr>
          <p:cNvSpPr txBox="1"/>
          <p:nvPr/>
        </p:nvSpPr>
        <p:spPr>
          <a:xfrm>
            <a:off x="609297" y="1248422"/>
            <a:ext cx="109734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원본데이터를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임베딩할때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본문과 메타데이터가 저장되면 데이터에 미리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태그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붙게 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나중에 검색할 때 단순 텍스트 유사도 검색만 쓰지 말고 이 그 꼬리표를 기준으로 필터링하는 메타데이터 필터링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0C00D7-C06B-18F1-0AFD-F2D3F6F20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205" y="2644711"/>
            <a:ext cx="7285351" cy="32921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C34A5-97A3-F689-24E2-4594613A719B}"/>
              </a:ext>
            </a:extLst>
          </p:cNvPr>
          <p:cNvSpPr txBox="1"/>
          <p:nvPr/>
        </p:nvSpPr>
        <p:spPr>
          <a:xfrm>
            <a:off x="609297" y="2690335"/>
            <a:ext cx="3048000" cy="2319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“What are movies about aliens in the year 1980?” This question contains an unstructured topic that can be retrieved via embeddings (aliens), but it also contains potential structured components (year == 1980).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001080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73007-E9EC-8882-E07C-3F4E17ECF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293AD0-01E0-E70E-A8AE-DC3D6ED0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BAA798D-E903-3D7A-2E0C-6D1580F101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Construction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BC8B3-2997-C2C9-FB40-4D83AFE966C8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/>
              <a:t>Text-to-SQL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ADDF4A7-2C71-3D20-E265-F55C50DE0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7592" y="2948806"/>
            <a:ext cx="7216765" cy="30939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B8D475-173F-B7C3-D2B5-3E8F3FD8026C}"/>
              </a:ext>
            </a:extLst>
          </p:cNvPr>
          <p:cNvSpPr txBox="1"/>
          <p:nvPr/>
        </p:nvSpPr>
        <p:spPr>
          <a:xfrm>
            <a:off x="2287592" y="2651289"/>
            <a:ext cx="6096000" cy="2975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langchain_classic.chains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create_sql_query_chain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D4AB0-1948-2092-5291-CDCD00B59FD0}"/>
              </a:ext>
            </a:extLst>
          </p:cNvPr>
          <p:cNvSpPr txBox="1"/>
          <p:nvPr/>
        </p:nvSpPr>
        <p:spPr>
          <a:xfrm>
            <a:off x="571500" y="1244478"/>
            <a:ext cx="1110615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우리 데이터베이스의 언어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(Dialect)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쿼리로 변환한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데이터베이스에서 해당 쿼리를 실행하지만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의할 점은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입력으로부터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생성한 임의의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쿼리를 데이터베이스에서 그대로 실행하는 것은 실제 운영 애플리케이션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(Production)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매우 위험</a:t>
            </a:r>
          </a:p>
        </p:txBody>
      </p:sp>
    </p:spTree>
    <p:extLst>
      <p:ext uri="{BB962C8B-B14F-4D97-AF65-F5344CB8AC3E}">
        <p14:creationId xmlns:p14="http://schemas.microsoft.com/office/powerpoint/2010/main" val="3337518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75094-E673-444F-03F6-D964B6EAE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C86724-FDB2-6094-C7FE-85D331CA4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8BA717A-B7CB-1D8D-898B-453AE929263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6EF803-CB1A-3099-B8CF-CEF24D361A42}"/>
              </a:ext>
            </a:extLst>
          </p:cNvPr>
          <p:cNvSpPr txBox="1"/>
          <p:nvPr/>
        </p:nvSpPr>
        <p:spPr>
          <a:xfrm>
            <a:off x="571219" y="1248422"/>
            <a:ext cx="11049562" cy="4578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문서들을 벡터로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질문과 비슷한 걸 뽑아서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넘겨준다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기본적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구조는 실제 서비스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(Production)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환경에서 많은 한계에 부딪히는데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사용자가 만족할 만한 강력한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시스템을 만들려면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변환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사용자가 애매하게 질문했을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검색을 더 잘할 수 있도록 질문을 구체적인 여러 개로 쪼개거나 다른 표현으로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재작성하는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구성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단순 텍스트 검색에만 쓰는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처럼 데이터베이스가 완벽하게 이해할 수 있는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구조화된 쿼리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빌드하는 기술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라우팅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질문이 들어왔을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보내야 할까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아니면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보내야 할까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판단하여 적절한 데이터 소스로 길을 찾아주는 기술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Indexing Optimization (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인덱싱 최적화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데이터를 저장할 때부터 메타데이터를 잘 정제하고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중복을 제거하며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검색 속도와 정확도를 높일 수 있도록 데이터 구조를 최적화하는 기술</a:t>
            </a:r>
          </a:p>
        </p:txBody>
      </p:sp>
    </p:spTree>
    <p:extLst>
      <p:ext uri="{BB962C8B-B14F-4D97-AF65-F5344CB8AC3E}">
        <p14:creationId xmlns:p14="http://schemas.microsoft.com/office/powerpoint/2010/main" val="30582000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14575</TotalTime>
  <Words>1875</Words>
  <Application>Microsoft Office PowerPoint</Application>
  <PresentationFormat>와이드스크린</PresentationFormat>
  <Paragraphs>240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D2Coding</vt:lpstr>
      <vt:lpstr>맑은 고딕</vt:lpstr>
      <vt:lpstr>Batang</vt:lpstr>
      <vt:lpstr>Arial</vt:lpstr>
      <vt:lpstr>Cambria Math</vt:lpstr>
      <vt:lpstr>Wingdings</vt:lpstr>
      <vt:lpstr>WelcomeDoc</vt:lpstr>
      <vt:lpstr>CHAPERT 3 RAG Part II: Chatting with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202</cp:revision>
  <dcterms:created xsi:type="dcterms:W3CDTF">2026-04-06T01:00:39Z</dcterms:created>
  <dcterms:modified xsi:type="dcterms:W3CDTF">2026-07-22T13:14:53Z</dcterms:modified>
  <cp:version/>
</cp:coreProperties>
</file>