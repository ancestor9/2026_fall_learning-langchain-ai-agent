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handoutMasterIdLst>
    <p:handoutMasterId r:id="rId12"/>
  </p:handoutMasterIdLst>
  <p:sldIdLst>
    <p:sldId id="256" r:id="rId2"/>
    <p:sldId id="1136" r:id="rId3"/>
    <p:sldId id="1138" r:id="rId4"/>
    <p:sldId id="1139" r:id="rId5"/>
    <p:sldId id="1140" r:id="rId6"/>
    <p:sldId id="1141" r:id="rId7"/>
    <p:sldId id="1142" r:id="rId8"/>
    <p:sldId id="1143" r:id="rId9"/>
    <p:sldId id="1144" r:id="rId1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38"/>
            <p14:sldId id="1139"/>
            <p14:sldId id="1140"/>
            <p14:sldId id="1141"/>
            <p14:sldId id="1142"/>
            <p14:sldId id="1143"/>
            <p14:sldId id="114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200" d="100"/>
        <a:sy n="200" d="100"/>
      </p:scale>
      <p:origin x="0" y="-1613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c.gov/Archives/edgar/data/1318605/000095017023001409/tsla-20221231.ht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text/word-embed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hyperlink" Target="https://word2vec.kr/search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CHAPERT 2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RAG Part I: Indexing Your Data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1166927" y="1724672"/>
            <a:ext cx="10100629" cy="958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/>
              <a:t>머신러닝</a:t>
            </a:r>
            <a:r>
              <a:rPr lang="ko-KR" altLang="en-US" sz="2000" dirty="0"/>
              <a:t> 알고리즘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/>
              <a:t>분산과 편향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F3E3F8-C9F6-B196-98B4-3CC4BD8CE8BE}"/>
              </a:ext>
            </a:extLst>
          </p:cNvPr>
          <p:cNvSpPr txBox="1"/>
          <p:nvPr/>
        </p:nvSpPr>
        <p:spPr>
          <a:xfrm>
            <a:off x="542406" y="1743722"/>
            <a:ext cx="11173949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최신 정보를 알지 못하는 지식 컷오프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(Knowledge Cutoff):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지식이 멈춘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유통기한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시점으로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예를 들어 어떤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지식 컷오프가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월이라면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2026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년에 일어난 뉴스나 사건을 알지 못하고 엉뚱한 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(Hallucination)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데이터가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페이지일 때 질문할 때마다 프롬프트에 그 내용을 통째로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붙여넣기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해서 모델에 넘기면 해결되니 기술적 고민이나 복잡한 아키텍처가 전혀 필요 없지만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만약 여러분 회사의 방대한 모든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규정집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(Huge Quantity)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참고하라고 한다면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매번 수천 페이지를 복사해서 붙여 넣으실 건가요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불가능하겠죠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그래서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조각 고르기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.“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D86A5-D250-C10A-3338-DBAB46ED1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96053F-17E6-5888-C6C8-A9B5AB35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B2170F-4EF3-5F5C-ECA5-83431A3B88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Why RAG?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EB27603-1B8D-99CB-B7B7-DE45EB336F65}"/>
              </a:ext>
            </a:extLst>
          </p:cNvPr>
          <p:cNvSpPr txBox="1"/>
          <p:nvPr/>
        </p:nvSpPr>
        <p:spPr>
          <a:xfrm>
            <a:off x="1362593" y="1248422"/>
            <a:ext cx="847673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핵심 질문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이 방대한 텍스트 중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질문에 답변하는 데 가장 관련성이 높은 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진짜 정답 조각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을 어떻게 찾아내어 프롬프트에 넣어줄 것인가</a:t>
            </a:r>
            <a:r>
              <a:rPr lang="en-US" altLang="ko-KR" sz="1600" i="1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4EBF23-6200-C218-6400-CBB4E99AFDCF}"/>
              </a:ext>
            </a:extLst>
          </p:cNvPr>
          <p:cNvSpPr txBox="1"/>
          <p:nvPr/>
        </p:nvSpPr>
        <p:spPr>
          <a:xfrm>
            <a:off x="581025" y="2877741"/>
            <a:ext cx="1097280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인덱싱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Indexing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- 문서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및 색인)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컴퓨터와 LLM 기반 애플리케이션이 질문에 맞는 문서를 빛의 속도로 찾을 수 있도록 데이터를 미리 구조화하고 정리하는 작업. (마치 책 맨 뒤의 '찾아보기/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색인'을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만드는 과정)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검색 및 활용 (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Retrieving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사용자가 질문을 던지면, 1단계에서 만든 인덱스에서 가장 관련성 높은 데이터 조각을 찾아내어(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Retrieve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컨텍스트(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제공하고, 정확한 답변을 생성(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)하게 만드는 과정</a:t>
            </a:r>
          </a:p>
        </p:txBody>
      </p:sp>
    </p:spTree>
    <p:extLst>
      <p:ext uri="{BB962C8B-B14F-4D97-AF65-F5344CB8AC3E}">
        <p14:creationId xmlns:p14="http://schemas.microsoft.com/office/powerpoint/2010/main" val="143585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Goal: Picking Relevant Context for LLMs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DE27A3-7BCD-B963-0B8B-1E167166F732}"/>
              </a:ext>
            </a:extLst>
          </p:cNvPr>
          <p:cNvSpPr txBox="1"/>
          <p:nvPr/>
        </p:nvSpPr>
        <p:spPr>
          <a:xfrm>
            <a:off x="609600" y="1248422"/>
            <a:ext cx="109728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Ingestion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simply the process of converting your documents into numbers that computers can understand and analyze, and storing them in a special type of database for efficient retrieval. 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642E58B-10CC-8E33-F868-76BDE8BDD9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8" y="2714624"/>
            <a:ext cx="7639100" cy="26765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036C3-6CE1-9412-61CB-8AA26EABCFD4}"/>
              </a:ext>
            </a:extLst>
          </p:cNvPr>
          <p:cNvSpPr txBox="1"/>
          <p:nvPr/>
        </p:nvSpPr>
        <p:spPr>
          <a:xfrm>
            <a:off x="8458199" y="2714625"/>
            <a:ext cx="3324225" cy="2833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Extract the text from the document.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Split the text into manageable chunks.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Convert the text into numbers that computers can understand. </a:t>
            </a: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Store these number representations of your text somewhere that makes it easy and fast to retrieve the relevant sections of your document to answer a given question.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0870DB-7FC7-C2F1-AC9D-0DCF09FD92E6}"/>
              </a:ext>
            </a:extLst>
          </p:cNvPr>
          <p:cNvSpPr txBox="1"/>
          <p:nvPr/>
        </p:nvSpPr>
        <p:spPr>
          <a:xfrm>
            <a:off x="885826" y="2905780"/>
            <a:ext cx="14287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Tesla’s 2022 annual report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7C5159-309F-23EC-ADB3-6FAB4DCD08BE}"/>
              </a:ext>
            </a:extLst>
          </p:cNvPr>
          <p:cNvSpPr txBox="1"/>
          <p:nvPr/>
        </p:nvSpPr>
        <p:spPr>
          <a:xfrm>
            <a:off x="1112771" y="5788190"/>
            <a:ext cx="4295775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“What key risks did Tesla face in 2022?”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웹 디자인">
            <a:extLst>
              <a:ext uri="{FF2B5EF4-FFF2-40B4-BE49-F238E27FC236}">
                <a16:creationId xmlns:a16="http://schemas.microsoft.com/office/drawing/2014/main" id="{2390334E-00AF-997C-7435-855CCD58A0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184" y="5686662"/>
            <a:ext cx="543335" cy="543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36070-2CC2-66E6-DD08-B216F753E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CA0C24-0676-F1F8-0245-1D3828D3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316F6E-B76D-919F-CACA-216763CBE61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E20299-24BC-EE2D-485F-A75920529068}"/>
              </a:ext>
            </a:extLst>
          </p:cNvPr>
          <p:cNvSpPr txBox="1"/>
          <p:nvPr/>
        </p:nvSpPr>
        <p:spPr>
          <a:xfrm>
            <a:off x="552450" y="1248422"/>
            <a:ext cx="1106805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하나의 길고 연속된 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변환하는 기술로 손실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(Lossy Representation)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되어 숫자로 바꾸는 과정에서 정보가 일부 유실되므로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숫자만 보고 원래 텍스트를 완벽하게 복원하는 것은 불가능하기 때문에 원문 텍스트와 변환된 숫자 배열을 동시에 저장하는 것이 일반적임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8F55DA5-9B2C-D743-42D8-2D3A6D9CE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822" y="2890231"/>
            <a:ext cx="5027556" cy="35230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C177282-FA62-1671-F445-07B785A60FEB}"/>
              </a:ext>
            </a:extLst>
          </p:cNvPr>
          <p:cNvSpPr txBox="1"/>
          <p:nvPr/>
        </p:nvSpPr>
        <p:spPr>
          <a:xfrm>
            <a:off x="5219701" y="2582454"/>
            <a:ext cx="4648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sklearn.feature_extraction.text.CountVectorizer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31A12F-8BAC-51AF-0C3A-57BB35C131A8}"/>
              </a:ext>
            </a:extLst>
          </p:cNvPr>
          <p:cNvSpPr txBox="1"/>
          <p:nvPr/>
        </p:nvSpPr>
        <p:spPr>
          <a:xfrm>
            <a:off x="571502" y="3865832"/>
            <a:ext cx="464819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What a sunny 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Such bright skies today.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 haven’t seen a sunny day in weeks.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8" name="그래픽 17" descr="시계 방향으로 굽은 줄 화살표">
            <a:extLst>
              <a:ext uri="{FF2B5EF4-FFF2-40B4-BE49-F238E27FC236}">
                <a16:creationId xmlns:a16="http://schemas.microsoft.com/office/drawing/2014/main" id="{055100B4-C405-A0C3-26BB-81F67B995E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5400000">
            <a:off x="4048125" y="3429000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73D6CFB-E03C-46C7-55BF-41104DB29EA1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67838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DAD8E-817C-3E4B-143B-51A72B003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8C690B-1A36-FBAB-0ABF-B1BA5339B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E8235B-A26E-8524-42D9-C62BA9C05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5B9EBB-2E66-082D-EA15-D31933E2D58A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FD2314-C375-B0E6-9A67-498A2AD4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376" y="2841595"/>
            <a:ext cx="4686300" cy="2694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A2C1598-4E5C-FFC2-0164-1F80C2838B1C}"/>
              </a:ext>
            </a:extLst>
          </p:cNvPr>
          <p:cNvSpPr txBox="1"/>
          <p:nvPr/>
        </p:nvSpPr>
        <p:spPr>
          <a:xfrm>
            <a:off x="1821656" y="2432427"/>
            <a:ext cx="2883694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buNone/>
            </a:pPr>
            <a:r>
              <a:rPr lang="en-US" altLang="ko-KR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Bag-of-Words algorithm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F6E6BED-D1C7-5B12-63BC-A7CC9B130F97}"/>
              </a:ext>
            </a:extLst>
          </p:cNvPr>
          <p:cNvSpPr txBox="1"/>
          <p:nvPr/>
        </p:nvSpPr>
        <p:spPr>
          <a:xfrm>
            <a:off x="1009045" y="5604200"/>
            <a:ext cx="2731813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50"/>
              </a:lnSpc>
              <a:buNone/>
            </a:pP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Bag-of-N grams algorithm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C71A25-AE38-C8F1-9025-2F2B1F659709}"/>
              </a:ext>
            </a:extLst>
          </p:cNvPr>
          <p:cNvSpPr txBox="1"/>
          <p:nvPr/>
        </p:nvSpPr>
        <p:spPr>
          <a:xfrm>
            <a:off x="1009045" y="5969325"/>
            <a:ext cx="2731813" cy="374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50"/>
              </a:lnSpc>
              <a:buNone/>
            </a:pPr>
            <a:r>
              <a:rPr lang="en-US" altLang="ko-KR" sz="1600" dirty="0">
                <a:solidFill>
                  <a:srgbClr val="242424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TF-IDF</a:t>
            </a:r>
            <a:r>
              <a:rPr lang="en-US" altLang="ko-KR" sz="1600" i="0" dirty="0">
                <a:solidFill>
                  <a:srgbClr val="24242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algorithm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20AD1A-9057-226C-BDF3-65256712E4FE}"/>
              </a:ext>
            </a:extLst>
          </p:cNvPr>
          <p:cNvSpPr txBox="1"/>
          <p:nvPr/>
        </p:nvSpPr>
        <p:spPr>
          <a:xfrm>
            <a:off x="7648575" y="3017294"/>
            <a:ext cx="4029075" cy="1448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(Sparse Embedding)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의미인식 불가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(No Semantic Embedding)</a:t>
            </a:r>
          </a:p>
          <a:p>
            <a:pPr lvl="1">
              <a:lnSpc>
                <a:spcPct val="20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bright skies, sunny day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화살표: 줄무늬가 있는 오른쪽 26">
            <a:extLst>
              <a:ext uri="{FF2B5EF4-FFF2-40B4-BE49-F238E27FC236}">
                <a16:creationId xmlns:a16="http://schemas.microsoft.com/office/drawing/2014/main" id="{B0B89421-3C18-1368-F3CA-D73E197124E2}"/>
              </a:ext>
            </a:extLst>
          </p:cNvPr>
          <p:cNvSpPr/>
          <p:nvPr/>
        </p:nvSpPr>
        <p:spPr>
          <a:xfrm>
            <a:off x="6153151" y="3267074"/>
            <a:ext cx="1238250" cy="1038225"/>
          </a:xfrm>
          <a:prstGeom prst="stripedRightArrow">
            <a:avLst>
              <a:gd name="adj1" fmla="val 70184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약점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44DD2D-AA4F-98C3-EC7B-F918809EAB6C}"/>
              </a:ext>
            </a:extLst>
          </p:cNvPr>
          <p:cNvSpPr txBox="1"/>
          <p:nvPr/>
        </p:nvSpPr>
        <p:spPr>
          <a:xfrm>
            <a:off x="552450" y="1248422"/>
            <a:ext cx="1106805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출현빈도를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세어야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길이는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수만큼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구성하여 자원의 손실부작용과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순서를 고려하지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단어의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의미을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나타낼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없음</a:t>
            </a:r>
          </a:p>
        </p:txBody>
      </p:sp>
    </p:spTree>
    <p:extLst>
      <p:ext uri="{BB962C8B-B14F-4D97-AF65-F5344CB8AC3E}">
        <p14:creationId xmlns:p14="http://schemas.microsoft.com/office/powerpoint/2010/main" val="1824194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D1FBD-90CF-E311-8358-701261E9B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9C8D74-9333-A0DA-A789-DD724ABC1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A5F9116-57D8-A712-175C-2495859817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Embeddings: Converting Text to Numbers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35F48B-8E97-8640-ACC0-6AA4786BC7DD}"/>
              </a:ext>
            </a:extLst>
          </p:cNvPr>
          <p:cNvSpPr txBox="1"/>
          <p:nvPr/>
        </p:nvSpPr>
        <p:spPr>
          <a:xfrm>
            <a:off x="8439150" y="654811"/>
            <a:ext cx="31813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Embeddings Before LLMs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6AED2F-BE85-50FF-D0EA-02A93D82203C}"/>
              </a:ext>
            </a:extLst>
          </p:cNvPr>
          <p:cNvSpPr txBox="1"/>
          <p:nvPr/>
        </p:nvSpPr>
        <p:spPr>
          <a:xfrm>
            <a:off x="537022" y="1248422"/>
            <a:ext cx="1117933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세상에 단어가 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광고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존재한다고 가정하고 예측모델이 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각각 정상과 스팸 어떤 것으로 분류하는지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 문장에 어떤 단어가 있는지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key word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F6D4C-12A9-2B4B-E6C8-87D2F97DFBAC}"/>
              </a:ext>
            </a:extLst>
          </p:cNvPr>
          <p:cNvSpPr txBox="1"/>
          <p:nvPr/>
        </p:nvSpPr>
        <p:spPr>
          <a:xfrm>
            <a:off x="933450" y="2932656"/>
            <a:ext cx="4648200" cy="14403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1: "대출 광고"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[1, 1, 0, 0]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메일 2: "오늘 대출"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[1, 0,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1: "안녕 오늘"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메일 2: "오늘 안녕"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[0, 0, 1, 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7D5F1-5B13-0386-F411-5809448CD7D2}"/>
              </a:ext>
            </a:extLst>
          </p:cNvPr>
          <p:cNvSpPr txBox="1"/>
          <p:nvPr/>
        </p:nvSpPr>
        <p:spPr>
          <a:xfrm>
            <a:off x="5514974" y="3010363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스팸 1  [1, 1, 0, 0] + 스팸 2  [1, 0, 0, 1] = [2, 1, 0, 1]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[1.0, 0.5, 0.0, 0.5]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AD14D-55D7-317F-7847-15E0E394731E}"/>
              </a:ext>
            </a:extLst>
          </p:cNvPr>
          <p:cNvSpPr txBox="1"/>
          <p:nvPr/>
        </p:nvSpPr>
        <p:spPr>
          <a:xfrm>
            <a:off x="5548312" y="3742360"/>
            <a:ext cx="624840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정상 1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+ 정상 2  [0, 0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1, 1] = 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총 개수 2로 나누면 평균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대표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벡터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0.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.0,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1.0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5B98BF7-067C-3085-3F74-763D2F3DD478}"/>
              </a:ext>
            </a:extLst>
          </p:cNvPr>
          <p:cNvSpPr txBox="1"/>
          <p:nvPr/>
        </p:nvSpPr>
        <p:spPr>
          <a:xfrm>
            <a:off x="1352550" y="4771884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"오늘 광고"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C1BA9BB-70C0-196C-B038-1DEFDE00A415}"/>
              </a:ext>
            </a:extLst>
          </p:cNvPr>
          <p:cNvSpPr/>
          <p:nvPr/>
        </p:nvSpPr>
        <p:spPr>
          <a:xfrm>
            <a:off x="822772" y="2894556"/>
            <a:ext cx="10730534" cy="14764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4EA96A-04DF-6DCB-7EF2-220B31A4D51C}"/>
              </a:ext>
            </a:extLst>
          </p:cNvPr>
          <p:cNvSpPr txBox="1"/>
          <p:nvPr/>
        </p:nvSpPr>
        <p:spPr>
          <a:xfrm>
            <a:off x="2590965" y="2563084"/>
            <a:ext cx="16960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>
                <a:latin typeface="D2Coding" panose="020B0609020101020101" pitchFamily="49" charset="-127"/>
                <a:ea typeface="D2Coding" panose="020B0609020101020101" pitchFamily="49" charset="-127"/>
              </a:rPr>
              <a:t>학습된 모델 </a:t>
            </a:r>
            <a:endParaRPr lang="ko-KR" altLang="en-US" sz="1600" dirty="0"/>
          </a:p>
        </p:txBody>
      </p:sp>
      <p:pic>
        <p:nvPicPr>
          <p:cNvPr id="28" name="그래픽 27" descr="모니터">
            <a:extLst>
              <a:ext uri="{FF2B5EF4-FFF2-40B4-BE49-F238E27FC236}">
                <a16:creationId xmlns:a16="http://schemas.microsoft.com/office/drawing/2014/main" id="{B57E3CBA-A542-E1D3-7B29-C4103F7FCC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7400" y="2399091"/>
            <a:ext cx="533565" cy="533565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C1F85D-A860-A277-940F-ACB9A2B89B60}"/>
              </a:ext>
            </a:extLst>
          </p:cNvPr>
          <p:cNvSpPr txBox="1"/>
          <p:nvPr/>
        </p:nvSpPr>
        <p:spPr>
          <a:xfrm>
            <a:off x="1352549" y="5592885"/>
            <a:ext cx="4505325" cy="422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메일 2: "오늘 구제"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[0,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1]</a:t>
            </a: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6793DB13-110C-04AD-92FB-F33365531635}"/>
              </a:ext>
            </a:extLst>
          </p:cNvPr>
          <p:cNvCxnSpPr>
            <a:cxnSpLocks/>
            <a:stCxn id="23" idx="3"/>
            <a:endCxn id="39" idx="1"/>
          </p:cNvCxnSpPr>
          <p:nvPr/>
        </p:nvCxnSpPr>
        <p:spPr>
          <a:xfrm>
            <a:off x="5857875" y="4982968"/>
            <a:ext cx="2776538" cy="20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D671A3D7-A499-9FB7-4EDB-C2DDDC2038E5}"/>
              </a:ext>
            </a:extLst>
          </p:cNvPr>
          <p:cNvCxnSpPr>
            <a:cxnSpLocks/>
            <a:stCxn id="30" idx="3"/>
            <a:endCxn id="48" idx="1"/>
          </p:cNvCxnSpPr>
          <p:nvPr/>
        </p:nvCxnSpPr>
        <p:spPr>
          <a:xfrm flipV="1">
            <a:off x="5857874" y="5783340"/>
            <a:ext cx="2776539" cy="206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래픽 38" descr="모니터">
            <a:extLst>
              <a:ext uri="{FF2B5EF4-FFF2-40B4-BE49-F238E27FC236}">
                <a16:creationId xmlns:a16="http://schemas.microsoft.com/office/drawing/2014/main" id="{249C88CB-8243-AEF7-541C-658AAEF7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4736710"/>
            <a:ext cx="533565" cy="533565"/>
          </a:xfrm>
          <a:prstGeom prst="rect">
            <a:avLst/>
          </a:prstGeom>
        </p:spPr>
      </p:pic>
      <p:pic>
        <p:nvPicPr>
          <p:cNvPr id="48" name="그래픽 47" descr="모니터">
            <a:extLst>
              <a:ext uri="{FF2B5EF4-FFF2-40B4-BE49-F238E27FC236}">
                <a16:creationId xmlns:a16="http://schemas.microsoft.com/office/drawing/2014/main" id="{383E9A1B-9316-3F3F-2D83-75692CAD3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34413" y="5516557"/>
            <a:ext cx="533565" cy="53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63220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1295-47CC-7FDC-BF9B-2262C9DCF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5B0EE9-A47D-0478-066B-BC245DBA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961916C-61AB-5184-1360-3ED0005E8D5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LLM-Based Embeddings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0E26A79-7B54-C862-F7BE-BF4BBB839E5F}"/>
              </a:ext>
            </a:extLst>
          </p:cNvPr>
          <p:cNvSpPr txBox="1"/>
          <p:nvPr/>
        </p:nvSpPr>
        <p:spPr>
          <a:xfrm>
            <a:off x="7200900" y="654811"/>
            <a:ext cx="44196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Semantic Embeddings Explained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72E4FF-9515-FBBD-7381-B27D329AF737}"/>
              </a:ext>
            </a:extLst>
          </p:cNvPr>
          <p:cNvSpPr txBox="1"/>
          <p:nvPr/>
        </p:nvSpPr>
        <p:spPr>
          <a:xfrm>
            <a:off x="537022" y="1248422"/>
            <a:ext cx="11179333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차원은 특정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의미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(semantic dimension)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나타냄</a:t>
            </a:r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DDB58B20-EA3F-9E46-5A4C-690B81174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590" y="2037347"/>
            <a:ext cx="7434910" cy="1393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DEAE80-AE71-B78C-9740-C65477983F90}"/>
              </a:ext>
            </a:extLst>
          </p:cNvPr>
          <p:cNvSpPr txBox="1"/>
          <p:nvPr/>
        </p:nvSpPr>
        <p:spPr>
          <a:xfrm>
            <a:off x="1032296" y="2120582"/>
            <a:ext cx="29015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Semantic</a:t>
            </a:r>
            <a:r>
              <a:rPr lang="ko-KR" altLang="en-US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6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Based Embedding</a:t>
            </a:r>
            <a:endParaRPr lang="en-US" altLang="ko-KR" sz="1600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9325022-F44F-28CE-80B9-BB4EE199D3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56346" y="3952320"/>
            <a:ext cx="7706942" cy="2250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2D5D71-8A2C-B6C7-94E2-6246C77FA68F}"/>
              </a:ext>
            </a:extLst>
          </p:cNvPr>
          <p:cNvSpPr txBox="1"/>
          <p:nvPr/>
        </p:nvSpPr>
        <p:spPr>
          <a:xfrm>
            <a:off x="1032296" y="3952320"/>
            <a:ext cx="29872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Deep Learning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389590-FF1D-9EAF-473E-0BAF0CF7372B}"/>
              </a:ext>
            </a:extLst>
          </p:cNvPr>
          <p:cNvSpPr txBox="1"/>
          <p:nvPr/>
        </p:nvSpPr>
        <p:spPr>
          <a:xfrm>
            <a:off x="10663288" y="5205264"/>
            <a:ext cx="10530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size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표기 오류)</a:t>
            </a:r>
          </a:p>
        </p:txBody>
      </p:sp>
    </p:spTree>
    <p:extLst>
      <p:ext uri="{BB962C8B-B14F-4D97-AF65-F5344CB8AC3E}">
        <p14:creationId xmlns:p14="http://schemas.microsoft.com/office/powerpoint/2010/main" val="2322676009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12078</TotalTime>
  <Words>826</Words>
  <Application>Microsoft Office PowerPoint</Application>
  <PresentationFormat>와이드스크린</PresentationFormat>
  <Paragraphs>74</Paragraphs>
  <Slides>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D2Coding</vt:lpstr>
      <vt:lpstr>맑은 고딕</vt:lpstr>
      <vt:lpstr>바탕</vt:lpstr>
      <vt:lpstr>Arial</vt:lpstr>
      <vt:lpstr>Wingdings</vt:lpstr>
      <vt:lpstr>WelcomeDoc</vt:lpstr>
      <vt:lpstr>CHAPERT 2 RAG Part I: Indexing Your Data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179</cp:revision>
  <dcterms:created xsi:type="dcterms:W3CDTF">2026-04-06T01:00:39Z</dcterms:created>
  <dcterms:modified xsi:type="dcterms:W3CDTF">2026-07-18T07:11:13Z</dcterms:modified>
  <cp:version/>
</cp:coreProperties>
</file>