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4"/>
  </p:notesMasterIdLst>
  <p:handoutMasterIdLst>
    <p:handoutMasterId r:id="rId25"/>
  </p:handoutMasterIdLst>
  <p:sldIdLst>
    <p:sldId id="256" r:id="rId2"/>
    <p:sldId id="1136" r:id="rId3"/>
    <p:sldId id="1138" r:id="rId4"/>
    <p:sldId id="1139" r:id="rId5"/>
    <p:sldId id="1155" r:id="rId6"/>
    <p:sldId id="1156" r:id="rId7"/>
    <p:sldId id="1157" r:id="rId8"/>
    <p:sldId id="1140" r:id="rId9"/>
    <p:sldId id="1141" r:id="rId10"/>
    <p:sldId id="1142" r:id="rId11"/>
    <p:sldId id="1143" r:id="rId12"/>
    <p:sldId id="1145" r:id="rId13"/>
    <p:sldId id="1144" r:id="rId14"/>
    <p:sldId id="1146" r:id="rId15"/>
    <p:sldId id="1147" r:id="rId16"/>
    <p:sldId id="1148" r:id="rId17"/>
    <p:sldId id="1149" r:id="rId18"/>
    <p:sldId id="1154" r:id="rId19"/>
    <p:sldId id="1153" r:id="rId20"/>
    <p:sldId id="1150" r:id="rId21"/>
    <p:sldId id="1151" r:id="rId22"/>
    <p:sldId id="1152" r:id="rId23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136"/>
            <p14:sldId id="1138"/>
            <p14:sldId id="1139"/>
            <p14:sldId id="1155"/>
            <p14:sldId id="1156"/>
            <p14:sldId id="1157"/>
            <p14:sldId id="1140"/>
            <p14:sldId id="1141"/>
            <p14:sldId id="1142"/>
            <p14:sldId id="1143"/>
            <p14:sldId id="1145"/>
            <p14:sldId id="1144"/>
            <p14:sldId id="1146"/>
            <p14:sldId id="1147"/>
            <p14:sldId id="1148"/>
            <p14:sldId id="1149"/>
            <p14:sldId id="1154"/>
            <p14:sldId id="1153"/>
            <p14:sldId id="1150"/>
            <p14:sldId id="1151"/>
            <p14:sldId id="1152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FF9B45"/>
    <a:srgbClr val="DD462F"/>
    <a:srgbClr val="D24726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62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874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50" d="100"/>
        <a:sy n="150" d="100"/>
      </p:scale>
      <p:origin x="0" y="-4123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2026-07-30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2026-07-30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2026-07-30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7/30/2026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2026-07-30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c.gov/Archives/edgar/data/1318605/000095017023001409/tsla-20221231.htm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generated/sklearn.feature_extraction.text.CountVectorizer.html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101ai.net/text/word-embed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4" Type="http://schemas.openxmlformats.org/officeDocument/2006/relationships/hyperlink" Target="https://word2vec.kr/search/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humanloop.com/blog/rag-architectures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langchain.com/oss/javascript/deepagents/rag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CHAPERT 2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RAG Part I: Indexing Your Data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EDBDF-4942-26B7-ECF8-D411863DF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2F42C0-07C8-1960-872A-C341FE529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83E9E23-F77D-44D2-EB8C-9981740FAE8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CB7729-09DC-4690-5139-CD2649D9221F}"/>
              </a:ext>
            </a:extLst>
          </p:cNvPr>
          <p:cNvSpPr txBox="1"/>
          <p:nvPr/>
        </p:nvSpPr>
        <p:spPr>
          <a:xfrm>
            <a:off x="1166927" y="1724672"/>
            <a:ext cx="10100629" cy="958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 err="1"/>
              <a:t>머신러닝</a:t>
            </a:r>
            <a:r>
              <a:rPr lang="ko-KR" altLang="en-US" sz="2000" dirty="0"/>
              <a:t> 알고리즘</a:t>
            </a:r>
            <a:endParaRPr lang="en-US" altLang="ko-KR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/>
              <a:t>분산과 편향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827070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667BA-883A-F760-A852-480894981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25E88B-6D21-127E-3DF6-DC200AC37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0151A18-B816-E6A4-DE0E-617FB6906B4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Motivation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F3E3F8-C9F6-B196-98B4-3CC4BD8CE8BE}"/>
              </a:ext>
            </a:extLst>
          </p:cNvPr>
          <p:cNvSpPr txBox="1"/>
          <p:nvPr/>
        </p:nvSpPr>
        <p:spPr>
          <a:xfrm>
            <a:off x="542406" y="1743722"/>
            <a:ext cx="11173949" cy="3747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AI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모델이 최신 정보를 알지 못하는 지식 컷오프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(Knowledge Cutoff):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AI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모델의 지식이 멈춘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유통기한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같은 시점으로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예를 들어 어떤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지식 컷오프가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2025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12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월이라면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AI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2026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년에 일어난 뉴스나 사건을 알지 못하고 엉뚱한 답변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(Hallucination)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생성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(Generate)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하게 됨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데이터가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데이터가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1~2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페이지일 때 질문할 때마다 프롬프트에 그 내용을 통째로 복사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붙여넣기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(Context)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해서 모델에 넘기면 해결되니 기술적 고민이나 복잡한 아키텍처가 전혀 필요 없지만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만약 여러분 회사의 방대한 모든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규정집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(Huge Quantity)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에게 참고하라고 한다면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매번 수천 페이지를 복사해서 붙여 넣으실 건가요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?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불가능하겠죠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?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그래서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정답 조각 고르기 기술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필요합니다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.“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8986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D86A5-D250-C10A-3338-DBAB46ED1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96053F-17E6-5888-C6C8-A9B5AB35B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36B2170F-4EF3-5F5C-ECA5-83431A3B886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Why RAG?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B27603-1B8D-99CB-B7B7-DE45EB336F65}"/>
              </a:ext>
            </a:extLst>
          </p:cNvPr>
          <p:cNvSpPr txBox="1"/>
          <p:nvPr/>
        </p:nvSpPr>
        <p:spPr>
          <a:xfrm>
            <a:off x="1362593" y="1248422"/>
            <a:ext cx="8476732" cy="116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핵심 질문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en-US" altLang="ko-KR" sz="1600" i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lvl="2">
              <a:lnSpc>
                <a:spcPct val="150000"/>
              </a:lnSpc>
            </a:pPr>
            <a:r>
              <a:rPr lang="en-US" altLang="ko-KR" sz="1600" i="1" dirty="0">
                <a:latin typeface="D2Coding" panose="020B0609020101020101" pitchFamily="49" charset="-127"/>
                <a:ea typeface="D2Coding" panose="020B0609020101020101" pitchFamily="49" charset="-127"/>
              </a:rPr>
              <a:t>“</a:t>
            </a:r>
            <a:r>
              <a:rPr lang="ko-KR" altLang="en-US" sz="1600" i="1" dirty="0">
                <a:latin typeface="D2Coding" panose="020B0609020101020101" pitchFamily="49" charset="-127"/>
                <a:ea typeface="D2Coding" panose="020B0609020101020101" pitchFamily="49" charset="-127"/>
              </a:rPr>
              <a:t>이 방대한 텍스트 중</a:t>
            </a:r>
            <a:r>
              <a:rPr lang="en-US" altLang="ko-KR" sz="1600" i="1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i="1" dirty="0">
                <a:latin typeface="D2Coding" panose="020B0609020101020101" pitchFamily="49" charset="-127"/>
                <a:ea typeface="D2Coding" panose="020B0609020101020101" pitchFamily="49" charset="-127"/>
              </a:rPr>
              <a:t>사용자의 질문에 답변하는 데 가장 관련성이 높은 </a:t>
            </a:r>
            <a:r>
              <a:rPr lang="en-US" altLang="ko-KR" sz="1600" i="1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i="1" dirty="0">
                <a:latin typeface="D2Coding" panose="020B0609020101020101" pitchFamily="49" charset="-127"/>
                <a:ea typeface="D2Coding" panose="020B0609020101020101" pitchFamily="49" charset="-127"/>
              </a:rPr>
              <a:t>진짜 정답 조각</a:t>
            </a:r>
            <a:r>
              <a:rPr lang="en-US" altLang="ko-KR" sz="1600" i="1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i="1" dirty="0">
                <a:latin typeface="D2Coding" panose="020B0609020101020101" pitchFamily="49" charset="-127"/>
                <a:ea typeface="D2Coding" panose="020B0609020101020101" pitchFamily="49" charset="-127"/>
              </a:rPr>
              <a:t>을 어떻게 찾아내어 프롬프트에 넣어줄 것인가</a:t>
            </a:r>
            <a:r>
              <a:rPr lang="en-US" altLang="ko-KR" sz="1600" i="1" dirty="0">
                <a:latin typeface="D2Coding" panose="020B0609020101020101" pitchFamily="49" charset="-127"/>
                <a:ea typeface="D2Coding" panose="020B0609020101020101" pitchFamily="49" charset="-127"/>
              </a:rPr>
              <a:t>?"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4EBF23-6200-C218-6400-CBB4E99AFDCF}"/>
              </a:ext>
            </a:extLst>
          </p:cNvPr>
          <p:cNvSpPr txBox="1"/>
          <p:nvPr/>
        </p:nvSpPr>
        <p:spPr>
          <a:xfrm>
            <a:off x="581025" y="2877741"/>
            <a:ext cx="10972800" cy="273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인덱싱 (</a:t>
            </a:r>
            <a:r>
              <a:rPr lang="ko-KR" altLang="en-US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Indexing</a:t>
            </a: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 - 문서 </a:t>
            </a:r>
            <a:r>
              <a:rPr lang="ko-KR" altLang="en-US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전처리</a:t>
            </a: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 및 색인)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컴퓨터와 LLM 기반 애플리케이션이 질문에 맞는 문서를 빛의 속도로 찾을 수 있도록 데이터를 미리 구조화하고 정리하는 작업. (마치 책 맨 뒤의 '찾아보기/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색인'을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만드는 과정)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검색 및 활용 (</a:t>
            </a:r>
            <a:r>
              <a:rPr lang="ko-KR" altLang="en-US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Retrieving</a:t>
            </a: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 &amp; </a:t>
            </a:r>
            <a:r>
              <a:rPr lang="ko-KR" altLang="en-US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Generation</a:t>
            </a: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사용자가 질문을 던지면, 1단계에서 만든 인덱스에서 가장 관련성 높은 데이터 조각을 찾아내어(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Retrieve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LLM에게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컨텍스트(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Context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)로 제공하고, 정확한 답변을 생성(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Generate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)하게 만드는 과정</a:t>
            </a:r>
          </a:p>
        </p:txBody>
      </p:sp>
    </p:spTree>
    <p:extLst>
      <p:ext uri="{BB962C8B-B14F-4D97-AF65-F5344CB8AC3E}">
        <p14:creationId xmlns:p14="http://schemas.microsoft.com/office/powerpoint/2010/main" val="1435850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0AB53-D16C-B5E3-5588-2D996C98D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89B22B-019E-7422-E8C9-75BC944DC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49423641-A831-F9DB-647F-E9692BB829E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Basic RAG Pipeline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86168D61-8A4C-F442-6ECB-29D2790DBB5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2E58D4C-0BCB-5478-FA2D-48173632A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31" y="1391684"/>
            <a:ext cx="10353763" cy="4827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312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B41B4-1D46-0D9A-0AB4-C8EF5376D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88F654-70B8-53E9-E70C-25E48F1FA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A47A670-E7C8-FE41-30F5-1DAF393D6C9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Basic RAG Pipeline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7817456C-82D4-E557-3BCB-FAECC3E516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D02BB5A-B3F0-7886-0289-4C494F9D2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326" y="2070967"/>
            <a:ext cx="8774622" cy="31427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08E3AC-1B21-5665-4DC5-D7CA0588B7C2}"/>
              </a:ext>
            </a:extLst>
          </p:cNvPr>
          <p:cNvSpPr txBox="1"/>
          <p:nvPr/>
        </p:nvSpPr>
        <p:spPr>
          <a:xfrm>
            <a:off x="8439150" y="654811"/>
            <a:ext cx="31813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1. Data Indexing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7536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A81BC-AF22-466F-5EB5-7C85CE2DC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855AF8-F813-9A43-1AD6-BEE7E8FA8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07A3216-FE72-EDF9-7303-55BCE87940F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Basic RAG Pipeline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2AB7355C-86AC-6AAE-3552-145850DC0B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4285380-B40E-187A-030B-04E12E45A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552" y="1643485"/>
            <a:ext cx="8837298" cy="4575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542657-A59B-8A0A-0A9C-41DC4391D97F}"/>
              </a:ext>
            </a:extLst>
          </p:cNvPr>
          <p:cNvSpPr txBox="1"/>
          <p:nvPr/>
        </p:nvSpPr>
        <p:spPr>
          <a:xfrm>
            <a:off x="7419975" y="654811"/>
            <a:ext cx="42005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2. Data Retrieval &amp; Generation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89453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6AADB-16FD-D031-093A-078B9B45A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513C64-8E36-4C85-8182-010E8425C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FF27C86-F5A7-56AC-6B7D-6AB573A8361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Goal: Picking Relevant Context for LLMs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DE27A3-7BCD-B963-0B8B-1E167166F732}"/>
              </a:ext>
            </a:extLst>
          </p:cNvPr>
          <p:cNvSpPr txBox="1"/>
          <p:nvPr/>
        </p:nvSpPr>
        <p:spPr>
          <a:xfrm>
            <a:off x="609600" y="1248422"/>
            <a:ext cx="10972800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Ingestion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is simply the process of converting your documents into numbers that computers can understand and analyze, and storing them in a special type of database for efficient retrieval. </a:t>
            </a:r>
            <a:endParaRPr lang="ko-KR" altLang="en-US" sz="16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642E58B-10CC-8E33-F868-76BDE8BDD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318" y="2714624"/>
            <a:ext cx="7639100" cy="26765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C4036C3-6CE1-9412-61CB-8AA26EABCFD4}"/>
              </a:ext>
            </a:extLst>
          </p:cNvPr>
          <p:cNvSpPr txBox="1"/>
          <p:nvPr/>
        </p:nvSpPr>
        <p:spPr>
          <a:xfrm>
            <a:off x="8458199" y="2714625"/>
            <a:ext cx="3324225" cy="28339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Extract the text from the document.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Split the text into manageable chunks.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Convert the text into numbers that computers can understand.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Store these number representations of your text somewhere that makes it easy and fast to retrieve the relevant sections of your document to answer a given question.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0870DB-7FC7-C2F1-AC9D-0DCF09FD92E6}"/>
              </a:ext>
            </a:extLst>
          </p:cNvPr>
          <p:cNvSpPr txBox="1"/>
          <p:nvPr/>
        </p:nvSpPr>
        <p:spPr>
          <a:xfrm>
            <a:off x="885826" y="2905780"/>
            <a:ext cx="1428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Tesla’s 2022 annual report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7C5159-309F-23EC-ADB3-6FAB4DCD08BE}"/>
              </a:ext>
            </a:extLst>
          </p:cNvPr>
          <p:cNvSpPr txBox="1"/>
          <p:nvPr/>
        </p:nvSpPr>
        <p:spPr>
          <a:xfrm>
            <a:off x="1112771" y="5788190"/>
            <a:ext cx="4295775" cy="33855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“What key risks did Tesla face in 2022?”</a:t>
            </a:r>
            <a:endParaRPr lang="ko-KR" altLang="en-US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4" name="그래픽 13" descr="웹 디자인">
            <a:extLst>
              <a:ext uri="{FF2B5EF4-FFF2-40B4-BE49-F238E27FC236}">
                <a16:creationId xmlns:a16="http://schemas.microsoft.com/office/drawing/2014/main" id="{2390334E-00AF-997C-7435-855CCD58A0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9184" y="5686662"/>
            <a:ext cx="543335" cy="543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685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36070-2CC2-66E6-DD08-B216F753E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CA0C24-0676-F1F8-0245-1D3828D36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8316F6E-B76D-919F-CACA-216763CBE61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Embeddings: Converting Text to Numbers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E20299-24BC-EE2D-485F-A75920529068}"/>
              </a:ext>
            </a:extLst>
          </p:cNvPr>
          <p:cNvSpPr txBox="1"/>
          <p:nvPr/>
        </p:nvSpPr>
        <p:spPr>
          <a:xfrm>
            <a:off x="552450" y="1248422"/>
            <a:ext cx="11068050" cy="102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(Embedding)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텍스트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단어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문장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를 하나의 길고 연속된 숫자 배열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벡터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로 변환하는 기술로 손실 압축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(Lossy Representation)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 되어 숫자로 바꾸는 과정에서 정보가 일부 유실되므로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숫자만 보고 원래 텍스트를 완벽하게 복원하는 것은 불가능하기 때문에 원문 텍스트와 변환된 숫자 배열을 동시에 저장하는 것이 일반적임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8F55DA5-9B2C-D743-42D8-2D3A6D9CE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822" y="2890231"/>
            <a:ext cx="5027556" cy="352309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C177282-FA62-1671-F445-07B785A60FEB}"/>
              </a:ext>
            </a:extLst>
          </p:cNvPr>
          <p:cNvSpPr txBox="1"/>
          <p:nvPr/>
        </p:nvSpPr>
        <p:spPr>
          <a:xfrm>
            <a:off x="5219701" y="2582454"/>
            <a:ext cx="46481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sklearn.feature_extraction.text.CountVectorizer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31A12F-8BAC-51AF-0C3A-57BB35C131A8}"/>
              </a:ext>
            </a:extLst>
          </p:cNvPr>
          <p:cNvSpPr txBox="1"/>
          <p:nvPr/>
        </p:nvSpPr>
        <p:spPr>
          <a:xfrm>
            <a:off x="571502" y="3865832"/>
            <a:ext cx="4648199" cy="116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What a sunny day.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Such bright skies today.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I haven’t seen a sunny day in weeks.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8" name="그래픽 17" descr="시계 방향으로 굽은 줄 화살표">
            <a:extLst>
              <a:ext uri="{FF2B5EF4-FFF2-40B4-BE49-F238E27FC236}">
                <a16:creationId xmlns:a16="http://schemas.microsoft.com/office/drawing/2014/main" id="{055100B4-C405-A0C3-26BB-81F67B995E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4048125" y="3429000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73D6CFB-E03C-46C7-55BF-41104DB29EA1}"/>
              </a:ext>
            </a:extLst>
          </p:cNvPr>
          <p:cNvSpPr txBox="1"/>
          <p:nvPr/>
        </p:nvSpPr>
        <p:spPr>
          <a:xfrm>
            <a:off x="8439150" y="654811"/>
            <a:ext cx="31813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Embeddings Before LLMs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67838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DAD8E-817C-3E4B-143B-51A72B003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8C690B-1A36-FBAB-0ABF-B1BA5339B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9E8235B-A26E-8524-42D9-C62BA9C055C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Embeddings: Converting Text to Numbers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5B9EBB-2E66-082D-EA15-D31933E2D58A}"/>
              </a:ext>
            </a:extLst>
          </p:cNvPr>
          <p:cNvSpPr txBox="1"/>
          <p:nvPr/>
        </p:nvSpPr>
        <p:spPr>
          <a:xfrm>
            <a:off x="8439150" y="654811"/>
            <a:ext cx="31813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Embeddings Before LLMs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EFD2314-C375-B0E6-9A67-498A2AD4C9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376" y="2841595"/>
            <a:ext cx="4686300" cy="2694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A2C1598-4E5C-FFC2-0164-1F80C2838B1C}"/>
              </a:ext>
            </a:extLst>
          </p:cNvPr>
          <p:cNvSpPr txBox="1"/>
          <p:nvPr/>
        </p:nvSpPr>
        <p:spPr>
          <a:xfrm>
            <a:off x="1821656" y="2432427"/>
            <a:ext cx="2883694" cy="374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en-US" altLang="ko-KR" i="0" dirty="0">
                <a:solidFill>
                  <a:srgbClr val="24242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Bag-of-Words algorithm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6E6BED-D1C7-5B12-63BC-A7CC9B130F97}"/>
              </a:ext>
            </a:extLst>
          </p:cNvPr>
          <p:cNvSpPr txBox="1"/>
          <p:nvPr/>
        </p:nvSpPr>
        <p:spPr>
          <a:xfrm>
            <a:off x="1023376" y="5672691"/>
            <a:ext cx="4605899" cy="663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250"/>
              </a:lnSpc>
              <a:buFont typeface="Wingdings" panose="05000000000000000000" pitchFamily="2" charset="2"/>
              <a:buChar char="§"/>
            </a:pPr>
            <a:r>
              <a:rPr lang="en-US" altLang="ko-KR" sz="1600" i="0" dirty="0">
                <a:solidFill>
                  <a:srgbClr val="24242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Bag-of-N grams algorithm</a:t>
            </a:r>
          </a:p>
          <a:p>
            <a:pPr marL="285750" indent="-285750">
              <a:lnSpc>
                <a:spcPts val="2250"/>
              </a:lnSpc>
              <a:buFont typeface="Wingdings" panose="05000000000000000000" pitchFamily="2" charset="2"/>
              <a:buChar char="§"/>
            </a:pPr>
            <a:r>
              <a:rPr lang="en-US" altLang="ko-KR" sz="1600" dirty="0">
                <a:solidFill>
                  <a:srgbClr val="242424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TF-IDF algorithm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20AD1A-9057-226C-BDF3-65256712E4FE}"/>
              </a:ext>
            </a:extLst>
          </p:cNvPr>
          <p:cNvSpPr txBox="1"/>
          <p:nvPr/>
        </p:nvSpPr>
        <p:spPr>
          <a:xfrm>
            <a:off x="7648575" y="3017294"/>
            <a:ext cx="4029075" cy="1448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희소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(Sparse Embedding)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의미인식 불가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(No Semantic Embedding)</a:t>
            </a:r>
          </a:p>
          <a:p>
            <a:pPr lvl="1">
              <a:lnSpc>
                <a:spcPct val="20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bright skies, sunny day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7" name="화살표: 줄무늬가 있는 오른쪽 26">
            <a:extLst>
              <a:ext uri="{FF2B5EF4-FFF2-40B4-BE49-F238E27FC236}">
                <a16:creationId xmlns:a16="http://schemas.microsoft.com/office/drawing/2014/main" id="{B0B89421-3C18-1368-F3CA-D73E197124E2}"/>
              </a:ext>
            </a:extLst>
          </p:cNvPr>
          <p:cNvSpPr/>
          <p:nvPr/>
        </p:nvSpPr>
        <p:spPr>
          <a:xfrm>
            <a:off x="6153151" y="3267074"/>
            <a:ext cx="1238250" cy="1038225"/>
          </a:xfrm>
          <a:prstGeom prst="stripedRightArrow">
            <a:avLst>
              <a:gd name="adj1" fmla="val 70184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latin typeface="D2Coding" panose="020B0609020101020101" pitchFamily="49" charset="-127"/>
                <a:ea typeface="D2Coding" panose="020B0609020101020101" pitchFamily="49" charset="-127"/>
              </a:rPr>
              <a:t>약점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244DD2D-AA4F-98C3-EC7B-F918809EAB6C}"/>
              </a:ext>
            </a:extLst>
          </p:cNvPr>
          <p:cNvSpPr txBox="1"/>
          <p:nvPr/>
        </p:nvSpPr>
        <p:spPr>
          <a:xfrm>
            <a:off x="552450" y="1248422"/>
            <a:ext cx="11068050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모든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단어의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출현빈도를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세어야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하니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문장의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벡터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길이는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수만큼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커지고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대부분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0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으로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구성하여 자원의 손실부작용과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단어의 순서를 고려하지 않기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때문에 단어의 의미를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나타낼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수가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없음</a:t>
            </a:r>
          </a:p>
        </p:txBody>
      </p:sp>
    </p:spTree>
    <p:extLst>
      <p:ext uri="{BB962C8B-B14F-4D97-AF65-F5344CB8AC3E}">
        <p14:creationId xmlns:p14="http://schemas.microsoft.com/office/powerpoint/2010/main" val="1824194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D1FBD-90CF-E311-8358-701261E9B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9C8D74-9333-A0DA-A789-DD724ABC1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A5F9116-57D8-A712-175C-24958598179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Embeddings: Converting Text to Numbers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35F48B-8E97-8640-ACC0-6AA4786BC7DD}"/>
              </a:ext>
            </a:extLst>
          </p:cNvPr>
          <p:cNvSpPr txBox="1"/>
          <p:nvPr/>
        </p:nvSpPr>
        <p:spPr>
          <a:xfrm>
            <a:off x="8439150" y="654811"/>
            <a:ext cx="31813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Embeddings Before LLMs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6AED2F-BE85-50FF-D0EA-02A93D82203C}"/>
              </a:ext>
            </a:extLst>
          </p:cNvPr>
          <p:cNvSpPr txBox="1"/>
          <p:nvPr/>
        </p:nvSpPr>
        <p:spPr>
          <a:xfrm>
            <a:off x="537022" y="1248422"/>
            <a:ext cx="11179333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세상에 단어가 딱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4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대출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", 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광고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", 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안녕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", 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오늘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만 존재한다고 가정하고 예측모델이 새로운 메일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개를 각각 정상과 스팸 어떤 것으로 분류하는지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? 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각 문장에 어떤 단어가 있는지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key word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searc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 가능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2F6D4C-12A9-2B4B-E6C8-87D2F97DFBAC}"/>
              </a:ext>
            </a:extLst>
          </p:cNvPr>
          <p:cNvSpPr txBox="1"/>
          <p:nvPr/>
        </p:nvSpPr>
        <p:spPr>
          <a:xfrm>
            <a:off x="933450" y="2932656"/>
            <a:ext cx="4648200" cy="1440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스팸 메일 1: "대출 광고" 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 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[1, 1, 0, 0]</a:t>
            </a:r>
            <a:endParaRPr lang="en-US" altLang="ko-KR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스팸 메일 2: "오늘 대출" 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[1, 0, 0, 1]</a:t>
            </a:r>
            <a:endParaRPr lang="en-US" altLang="ko-KR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정상 메일 1: "안녕 오늘" 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[0, 0, 1, 1]</a:t>
            </a:r>
            <a:endParaRPr lang="en-US" altLang="ko-KR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정상 메일 2: "오늘 안녕" 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[0, 0, 1, 1]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7D5F1-5B13-0386-F411-5809448CD7D2}"/>
              </a:ext>
            </a:extLst>
          </p:cNvPr>
          <p:cNvSpPr txBox="1"/>
          <p:nvPr/>
        </p:nvSpPr>
        <p:spPr>
          <a:xfrm>
            <a:off x="5514974" y="3010363"/>
            <a:ext cx="624840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스팸 1  [1, 1, 0, 0] + 스팸 2  [1, 0, 0, 1] = [2, 1, 0, 1]</a:t>
            </a:r>
            <a:endParaRPr lang="en-US" altLang="ko-KR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총 개수 2로 나누면 평균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대표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벡터 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= 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[1.0, 0.5, 0.0, 0.5]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9AD14D-55D7-317F-7847-15E0E394731E}"/>
              </a:ext>
            </a:extLst>
          </p:cNvPr>
          <p:cNvSpPr txBox="1"/>
          <p:nvPr/>
        </p:nvSpPr>
        <p:spPr>
          <a:xfrm>
            <a:off x="5548312" y="3742360"/>
            <a:ext cx="624840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정상 1  [0, 0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1, 1] + 정상 2  [0, 0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1, 1] = [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endParaRPr lang="en-US" altLang="ko-KR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총 개수 2로 나누면 평균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대표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벡터 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= 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.0, 0.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.0, 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1.0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B98BF7-067C-3085-3F74-763D2F3DD478}"/>
              </a:ext>
            </a:extLst>
          </p:cNvPr>
          <p:cNvSpPr txBox="1"/>
          <p:nvPr/>
        </p:nvSpPr>
        <p:spPr>
          <a:xfrm>
            <a:off x="1352550" y="4771884"/>
            <a:ext cx="4505325" cy="422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새로운 메일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"오늘 광고"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[0,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1]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C1BA9BB-70C0-196C-B038-1DEFDE00A415}"/>
              </a:ext>
            </a:extLst>
          </p:cNvPr>
          <p:cNvSpPr/>
          <p:nvPr/>
        </p:nvSpPr>
        <p:spPr>
          <a:xfrm>
            <a:off x="822772" y="2894556"/>
            <a:ext cx="10730534" cy="14764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4EA96A-04DF-6DCB-7EF2-220B31A4D51C}"/>
              </a:ext>
            </a:extLst>
          </p:cNvPr>
          <p:cNvSpPr txBox="1"/>
          <p:nvPr/>
        </p:nvSpPr>
        <p:spPr>
          <a:xfrm>
            <a:off x="2590965" y="2563084"/>
            <a:ext cx="16960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>
                <a:latin typeface="D2Coding" panose="020B0609020101020101" pitchFamily="49" charset="-127"/>
                <a:ea typeface="D2Coding" panose="020B0609020101020101" pitchFamily="49" charset="-127"/>
              </a:rPr>
              <a:t>학습된 모델 </a:t>
            </a:r>
            <a:endParaRPr lang="ko-KR" altLang="en-US" sz="1600" dirty="0"/>
          </a:p>
        </p:txBody>
      </p:sp>
      <p:pic>
        <p:nvPicPr>
          <p:cNvPr id="28" name="그래픽 27" descr="모니터">
            <a:extLst>
              <a:ext uri="{FF2B5EF4-FFF2-40B4-BE49-F238E27FC236}">
                <a16:creationId xmlns:a16="http://schemas.microsoft.com/office/drawing/2014/main" id="{B57E3CBA-A542-E1D3-7B29-C4103F7FCC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57400" y="2399091"/>
            <a:ext cx="533565" cy="533565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63C1F85D-A860-A277-940F-ACB9A2B89B60}"/>
              </a:ext>
            </a:extLst>
          </p:cNvPr>
          <p:cNvSpPr txBox="1"/>
          <p:nvPr/>
        </p:nvSpPr>
        <p:spPr>
          <a:xfrm>
            <a:off x="1352549" y="5592885"/>
            <a:ext cx="4505325" cy="422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새로운 메일 2: "오늘 구제"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[0,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1]</a:t>
            </a: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6793DB13-110C-04AD-92FB-F33365531635}"/>
              </a:ext>
            </a:extLst>
          </p:cNvPr>
          <p:cNvCxnSpPr>
            <a:cxnSpLocks/>
            <a:stCxn id="23" idx="3"/>
            <a:endCxn id="39" idx="1"/>
          </p:cNvCxnSpPr>
          <p:nvPr/>
        </p:nvCxnSpPr>
        <p:spPr>
          <a:xfrm>
            <a:off x="5857875" y="4982968"/>
            <a:ext cx="2776538" cy="20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D671A3D7-A499-9FB7-4EDB-C2DDDC2038E5}"/>
              </a:ext>
            </a:extLst>
          </p:cNvPr>
          <p:cNvCxnSpPr>
            <a:cxnSpLocks/>
            <a:stCxn id="30" idx="3"/>
            <a:endCxn id="48" idx="1"/>
          </p:cNvCxnSpPr>
          <p:nvPr/>
        </p:nvCxnSpPr>
        <p:spPr>
          <a:xfrm flipV="1">
            <a:off x="5857874" y="5783340"/>
            <a:ext cx="2776539" cy="206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9" name="그래픽 38" descr="모니터">
            <a:extLst>
              <a:ext uri="{FF2B5EF4-FFF2-40B4-BE49-F238E27FC236}">
                <a16:creationId xmlns:a16="http://schemas.microsoft.com/office/drawing/2014/main" id="{249C88CB-8243-AEF7-541C-658AAEF70C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34413" y="4736710"/>
            <a:ext cx="533565" cy="533565"/>
          </a:xfrm>
          <a:prstGeom prst="rect">
            <a:avLst/>
          </a:prstGeom>
        </p:spPr>
      </p:pic>
      <p:pic>
        <p:nvPicPr>
          <p:cNvPr id="48" name="그래픽 47" descr="모니터">
            <a:extLst>
              <a:ext uri="{FF2B5EF4-FFF2-40B4-BE49-F238E27FC236}">
                <a16:creationId xmlns:a16="http://schemas.microsoft.com/office/drawing/2014/main" id="{383E9A1B-9316-3F3F-2D83-75692CAD3A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34413" y="5516557"/>
            <a:ext cx="533565" cy="533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3220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9C13E-F294-2A6E-3342-FFC723E0E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6849D0-C491-D099-4000-839C3D78D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D5BA32C1-1767-EA50-91DB-819B96D7849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LLM-Based Embeddings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BDF977-EBB2-5BE7-BA5F-D0695C11FC0F}"/>
              </a:ext>
            </a:extLst>
          </p:cNvPr>
          <p:cNvSpPr txBox="1"/>
          <p:nvPr/>
        </p:nvSpPr>
        <p:spPr>
          <a:xfrm>
            <a:off x="7200900" y="654811"/>
            <a:ext cx="441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Semantic Embeddings Explained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B1B62A-A13C-786F-E0F6-33F6742DFD56}"/>
              </a:ext>
            </a:extLst>
          </p:cNvPr>
          <p:cNvSpPr txBox="1"/>
          <p:nvPr/>
        </p:nvSpPr>
        <p:spPr>
          <a:xfrm>
            <a:off x="537022" y="1248422"/>
            <a:ext cx="11179333" cy="46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차원은 특정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Feature,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즉 의미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(semantic dimension)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나타냄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376B82E-8B6E-FCEE-91B1-12493B6A0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874" y="3019425"/>
            <a:ext cx="2861914" cy="250147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16F8386-CECD-6CE6-2553-C04C3A31695E}"/>
              </a:ext>
            </a:extLst>
          </p:cNvPr>
          <p:cNvSpPr txBox="1"/>
          <p:nvPr/>
        </p:nvSpPr>
        <p:spPr>
          <a:xfrm>
            <a:off x="1055501" y="5752268"/>
            <a:ext cx="37736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Semantic representations of words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39CBBFAE-103D-A7ED-C8F6-CB6DA5E07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586942"/>
            <a:ext cx="3863675" cy="293395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D6CFBC2-1A23-1286-6F47-4ECEBBDC0980}"/>
              </a:ext>
            </a:extLst>
          </p:cNvPr>
          <p:cNvSpPr txBox="1"/>
          <p:nvPr/>
        </p:nvSpPr>
        <p:spPr>
          <a:xfrm>
            <a:off x="5524500" y="5689298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Plot of word vectors in a multidimensional space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11CD4E-8905-C1D0-6D25-BE3CE6C372C7}"/>
              </a:ext>
            </a:extLst>
          </p:cNvPr>
          <p:cNvSpPr txBox="1"/>
          <p:nvPr/>
        </p:nvSpPr>
        <p:spPr>
          <a:xfrm>
            <a:off x="6953250" y="2217610"/>
            <a:ext cx="2295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Cosine similarity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79192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51295-47CC-7FDC-BF9B-2262C9DCF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5B0EE9-A47D-0478-066B-BC245DBAC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961916C-61AB-5184-1360-3ED0005E8D5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LLM-Based Embeddings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E26A79-7B54-C862-F7BE-BF4BBB839E5F}"/>
              </a:ext>
            </a:extLst>
          </p:cNvPr>
          <p:cNvSpPr txBox="1"/>
          <p:nvPr/>
        </p:nvSpPr>
        <p:spPr>
          <a:xfrm>
            <a:off x="7200900" y="654811"/>
            <a:ext cx="441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Semantic Embeddings Explained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DB58B20-EA3F-9E46-5A4C-690B81174E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5590" y="1684922"/>
            <a:ext cx="7434910" cy="1393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DEAE80-AE71-B78C-9740-C65477983F90}"/>
              </a:ext>
            </a:extLst>
          </p:cNvPr>
          <p:cNvSpPr txBox="1"/>
          <p:nvPr/>
        </p:nvSpPr>
        <p:spPr>
          <a:xfrm>
            <a:off x="1032296" y="1768157"/>
            <a:ext cx="29015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Semantic</a:t>
            </a:r>
            <a:r>
              <a:rPr lang="ko-KR" altLang="en-US" sz="1600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ko-KR" sz="1600" dirty="0" err="1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Densed</a:t>
            </a:r>
            <a:r>
              <a:rPr lang="en-US" altLang="ko-KR" sz="1600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Embedding</a:t>
            </a:r>
            <a:endParaRPr lang="en-US" altLang="ko-KR" sz="1600" dirty="0">
              <a:solidFill>
                <a:srgbClr val="00B0F0"/>
              </a:solidFill>
              <a:latin typeface="D2Coding" panose="020B0609020101020101" pitchFamily="49" charset="-127"/>
              <a:ea typeface="D2Coding" panose="020B0609020101020101" pitchFamily="49" charset="-127"/>
              <a:sym typeface="Wingdings" panose="05000000000000000000" pitchFamily="2" charset="2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89325022-F44F-28CE-80B9-BB4EE199D3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6346" y="3952320"/>
            <a:ext cx="7706942" cy="2250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82D5D71-8A2C-B6C7-94E2-6246C77FA68F}"/>
              </a:ext>
            </a:extLst>
          </p:cNvPr>
          <p:cNvSpPr txBox="1"/>
          <p:nvPr/>
        </p:nvSpPr>
        <p:spPr>
          <a:xfrm>
            <a:off x="1032296" y="3952320"/>
            <a:ext cx="29872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Deep Learning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방식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  <a:sym typeface="Wingdings" panose="05000000000000000000" pitchFamily="2" charset="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389590-FF1D-9EAF-473E-0BAF0CF7372B}"/>
              </a:ext>
            </a:extLst>
          </p:cNvPr>
          <p:cNvSpPr txBox="1"/>
          <p:nvPr/>
        </p:nvSpPr>
        <p:spPr>
          <a:xfrm>
            <a:off x="10663288" y="5205264"/>
            <a:ext cx="10530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batch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embedding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size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표기 오류)</a:t>
            </a:r>
          </a:p>
        </p:txBody>
      </p:sp>
    </p:spTree>
    <p:extLst>
      <p:ext uri="{BB962C8B-B14F-4D97-AF65-F5344CB8AC3E}">
        <p14:creationId xmlns:p14="http://schemas.microsoft.com/office/powerpoint/2010/main" val="23226760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53C72-47F2-5508-A63D-0B7F6B1E3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F0D95A-8383-F535-0C6D-6B10395D5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D1BBD92-1479-E67B-78C7-C5D24F49D0A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LLM-Based Embeddings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22BDDC-F9DD-C4E6-9584-AEF9DD3F222A}"/>
              </a:ext>
            </a:extLst>
          </p:cNvPr>
          <p:cNvSpPr txBox="1"/>
          <p:nvPr/>
        </p:nvSpPr>
        <p:spPr>
          <a:xfrm>
            <a:off x="685800" y="1498036"/>
            <a:ext cx="5276850" cy="33855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1단계: 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Converting Your Documents into Text</a:t>
            </a:r>
            <a:endParaRPr lang="ko-KR" altLang="en-US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1F35B0-F14F-6A58-E813-62D6843EFA9D}"/>
              </a:ext>
            </a:extLst>
          </p:cNvPr>
          <p:cNvSpPr txBox="1"/>
          <p:nvPr/>
        </p:nvSpPr>
        <p:spPr>
          <a:xfrm>
            <a:off x="685800" y="3539391"/>
            <a:ext cx="6096000" cy="33855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2단계: 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Splitting Your Text into Chunks</a:t>
            </a:r>
            <a:endParaRPr lang="ko-KR" altLang="en-US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3A03B0-E773-EF70-78FD-4D01CB3D1FB2}"/>
              </a:ext>
            </a:extLst>
          </p:cNvPr>
          <p:cNvSpPr txBox="1"/>
          <p:nvPr/>
        </p:nvSpPr>
        <p:spPr>
          <a:xfrm>
            <a:off x="5715000" y="2068259"/>
            <a:ext cx="6191250" cy="1118255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langchain_community.document_loaders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PyPDFLoader</a:t>
            </a: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loader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TextLoader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('./test.txt', encoding="utf-8")</a:t>
            </a:r>
          </a:p>
          <a:p>
            <a:pPr>
              <a:lnSpc>
                <a:spcPts val="1575"/>
              </a:lnSpc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docs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loader.load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3E8D59-9B61-237D-A043-C8A932077354}"/>
              </a:ext>
            </a:extLst>
          </p:cNvPr>
          <p:cNvSpPr txBox="1"/>
          <p:nvPr/>
        </p:nvSpPr>
        <p:spPr>
          <a:xfrm>
            <a:off x="1666875" y="4980581"/>
            <a:ext cx="37623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불러온 문서의 길이가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10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만 자를 넘게 되어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LLM(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대형 언어 모델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이나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모델의 컨텍스트 창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(Context Window,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한 번에 처리할 수 있는 텍스트 양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에 다 들어가지 않기 때문에 문서를 다루기 쉬운 크기의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텍스트 조각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(Chunk,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청크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)'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들로 쪼개야 함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53FCADF-A26C-4232-F617-92DDC3C700FE}"/>
              </a:ext>
            </a:extLst>
          </p:cNvPr>
          <p:cNvSpPr txBox="1"/>
          <p:nvPr/>
        </p:nvSpPr>
        <p:spPr>
          <a:xfrm>
            <a:off x="5715000" y="4098169"/>
            <a:ext cx="6191250" cy="1323439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langchain_text_splitters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RecursiveCharacterTextSplitter</a:t>
            </a:r>
            <a:b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splitter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RecursiveCharacterTextSplitter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chunk_size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=1000, </a:t>
            </a:r>
          </a:p>
          <a:p>
            <a:pPr>
              <a:lnSpc>
                <a:spcPts val="1575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                                 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chunk_overlap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=200)</a:t>
            </a:r>
          </a:p>
          <a:p>
            <a:pPr>
              <a:lnSpc>
                <a:spcPts val="1575"/>
              </a:lnSpc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</a:pP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splitted_docs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splitter.split_documents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(docs)</a:t>
            </a:r>
          </a:p>
        </p:txBody>
      </p: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4565F167-C7E7-9948-CB9C-45FE92689FD4}"/>
              </a:ext>
            </a:extLst>
          </p:cNvPr>
          <p:cNvCxnSpPr>
            <a:cxnSpLocks/>
            <a:stCxn id="10" idx="2"/>
            <a:endCxn id="15" idx="1"/>
          </p:cNvCxnSpPr>
          <p:nvPr/>
        </p:nvCxnSpPr>
        <p:spPr>
          <a:xfrm rot="16200000" flipH="1">
            <a:off x="4124214" y="1036600"/>
            <a:ext cx="790797" cy="239077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118A30FF-7E21-22F1-71E4-77097280861C}"/>
              </a:ext>
            </a:extLst>
          </p:cNvPr>
          <p:cNvCxnSpPr>
            <a:cxnSpLocks/>
            <a:stCxn id="12" idx="2"/>
            <a:endCxn id="24" idx="1"/>
          </p:cNvCxnSpPr>
          <p:nvPr/>
        </p:nvCxnSpPr>
        <p:spPr>
          <a:xfrm rot="16200000" flipH="1">
            <a:off x="4283428" y="3328317"/>
            <a:ext cx="881944" cy="19812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36801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2214A-5A47-F725-936B-7582FD6CE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EA98C2-42FF-2089-82F5-0A9271C14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B284A37-1E3F-A59D-2F10-FB8C69BF0E7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LLM-Based Embeddings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DEEF56-9A7B-D1F8-04E7-B25421A59C46}"/>
              </a:ext>
            </a:extLst>
          </p:cNvPr>
          <p:cNvSpPr txBox="1"/>
          <p:nvPr/>
        </p:nvSpPr>
        <p:spPr>
          <a:xfrm>
            <a:off x="709007" y="2284598"/>
            <a:ext cx="10921320" cy="175432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[1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단계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단락 자르기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 ──▶ 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모든 단락을 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'\n\n' 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기준으로 쪼갬 </a:t>
            </a:r>
            <a:endParaRPr lang="en-US" altLang="ko-KR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lvl="6"/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</a:t>
            </a:r>
            <a:endParaRPr lang="en-US" altLang="ko-KR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lvl="6"/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├─▶ 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1,000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자 이하인 조각 ──▶ 통과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! (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그대로 둠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</a:p>
          <a:p>
            <a:pPr lvl="6"/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└─▶ 1,500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자짜리 거대 단락 발견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! </a:t>
            </a:r>
          </a:p>
          <a:p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			     │ </a:t>
            </a:r>
          </a:p>
          <a:p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[2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단계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다음 가위 가동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 ────────────┴──▶ 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 거대 단락만 가져와서 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'\n'(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줄바꿈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기준으로 다시 쪼갬 </a:t>
            </a:r>
            <a:endParaRPr lang="en-US" altLang="ko-KR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lvl="8"/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│ </a:t>
            </a:r>
            <a:endParaRPr lang="en-US" altLang="ko-KR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lvl="8"/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├─▶ 이제 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1,000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자 이하가 됨 ──▶ 통과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! </a:t>
            </a:r>
          </a:p>
          <a:p>
            <a:pPr lvl="8"/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└─▶ 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그래도 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1,200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자짜리 줄 발견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! ──▶ '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공백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띄어쓰기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)'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으로 또 쪼갬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!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42669A-B35A-2A00-C20A-0A565058A55F}"/>
              </a:ext>
            </a:extLst>
          </p:cNvPr>
          <p:cNvSpPr txBox="1"/>
          <p:nvPr/>
        </p:nvSpPr>
        <p:spPr>
          <a:xfrm>
            <a:off x="561672" y="1248422"/>
            <a:ext cx="11068655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RecursiveCharacterTextSplitter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분할기는 무작정 가위질을 하지 않고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인간이 글을 읽는 단위를 고려하여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최대한 의미가 통하는 덩어리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유지하며 재귀적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단계적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으로 아래와 같이 안전하게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잘라줌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FD76BF-CD36-909D-E978-CD9FF32B9E87}"/>
              </a:ext>
            </a:extLst>
          </p:cNvPr>
          <p:cNvSpPr txBox="1"/>
          <p:nvPr/>
        </p:nvSpPr>
        <p:spPr>
          <a:xfrm>
            <a:off x="628650" y="4272409"/>
            <a:ext cx="11268075" cy="423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메타데이터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(Metadata)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 텍스트를 아무리 잘게 쪼개도 원본의 출처와 위치를 찾는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 네비게이션 꼬리표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AA800D-6A32-A57C-52FD-67A1AE2EA5C4}"/>
              </a:ext>
            </a:extLst>
          </p:cNvPr>
          <p:cNvSpPr txBox="1"/>
          <p:nvPr/>
        </p:nvSpPr>
        <p:spPr>
          <a:xfrm>
            <a:off x="2766407" y="4746610"/>
            <a:ext cx="7658100" cy="505908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in range(5): # 864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개  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Document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print(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f"Document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{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 metadata: {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splitted_docs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].metadata}")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E94E3D-8975-8772-9C78-A47A7C4CB7D9}"/>
              </a:ext>
            </a:extLst>
          </p:cNvPr>
          <p:cNvSpPr txBox="1"/>
          <p:nvPr/>
        </p:nvSpPr>
        <p:spPr>
          <a:xfrm>
            <a:off x="2766407" y="5242679"/>
            <a:ext cx="4282093" cy="116955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Document 0 metadata: {'source': './test.txt'} Document 1 metadata: {'source': './test.txt'} Document 2 metadata: {'source': './test.txt'} Document 3 metadata: {'source': './test.txt'} Document 4 metadata: {'source': './test.txt'}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93006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B73FF-AAFE-527E-BAC9-4E68AE047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900995-5D88-1C91-B630-DB3EE9C09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2AAC3C16-5355-24BF-217A-D8985CCD3D3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LLM-Based Embeddings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DF5E29-AB53-8B63-6C3C-6C3A8D5AC840}"/>
              </a:ext>
            </a:extLst>
          </p:cNvPr>
          <p:cNvSpPr txBox="1"/>
          <p:nvPr/>
        </p:nvSpPr>
        <p:spPr>
          <a:xfrm>
            <a:off x="619125" y="1481991"/>
            <a:ext cx="6096000" cy="33855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단계: 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Generating Text Embeddings</a:t>
            </a:r>
            <a:r>
              <a:rPr lang="ko-KR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978E78-C955-BE92-5C0A-F325975087A6}"/>
              </a:ext>
            </a:extLst>
          </p:cNvPr>
          <p:cNvSpPr txBox="1"/>
          <p:nvPr/>
        </p:nvSpPr>
        <p:spPr>
          <a:xfrm>
            <a:off x="1781175" y="2113577"/>
            <a:ext cx="9858375" cy="3262432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langchain_community.embeddings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import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HuggingFaceEmbeddings</a:t>
            </a: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b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인터넷 너머의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Groq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이나 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OpenAI 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서버를 전혀 부르지 않고 </a:t>
            </a: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Colab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메모리에 이 </a:t>
            </a:r>
            <a:r>
              <a:rPr lang="ko-KR" altLang="en-US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임베딩를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직접 </a:t>
            </a:r>
            <a:r>
              <a:rPr lang="ko-KR" altLang="en-US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다운로드받아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설치하는 명령어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embed_model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HuggingFaceEmbeddings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model_name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="all-MiniLM-L6-v2")</a:t>
            </a:r>
          </a:p>
          <a:p>
            <a:pPr>
              <a:lnSpc>
                <a:spcPts val="1575"/>
              </a:lnSpc>
              <a:buNone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embeddings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embed_model.embed_documents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([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"Hi there!",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"Oh, hello!",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"What's your name?",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"My friends call me World",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"Hello World!"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])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print(embeddings)</a:t>
            </a:r>
          </a:p>
        </p:txBody>
      </p:sp>
    </p:spTree>
    <p:extLst>
      <p:ext uri="{BB962C8B-B14F-4D97-AF65-F5344CB8AC3E}">
        <p14:creationId xmlns:p14="http://schemas.microsoft.com/office/powerpoint/2010/main" val="27178065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EE74C-F6AF-0FFF-02C0-065BB714C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8DEC33-1D4B-3FB2-FC36-771DC8DE7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B4EF9347-1C5A-215B-828D-012466499AA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LLM-Based Embeddings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665088-6AF0-9054-3062-EC384D0230FF}"/>
              </a:ext>
            </a:extLst>
          </p:cNvPr>
          <p:cNvSpPr txBox="1"/>
          <p:nvPr/>
        </p:nvSpPr>
        <p:spPr>
          <a:xfrm>
            <a:off x="619125" y="1481991"/>
            <a:ext cx="6096000" cy="33855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4</a:t>
            </a:r>
            <a:r>
              <a:rPr lang="ko-KR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단계: 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Storing Embeddings in a Vector Store</a:t>
            </a:r>
            <a:r>
              <a:rPr lang="ko-KR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50336E8-FDAF-78D3-69F7-76E8EDDED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" y="1989752"/>
            <a:ext cx="7712108" cy="137171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D3B2F3-0C31-2E6C-E69A-1D079B523DCA}"/>
              </a:ext>
            </a:extLst>
          </p:cNvPr>
          <p:cNvSpPr txBox="1"/>
          <p:nvPr/>
        </p:nvSpPr>
        <p:spPr>
          <a:xfrm>
            <a:off x="619125" y="3670655"/>
            <a:ext cx="11029950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백엔드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개발자들에게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Pinecone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Milvus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같은 최신 전문 벡터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DB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비싸게 도입할 필요가 없으며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가장 친숙한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PostgreSQL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데이터베이스에 플러그인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pgvector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하나만 켜면 벡터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DB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 변신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F2FE64-4976-2781-44ED-6BE72BCDDE82}"/>
              </a:ext>
            </a:extLst>
          </p:cNvPr>
          <p:cNvSpPr txBox="1"/>
          <p:nvPr/>
        </p:nvSpPr>
        <p:spPr>
          <a:xfrm>
            <a:off x="1122296" y="5788190"/>
            <a:ext cx="6450079" cy="33855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Colab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환경에서 클라우드 </a:t>
            </a:r>
            <a:r>
              <a:rPr lang="en-US" altLang="ko-KR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vector </a:t>
            </a:r>
            <a:r>
              <a:rPr lang="en-US" altLang="ko-KR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db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 저장하기</a:t>
            </a:r>
          </a:p>
        </p:txBody>
      </p:sp>
      <p:pic>
        <p:nvPicPr>
          <p:cNvPr id="11" name="그래픽 10" descr="웹 디자인">
            <a:extLst>
              <a:ext uri="{FF2B5EF4-FFF2-40B4-BE49-F238E27FC236}">
                <a16:creationId xmlns:a16="http://schemas.microsoft.com/office/drawing/2014/main" id="{FF4D50AC-E78E-C767-94A7-93D1D3787E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8709" y="5686662"/>
            <a:ext cx="543335" cy="54333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2087CF1-5C36-1787-787C-1970D6972574}"/>
              </a:ext>
            </a:extLst>
          </p:cNvPr>
          <p:cNvSpPr txBox="1"/>
          <p:nvPr/>
        </p:nvSpPr>
        <p:spPr>
          <a:xfrm>
            <a:off x="1112519" y="4955866"/>
            <a:ext cx="6450331" cy="33855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Colab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환경에서 직접 </a:t>
            </a:r>
            <a:r>
              <a:rPr lang="en-US" altLang="ko-KR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postgres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vector </a:t>
            </a:r>
            <a:r>
              <a:rPr lang="en-US" altLang="ko-KR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db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 저장하기</a:t>
            </a:r>
          </a:p>
        </p:txBody>
      </p:sp>
      <p:pic>
        <p:nvPicPr>
          <p:cNvPr id="13" name="그래픽 12" descr="웹 디자인">
            <a:extLst>
              <a:ext uri="{FF2B5EF4-FFF2-40B4-BE49-F238E27FC236}">
                <a16:creationId xmlns:a16="http://schemas.microsoft.com/office/drawing/2014/main" id="{0A0F9956-16EA-3725-FC30-CB7DEA41B1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8932" y="4854338"/>
            <a:ext cx="543335" cy="54333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FFF4F43-5573-2F0B-D471-654F61007B3A}"/>
              </a:ext>
            </a:extLst>
          </p:cNvPr>
          <p:cNvSpPr txBox="1"/>
          <p:nvPr/>
        </p:nvSpPr>
        <p:spPr>
          <a:xfrm>
            <a:off x="7686675" y="5806284"/>
            <a:ext cx="12668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claude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14596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CDCAF-F2C4-81B5-0B3B-08603E206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Simple RAG">
            <a:extLst>
              <a:ext uri="{FF2B5EF4-FFF2-40B4-BE49-F238E27FC236}">
                <a16:creationId xmlns:a16="http://schemas.microsoft.com/office/drawing/2014/main" id="{31CD1155-AAC9-5F70-8CA2-AF2EF1027E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3476" y="2780252"/>
            <a:ext cx="9220200" cy="340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E4932E-8CA0-46DB-8C74-9E6720A8E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B7FA75D-5D50-0308-C9A0-C7189492E36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Summary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8E7A39-10E4-97D1-58B4-87B7EE0A627B}"/>
              </a:ext>
            </a:extLst>
          </p:cNvPr>
          <p:cNvSpPr txBox="1"/>
          <p:nvPr/>
        </p:nvSpPr>
        <p:spPr>
          <a:xfrm>
            <a:off x="813826" y="4676167"/>
            <a:ext cx="386715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Load 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 불러오기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Split 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텍스트 분할하기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Embed 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의미를 숫자로 바꾸기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Store 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창고에 저장하기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8E432C-288A-2CAC-90C0-0EC6692B0880}"/>
              </a:ext>
            </a:extLst>
          </p:cNvPr>
          <p:cNvSpPr txBox="1"/>
          <p:nvPr/>
        </p:nvSpPr>
        <p:spPr>
          <a:xfrm>
            <a:off x="4366651" y="1617502"/>
            <a:ext cx="487259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5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Question 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사용자의 질문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</a:p>
          <a:p>
            <a:pPr marL="342900" indent="-342900">
              <a:buFont typeface="+mj-lt"/>
              <a:buAutoNum type="arabicPeriod" startAt="5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RETRIEVE 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벡터 검색 단계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</a:p>
          <a:p>
            <a:pPr marL="342900" indent="-342900">
              <a:buFont typeface="+mj-lt"/>
              <a:buAutoNum type="arabicPeriod" startAt="5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PROMPT 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컨텍스트 결합 및 프롬프트 생성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</a:p>
          <a:p>
            <a:pPr marL="342900" indent="-342900">
              <a:buFont typeface="+mj-lt"/>
              <a:buAutoNum type="arabicPeriod" startAt="5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 &amp; Answer 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생성 및 답변 전달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C55E38-32AA-9217-506B-2C703A3E28E3}"/>
              </a:ext>
            </a:extLst>
          </p:cNvPr>
          <p:cNvSpPr txBox="1"/>
          <p:nvPr/>
        </p:nvSpPr>
        <p:spPr>
          <a:xfrm>
            <a:off x="1823476" y="2156111"/>
            <a:ext cx="2146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RAG-Architectures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6160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EC939-9714-3429-9980-6732A21A6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C5789D-D330-8F6D-AE46-66809080F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48FAAE74-6C6B-9245-BEA1-7F52DF1B4AA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RAG(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검색 증강 생성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, Retrieval-Augmented Generation)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002052-A2F4-9839-D58F-E585521FDDD2}"/>
              </a:ext>
            </a:extLst>
          </p:cNvPr>
          <p:cNvSpPr txBox="1"/>
          <p:nvPr/>
        </p:nvSpPr>
        <p:spPr>
          <a:xfrm>
            <a:off x="608284" y="1353850"/>
            <a:ext cx="11021741" cy="487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Load (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데이터 불러오기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) 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다양한 형태의 원본 데이터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(TXT, PDF,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웹페이지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노션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시스템이 이해할 수 있는 공통 규격인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Document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객체로 변환하는 단계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TextLoader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Split (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텍스트 분할하기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) 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거대한 문서를 작은 조각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(Chunk)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으로 잘게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쪼깨는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단계로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AI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모델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(LLM)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한 번에 읽을 수 있는 글자 수 제한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(Context Window)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초과하거나 불필요한 비용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(Token)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낭비하게 만들기 때문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RecursiveCharacterTextSplitter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Embed (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의미를 숫자로 바꾸기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) 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쪼갠 글자 조각들을 컴퓨터가 연산할 수 있는 방향성 숫자 배열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(Numeric Vector)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 변환하면 이 숫자들이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진짜 의미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(Context)'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가지게 되어 유사도 검색이 가능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HuggingFaceEmbeddings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모델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(all-MiniLM-L6-v2)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으로 글자 조각들을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384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차원 수자로 변환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Store (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창고에 저장하기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변환된 글자 조각들과 그에 대응하는 숫자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벡터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들을 나중에 언제든 꺼내 쓸 수 있도록 벡터 저장소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VectorStore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인덱싱하여 안전하게 보관하는 단계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클라우드에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documents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테이블을 만들고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SupabaseVectorStore.from_documents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(...)</a:t>
            </a:r>
          </a:p>
        </p:txBody>
      </p:sp>
    </p:spTree>
    <p:extLst>
      <p:ext uri="{BB962C8B-B14F-4D97-AF65-F5344CB8AC3E}">
        <p14:creationId xmlns:p14="http://schemas.microsoft.com/office/powerpoint/2010/main" val="22734569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F842C-9CAC-38E6-8FD9-D5DA947DE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EE8165-43B8-DA8C-46DF-D26611C00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243947F-3B13-B412-B1A4-2AFBF67B6C1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RAG(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검색 증강 생성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, Retrieval-Augmented Generation)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11266" name="Picture 2" descr="index_diagram">
            <a:extLst>
              <a:ext uri="{FF2B5EF4-FFF2-40B4-BE49-F238E27FC236}">
                <a16:creationId xmlns:a16="http://schemas.microsoft.com/office/drawing/2014/main" id="{5AC6592C-BD82-0D32-9BB4-24792A5FD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1982281"/>
            <a:ext cx="8055521" cy="4050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0B795B2-462B-1D70-F75C-F6A7974637BE}"/>
              </a:ext>
            </a:extLst>
          </p:cNvPr>
          <p:cNvSpPr txBox="1"/>
          <p:nvPr/>
        </p:nvSpPr>
        <p:spPr>
          <a:xfrm>
            <a:off x="1219923" y="5663785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RAG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100878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18721-1D54-F2C3-9D0C-19D25E4DE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AC6D21-B116-9645-BE62-CC7287969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8CCF26C-27E2-34A5-0A8D-96C10E06D99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RAG(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검색 증강 생성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, Retrieval-Augmented Generation)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116C9C-E112-9017-C824-57FDABBD88D1}"/>
              </a:ext>
            </a:extLst>
          </p:cNvPr>
          <p:cNvSpPr txBox="1"/>
          <p:nvPr/>
        </p:nvSpPr>
        <p:spPr>
          <a:xfrm>
            <a:off x="608284" y="1353850"/>
            <a:ext cx="11021741" cy="4994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Question (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사용자의 질문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사용자가 서비스에 질문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예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"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랭체인이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뭔가요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?")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RETRIEVE (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벡터 검색 단계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질문을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모델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(all-MiniLM-L6-v2)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통해 숫자로 바꾼 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Vector DB(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pgvector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저장된 수많은 문서 조각 중 가장 유사도가 높은 핵심 조각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파란색으로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하이라이트된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칸들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만 돋보기로 빠르게 찾아냄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(Retrieve)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PROMPT (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컨텍스트 결합 및 프롬프트 생성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 질문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(Question)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Vector DB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에서 끄집어낸 참고 문서 조각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(Retrieve)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위아래 화살표를 통해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PROMPT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라는 하나의 주머니로 합쳐지는 단계로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에게 무작정 답을 달라고 하는 게 아니라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다음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참고 문서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바탕으로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사용자의 질문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솔직하게 답해줘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라는 형태의 완성된 지시서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프롬프트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조립하는 단계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LLM &amp; Answer (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생성 및 답변 전달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조립된 프롬프트가 대형 언어 모델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(LLM,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예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Groq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/Llama3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 전달하면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은 자신이 아는 지식으로 소설을 쓰는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환각 현상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대신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주어지는 참고 문서를 기반으로 정확하고 정제된 최종 답변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(Answer)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작성하여 사용자에게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Generate</a:t>
            </a:r>
          </a:p>
        </p:txBody>
      </p:sp>
    </p:spTree>
    <p:extLst>
      <p:ext uri="{BB962C8B-B14F-4D97-AF65-F5344CB8AC3E}">
        <p14:creationId xmlns:p14="http://schemas.microsoft.com/office/powerpoint/2010/main" val="30209693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574E4-5B38-625B-D78F-F70F559CD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A55706-A236-05A0-0081-1EBD57FAC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22F9FC71-E2BD-5A5C-7CCF-D928284288C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RAG(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검색 증강 생성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, Retrieval-Augmented Generation)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11268" name="Picture 4" descr="retrieval_diagram">
            <a:extLst>
              <a:ext uri="{FF2B5EF4-FFF2-40B4-BE49-F238E27FC236}">
                <a16:creationId xmlns:a16="http://schemas.microsoft.com/office/drawing/2014/main" id="{A9CB697F-86C4-E9CB-25B3-0303A1737A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49" y="2325181"/>
            <a:ext cx="8055521" cy="413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AC66DF-E377-DCF9-5FCC-231B680E30FA}"/>
              </a:ext>
            </a:extLst>
          </p:cNvPr>
          <p:cNvSpPr txBox="1"/>
          <p:nvPr/>
        </p:nvSpPr>
        <p:spPr>
          <a:xfrm>
            <a:off x="638175" y="1333411"/>
            <a:ext cx="108585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만약 여러분 회사의 방대한 모든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규정집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(Huge Quantity)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에게 참고하라고 한다면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매번 수천 페이지를 복사해서 붙여 넣으실 건가요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?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불가능하겠죠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?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그래서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정답 조각 고르기 기술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필요합니다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.“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008490805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13119</TotalTime>
  <Words>1889</Words>
  <Application>Microsoft Office PowerPoint</Application>
  <PresentationFormat>와이드스크린</PresentationFormat>
  <Paragraphs>178</Paragraphs>
  <Slides>22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8" baseType="lpstr">
      <vt:lpstr>D2Coding</vt:lpstr>
      <vt:lpstr>맑은 고딕</vt:lpstr>
      <vt:lpstr>Batang</vt:lpstr>
      <vt:lpstr>Arial</vt:lpstr>
      <vt:lpstr>Wingdings</vt:lpstr>
      <vt:lpstr>WelcomeDoc</vt:lpstr>
      <vt:lpstr>CHAPERT 2 RAG Part I: Indexing Your Data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187</cp:revision>
  <dcterms:created xsi:type="dcterms:W3CDTF">2026-04-06T01:00:39Z</dcterms:created>
  <dcterms:modified xsi:type="dcterms:W3CDTF">2026-07-30T12:37:08Z</dcterms:modified>
  <cp:version/>
</cp:coreProperties>
</file>