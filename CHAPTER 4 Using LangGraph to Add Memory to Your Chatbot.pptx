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6"/>
  </p:notesMasterIdLst>
  <p:handoutMasterIdLst>
    <p:handoutMasterId r:id="rId17"/>
  </p:handoutMasterIdLst>
  <p:sldIdLst>
    <p:sldId id="256" r:id="rId2"/>
    <p:sldId id="1136" r:id="rId3"/>
    <p:sldId id="1140" r:id="rId4"/>
    <p:sldId id="1153" r:id="rId5"/>
    <p:sldId id="1145" r:id="rId6"/>
    <p:sldId id="1157" r:id="rId7"/>
    <p:sldId id="1154" r:id="rId8"/>
    <p:sldId id="1155" r:id="rId9"/>
    <p:sldId id="1158" r:id="rId10"/>
    <p:sldId id="1156" r:id="rId11"/>
    <p:sldId id="1159" r:id="rId12"/>
    <p:sldId id="1160" r:id="rId13"/>
    <p:sldId id="1161" r:id="rId14"/>
    <p:sldId id="1163" r:id="rId15"/>
  </p:sldIdLst>
  <p:sldSz cx="12192000" cy="6858000"/>
  <p:notesSz cx="6858000" cy="9144000"/>
  <p:defaultTextStyle>
    <a:defPPr rtl="0">
      <a:defRPr lang="ko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감사합니다." id="{E75E278A-FF0E-49A4-B170-79828D63BBAD}">
          <p14:sldIdLst>
            <p14:sldId id="256"/>
          </p14:sldIdLst>
        </p14:section>
        <p14:section name="디자인, 모핑, 주석 달기, 공동 작업, 입력하세요" id="{B9B51309-D148-4332-87C2-07BE32FBCA3B}">
          <p14:sldIdLst>
            <p14:sldId id="1136"/>
            <p14:sldId id="1140"/>
            <p14:sldId id="1153"/>
            <p14:sldId id="1145"/>
            <p14:sldId id="1157"/>
            <p14:sldId id="1154"/>
            <p14:sldId id="1155"/>
            <p14:sldId id="1158"/>
            <p14:sldId id="1156"/>
            <p14:sldId id="1159"/>
            <p14:sldId id="1160"/>
            <p14:sldId id="1161"/>
            <p14:sldId id="1163"/>
          </p14:sldIdLst>
        </p14:section>
        <p14:section name="자세한 정보" id="{2CC34DB2-6590-42C0-AD4B-A04C6060184E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만든 이" initials="오전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6E3FF"/>
    <a:srgbClr val="FF9B45"/>
    <a:srgbClr val="DD462F"/>
    <a:srgbClr val="D24726"/>
    <a:srgbClr val="404040"/>
    <a:srgbClr val="F8CFB6"/>
    <a:srgbClr val="F8CAB6"/>
    <a:srgbClr val="923922"/>
    <a:srgbClr val="F5F5F5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62" autoAdjust="0"/>
    <p:restoredTop sz="94297" autoAdjust="0"/>
  </p:normalViewPr>
  <p:slideViewPr>
    <p:cSldViewPr snapToGrid="0">
      <p:cViewPr varScale="1">
        <p:scale>
          <a:sx n="80" d="100"/>
          <a:sy n="80" d="100"/>
        </p:scale>
        <p:origin x="874" y="5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59582"/>
    </p:cViewPr>
  </p:outlin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notesViewPr>
    <p:cSldViewPr snapToGrid="0">
      <p:cViewPr varScale="1">
        <p:scale>
          <a:sx n="104" d="100"/>
          <a:sy n="104" d="100"/>
        </p:scale>
        <p:origin x="4608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424059DE-6CD5-4C59-8233-088CE5808E67}" type="datetime1">
              <a:rPr lang="ko-KR" altLang="en-US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2026-07-20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9C679768-A2FC-4D08-91F6-8DCE6C566B36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‹#›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3025516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43E1C3DD-4A19-441D-907C-380838DB51C4}" type="datetime1">
              <a:rPr lang="ko-KR" altLang="en-US" noProof="0" smtClean="0"/>
              <a:t>2026-07-20</a:t>
            </a:fld>
            <a:endParaRPr lang="ko-KR" altLang="en-US" noProof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ko-KR" altLang="en-US" noProof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ko-KR" altLang="en-US" noProof="0" dirty="0"/>
              <a:t>마스터 텍스트 스타일을 편집하려면 클릭하세요</a:t>
            </a:r>
            <a:r>
              <a:rPr lang="en-US" altLang="ko-KR" noProof="0" dirty="0"/>
              <a:t>.</a:t>
            </a:r>
          </a:p>
          <a:p>
            <a:pPr lvl="1" rtl="0"/>
            <a:r>
              <a:rPr lang="ko-KR" altLang="en-US" noProof="0" dirty="0"/>
              <a:t>둘째 수준</a:t>
            </a:r>
          </a:p>
          <a:p>
            <a:pPr lvl="2" rtl="0"/>
            <a:r>
              <a:rPr lang="ko-KR" altLang="en-US" noProof="0" dirty="0"/>
              <a:t>셋째 수준</a:t>
            </a:r>
          </a:p>
          <a:p>
            <a:pPr lvl="3" rtl="0"/>
            <a:r>
              <a:rPr lang="ko-KR" altLang="en-US" noProof="0" dirty="0"/>
              <a:t>넷째 수준</a:t>
            </a:r>
          </a:p>
          <a:p>
            <a:pPr lvl="4" rtl="0"/>
            <a:r>
              <a:rPr lang="ko-KR" altLang="en-US" noProof="0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DF61EA0F-A667-4B49-8422-0062BC55E249}" type="slidenum">
              <a:rPr lang="en-US" altLang="ko-KR" noProof="0" smtClean="0"/>
              <a:pPr/>
              <a:t>‹#›</a:t>
            </a:fld>
            <a:endParaRPr lang="ko-KR" altLang="en-US" noProof="0"/>
          </a:p>
        </p:txBody>
      </p:sp>
    </p:spTree>
    <p:extLst>
      <p:ext uri="{BB962C8B-B14F-4D97-AF65-F5344CB8AC3E}">
        <p14:creationId xmlns:p14="http://schemas.microsoft.com/office/powerpoint/2010/main" val="338191029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117698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 bwMode="blackWhite">
          <a:xfrm>
            <a:off x="254950" y="262784"/>
            <a:ext cx="11682101" cy="633243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718549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2" name="직선 연결선(S) 11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제목 3"/>
          <p:cNvSpPr>
            <a:spLocks noGrp="1"/>
          </p:cNvSpPr>
          <p:nvPr>
            <p:ph type="title"/>
          </p:nvPr>
        </p:nvSpPr>
        <p:spPr>
          <a:xfrm>
            <a:off x="521207" y="448056"/>
            <a:ext cx="6877119" cy="640080"/>
          </a:xfrm>
        </p:spPr>
        <p:txBody>
          <a:bodyPr rtlCol="0" anchor="b" anchorCtr="0">
            <a:normAutofit/>
          </a:bodyPr>
          <a:lstStyle>
            <a:lvl1pPr>
              <a:defRPr sz="280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0" hasCustomPrompt="1"/>
          </p:nvPr>
        </p:nvSpPr>
        <p:spPr>
          <a:xfrm>
            <a:off x="539496" y="1435608"/>
            <a:ext cx="44165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marL="0" lvl="0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marL="0" lvl="1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둘째 수준</a:t>
            </a:r>
          </a:p>
          <a:p>
            <a:pPr marL="0" lvl="2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셋째 수준</a:t>
            </a:r>
          </a:p>
          <a:p>
            <a:pPr marL="0" lvl="3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넷째 수준</a:t>
            </a:r>
          </a:p>
          <a:p>
            <a:pPr marL="0" lvl="4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다섯째 수준</a:t>
            </a:r>
          </a:p>
        </p:txBody>
      </p:sp>
      <p:sp>
        <p:nvSpPr>
          <p:cNvPr id="6" name="날짜 개체 틀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90475B5-67CA-4281-BDCA-DA943C3C8EB3}" type="datetime1">
              <a:rPr lang="ko-KR" altLang="en-US" noProof="0" smtClean="0"/>
              <a:t>2026-07-20</a:t>
            </a:fld>
            <a:endParaRPr lang="ko-KR" altLang="en-US" noProof="0"/>
          </a:p>
        </p:txBody>
      </p:sp>
      <p:sp>
        <p:nvSpPr>
          <p:cNvPr id="7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/>
          </a:p>
        </p:txBody>
      </p:sp>
      <p:sp>
        <p:nvSpPr>
          <p:cNvPr id="8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37192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860EDB8-5305-433F-BE41-D7A86D811DB3}" type="slidenum">
              <a:rPr lang="en-US" altLang="ko-KR" noProof="0" smtClean="0"/>
              <a:pPr/>
              <a:t>‹#›</a:t>
            </a:fld>
            <a:endParaRPr lang="ko-KR" altLang="en-US" noProof="0"/>
          </a:p>
        </p:txBody>
      </p:sp>
    </p:spTree>
    <p:extLst>
      <p:ext uri="{BB962C8B-B14F-4D97-AF65-F5344CB8AC3E}">
        <p14:creationId xmlns:p14="http://schemas.microsoft.com/office/powerpoint/2010/main" val="2185836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254951" y="262784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직사각형 9"/>
          <p:cNvSpPr/>
          <p:nvPr userDrawn="1"/>
        </p:nvSpPr>
        <p:spPr bwMode="blackWhite">
          <a:xfrm>
            <a:off x="254950" y="262784"/>
            <a:ext cx="11682101" cy="207264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21208" y="1536192"/>
            <a:ext cx="6876288" cy="640080"/>
          </a:xfrm>
        </p:spPr>
        <p:txBody>
          <a:bodyPr rtlCol="0">
            <a:normAutofit/>
          </a:bodyPr>
          <a:lstStyle>
            <a:lvl1pPr>
              <a:defRPr sz="36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7" name="내용 개체 틀 6"/>
          <p:cNvSpPr>
            <a:spLocks noGrp="1"/>
          </p:cNvSpPr>
          <p:nvPr>
            <p:ph sz="quarter" idx="13" hasCustomPrompt="1"/>
          </p:nvPr>
        </p:nvSpPr>
        <p:spPr>
          <a:xfrm>
            <a:off x="539496" y="2560320"/>
            <a:ext cx="94457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24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marL="0" lvl="0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marL="0" lvl="1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둘째 수준</a:t>
            </a:r>
          </a:p>
          <a:p>
            <a:pPr marL="0" lvl="2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셋째 수준</a:t>
            </a:r>
          </a:p>
          <a:p>
            <a:pPr marL="0" lvl="3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넷째 수준</a:t>
            </a:r>
          </a:p>
          <a:p>
            <a:pPr marL="0" lvl="4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335655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13795" y="139083"/>
            <a:ext cx="10353762" cy="766439"/>
          </a:xfrm>
        </p:spPr>
        <p:txBody>
          <a:bodyPr rtlCol="0">
            <a:normAutofit/>
          </a:bodyPr>
          <a:lstStyle>
            <a:lvl1pPr>
              <a:defRPr sz="3200">
                <a:latin typeface="Batang" panose="02030600000101010101" pitchFamily="18" charset="-127"/>
                <a:ea typeface="Batang" panose="02030600000101010101" pitchFamily="18" charset="-127"/>
              </a:defRPr>
            </a:lvl1pPr>
          </a:lstStyle>
          <a:p>
            <a:pPr rtl="0"/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913795" y="1127464"/>
            <a:ext cx="10353762" cy="4663735"/>
          </a:xfrm>
        </p:spPr>
        <p:txBody>
          <a:bodyPr rtlCol="0"/>
          <a:lstStyle>
            <a:lvl1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1pPr>
            <a:lvl2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2pPr>
            <a:lvl3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3pPr>
            <a:lvl4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4pPr>
            <a:lvl5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5pPr>
          </a:lstStyle>
          <a:p>
            <a:pPr lvl="0" rtl="0"/>
            <a:r>
              <a:rPr lang="ko-KR" altLang="en-US" dirty="0"/>
              <a:t>마스터 텍스트 스타일을 편집하려면 클릭</a:t>
            </a:r>
          </a:p>
          <a:p>
            <a:pPr lvl="1" rtl="0"/>
            <a:r>
              <a:rPr lang="ko-KR" altLang="en-US" dirty="0"/>
              <a:t>두 번째 수준</a:t>
            </a:r>
          </a:p>
          <a:p>
            <a:pPr lvl="2" rtl="0"/>
            <a:r>
              <a:rPr lang="ko-KR" altLang="en-US" dirty="0"/>
              <a:t>세 번째 수준</a:t>
            </a:r>
          </a:p>
          <a:p>
            <a:pPr lvl="3" rtl="0"/>
            <a:r>
              <a:rPr lang="ko-KR" altLang="en-US" dirty="0"/>
              <a:t>네 번째 수준</a:t>
            </a:r>
          </a:p>
          <a:p>
            <a:pPr lvl="4" rtl="0"/>
            <a:r>
              <a:rPr lang="ko-KR" altLang="en-US" dirty="0"/>
              <a:t>다섯 번째 수준</a:t>
            </a:r>
            <a:endParaRPr 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B4745536-17E2-EEF7-D107-B4146DE2141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924" y="6365874"/>
            <a:ext cx="355393" cy="393576"/>
          </a:xfrm>
          <a:prstGeom prst="rect">
            <a:avLst/>
          </a:prstGeom>
        </p:spPr>
      </p:pic>
      <p:sp>
        <p:nvSpPr>
          <p:cNvPr id="4" name="Date Placeholder 4">
            <a:extLst>
              <a:ext uri="{FF2B5EF4-FFF2-40B4-BE49-F238E27FC236}">
                <a16:creationId xmlns:a16="http://schemas.microsoft.com/office/drawing/2014/main" id="{3AC7079E-4A2B-916C-C464-65DEFE43418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8737" y="6198235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7/20/2026</a:t>
            </a:fld>
            <a:endParaRPr lang="en-US" dirty="0"/>
          </a:p>
        </p:txBody>
      </p:sp>
      <p:sp>
        <p:nvSpPr>
          <p:cNvPr id="5" name="Footer Placeholder 5">
            <a:extLst>
              <a:ext uri="{FF2B5EF4-FFF2-40B4-BE49-F238E27FC236}">
                <a16:creationId xmlns:a16="http://schemas.microsoft.com/office/drawing/2014/main" id="{A9D00E07-4D48-7C0C-4DF1-A39D6E8BB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3774" y="6198235"/>
            <a:ext cx="6672887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1DFF8BFD-50B2-6671-09A6-3F6A70B59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198235"/>
            <a:ext cx="764215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30270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521208" y="448056"/>
            <a:ext cx="6876288" cy="64008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39496" y="1435608"/>
            <a:ext cx="4416552" cy="39776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lvl="1" rtl="0"/>
            <a:r>
              <a:rPr lang="ko-KR" altLang="en-US" noProof="0"/>
              <a:t>둘째 수준</a:t>
            </a:r>
          </a:p>
          <a:p>
            <a:pPr lvl="2" rtl="0"/>
            <a:r>
              <a:rPr lang="ko-KR" altLang="en-US" noProof="0"/>
              <a:t>셋째 수준</a:t>
            </a:r>
          </a:p>
          <a:p>
            <a:pPr lvl="3" rtl="0"/>
            <a:r>
              <a:rPr lang="ko-KR" altLang="en-US" noProof="0"/>
              <a:t>넷째 수준</a:t>
            </a:r>
          </a:p>
          <a:p>
            <a:pPr lvl="4" rtl="0"/>
            <a:r>
              <a:rPr lang="ko-KR" altLang="en-US" noProof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C655C81E-72E7-4D05-94B5-F45B321A525D}" type="datetime1">
              <a:rPr lang="ko-KR" altLang="en-US" noProof="0" smtClean="0"/>
              <a:t>2026-07-20</a:t>
            </a:fld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375904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860EDB8-5305-433F-BE41-D7A86D811DB3}" type="slidenum">
              <a:rPr lang="en-US" altLang="ko-KR" noProof="0" smtClean="0"/>
              <a:pPr/>
              <a:t>‹#›</a:t>
            </a:fld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8" name="직선 연결선(S) 7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6754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5" r:id="rId4"/>
  </p:sldLayoutIdLst>
  <p:hf hdr="0" ftr="0" dt="0"/>
  <p:txStyles>
    <p:titleStyle>
      <a:lvl1pPr algn="l" defTabSz="914400" rtl="0" eaLnBrk="1" latinLnBrk="1" hangingPunct="1">
        <a:spcBef>
          <a:spcPct val="0"/>
        </a:spcBef>
        <a:buNone/>
        <a:defRPr sz="28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j-cs"/>
        </a:defRPr>
      </a:lvl1pPr>
    </p:titleStyle>
    <p:bodyStyle>
      <a:lvl1pPr marL="0" indent="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Tx/>
        <a:buNone/>
        <a:defRPr lang="en-US" sz="1200" kern="1200" dirty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1pPr>
      <a:lvl2pPr marL="2286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2pPr>
      <a:lvl3pPr marL="6858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3pPr>
      <a:lvl4pPr marL="11430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4pPr>
      <a:lvl5pPr marL="16002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5pPr>
      <a:lvl6pPr marL="20574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6pPr>
      <a:lvl7pPr marL="25146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7pPr>
      <a:lvl8pPr marL="29718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8pPr>
      <a:lvl9pPr marL="3429000" indent="-228600" algn="l" defTabSz="914400" rtl="0" eaLnBrk="1" latinLnBrk="1" hangingPunct="1">
        <a:lnSpc>
          <a:spcPct val="90000"/>
        </a:lnSpc>
        <a:spcBef>
          <a:spcPct val="30000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wikidocs.net/261584" TargetMode="Externa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838199" y="1164324"/>
            <a:ext cx="8782051" cy="2387600"/>
          </a:xfrm>
        </p:spPr>
        <p:txBody>
          <a:bodyPr rtlCol="0" anchor="ctr" anchorCtr="0">
            <a:normAutofit/>
          </a:bodyPr>
          <a:lstStyle/>
          <a:p>
            <a:r>
              <a:rPr lang="en-US" altLang="ko-KR" sz="4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CHAPTER 4</a:t>
            </a:r>
            <a:br>
              <a:rPr lang="en-US" altLang="ko-KR" sz="4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4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Using LangGraph to Add Memory to Your Chatbot</a:t>
            </a:r>
            <a:endParaRPr lang="ko-KR" altLang="en-US" sz="4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5" name="부제목 2">
            <a:extLst>
              <a:ext uri="{FF2B5EF4-FFF2-40B4-BE49-F238E27FC236}">
                <a16:creationId xmlns:a16="http://schemas.microsoft.com/office/drawing/2014/main" id="{D2A693FF-597D-D05E-69BD-7CA96D17F1CD}"/>
              </a:ext>
            </a:extLst>
          </p:cNvPr>
          <p:cNvSpPr txBox="1">
            <a:spLocks/>
          </p:cNvSpPr>
          <p:nvPr/>
        </p:nvSpPr>
        <p:spPr>
          <a:xfrm>
            <a:off x="855620" y="4555883"/>
            <a:ext cx="9582736" cy="1137793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Tx/>
              <a:buNone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685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1430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16002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0574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4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71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29000" indent="-228600" algn="l" defTabSz="914400" rtl="0" eaLnBrk="1" latinLnBrk="1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2026 Fall</a:t>
            </a:r>
          </a:p>
          <a:p>
            <a:r>
              <a:rPr lang="ko-KR" altLang="en-US" sz="2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조상구교수</a:t>
            </a:r>
            <a:endParaRPr lang="en-US" altLang="ko-KR" sz="2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71807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FEDBDF-4942-26B7-ECF8-D411863DF1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32F42C0-07C8-1960-872A-C341FE529F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C83E9E23-F77D-44D2-EB8C-9981740FAE83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Goals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2740E9C1-65CC-1B4C-B42B-F3ADB0CD84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5974" y="2038229"/>
            <a:ext cx="6038378" cy="3543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70702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06AADB-16FD-D031-093A-078B9B45A5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3513C64-8E36-4C85-8182-010E8425C5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77052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z="1400" b="1" smtClean="0">
                <a:latin typeface="Tw Cen MT" panose="020B0602020104020603" pitchFamily="34" charset="0"/>
              </a:rPr>
              <a:pPr/>
              <a:t>3</a:t>
            </a:fld>
            <a:endParaRPr lang="en-US" sz="1400" b="1" dirty="0">
              <a:latin typeface="Tw Cen MT" panose="020B0602020104020603" pitchFamily="34" charset="0"/>
            </a:endParaRPr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9FF27C86-F5A7-56AC-6B7D-6AB573A8361D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Motivation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DDE27A3-7BCD-B963-0B8B-1E167166F732}"/>
              </a:ext>
            </a:extLst>
          </p:cNvPr>
          <p:cNvSpPr txBox="1"/>
          <p:nvPr/>
        </p:nvSpPr>
        <p:spPr>
          <a:xfrm>
            <a:off x="609600" y="1248422"/>
            <a:ext cx="10972800" cy="44864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챗봇이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과거 대화와 맥락을 기억하며 유저와 실제로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주고받는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(back and forth)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대화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를 나누게 만드는 방법은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무엇일까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?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즉 개발자가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챗봇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애플리케이션에 주고받는 채팅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기억력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을 활성화하려면 어떤 핵심 원리의 구현이 필요할까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?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b="1" dirty="0">
                <a:latin typeface="D2Coding" panose="020B0609020101020101" pitchFamily="49" charset="-127"/>
                <a:ea typeface="D2Coding" panose="020B0609020101020101" pitchFamily="49" charset="-127"/>
              </a:rPr>
              <a:t>상태 관리 </a:t>
            </a:r>
            <a:r>
              <a:rPr lang="en-US" altLang="ko-KR" sz="1600" b="1" dirty="0">
                <a:latin typeface="D2Coding" panose="020B0609020101020101" pitchFamily="49" charset="-127"/>
                <a:ea typeface="D2Coding" panose="020B0609020101020101" pitchFamily="49" charset="-127"/>
              </a:rPr>
              <a:t>(State)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대화가 오가는 동안 누적되는 메시지 목록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(list of messages)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을 하나의 거대한 상태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(State)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객체로 정의하고 새로운 질문과 답변이 오갈 때마다 이 상태에 메시지가 계속 추가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(Append)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하여야 하고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b="1" dirty="0" err="1">
                <a:latin typeface="D2Coding" panose="020B0609020101020101" pitchFamily="49" charset="-127"/>
                <a:ea typeface="D2Coding" panose="020B0609020101020101" pitchFamily="49" charset="-127"/>
              </a:rPr>
              <a:t>체크포인터</a:t>
            </a:r>
            <a:r>
              <a:rPr lang="ko-KR" altLang="en-US" sz="1600" b="1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b="1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600" b="1" dirty="0" err="1">
                <a:latin typeface="D2Coding" panose="020B0609020101020101" pitchFamily="49" charset="-127"/>
                <a:ea typeface="D2Coding" panose="020B0609020101020101" pitchFamily="49" charset="-127"/>
              </a:rPr>
              <a:t>Checkpointer</a:t>
            </a:r>
            <a:r>
              <a:rPr lang="en-US" altLang="ko-KR" sz="1600" b="1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대화가 한 턴 끝날 때마다 현재의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'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상태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대화 기록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)'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를 데이터베이스나 메모리에 자동으로 저장하는 내장 기능이 필요함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516850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42E7C5-3E23-B436-1692-8DC23B5365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3B1DA200-D1BD-8957-2555-D8648F8A3640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GOAL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48A8ABC0-11D4-26E7-7F87-9C9C8C7C1C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8958" y="2830209"/>
            <a:ext cx="7829867" cy="274861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3F06435-15A3-2E50-2AD1-222D3ED224DD}"/>
              </a:ext>
            </a:extLst>
          </p:cNvPr>
          <p:cNvSpPr txBox="1"/>
          <p:nvPr/>
        </p:nvSpPr>
        <p:spPr>
          <a:xfrm>
            <a:off x="581025" y="1216252"/>
            <a:ext cx="11010900" cy="8808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You will learn how to build this essential memory system using </a:t>
            </a:r>
            <a:r>
              <a:rPr lang="en-US" altLang="ko-KR" dirty="0" err="1">
                <a:latin typeface="D2Coding" panose="020B0609020101020101" pitchFamily="49" charset="-127"/>
                <a:ea typeface="D2Coding" panose="020B0609020101020101" pitchFamily="49" charset="-127"/>
              </a:rPr>
              <a:t>LangChain’s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 built-in modules or LangGraph to make this development process easier.</a:t>
            </a: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1914DCD-3337-C215-6C48-2B70848BD150}"/>
              </a:ext>
            </a:extLst>
          </p:cNvPr>
          <p:cNvSpPr txBox="1"/>
          <p:nvPr/>
        </p:nvSpPr>
        <p:spPr>
          <a:xfrm>
            <a:off x="3305175" y="3001115"/>
            <a:ext cx="63817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1" dirty="0">
                <a:latin typeface="D2Coding" panose="020B0609020101020101" pitchFamily="49" charset="-127"/>
                <a:ea typeface="D2Coding" panose="020B0609020101020101" pitchFamily="49" charset="-127"/>
              </a:rPr>
              <a:t>RAG </a:t>
            </a:r>
            <a:endParaRPr lang="ko-KR" altLang="en-US" sz="16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F09C2CF-33C2-219E-9BE1-3134E890DAD7}"/>
              </a:ext>
            </a:extLst>
          </p:cNvPr>
          <p:cNvSpPr txBox="1"/>
          <p:nvPr/>
        </p:nvSpPr>
        <p:spPr>
          <a:xfrm>
            <a:off x="4743450" y="2416118"/>
            <a:ext cx="4905375" cy="46532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b="1" dirty="0">
                <a:latin typeface="D2Coding" panose="020B0609020101020101" pitchFamily="49" charset="-127"/>
                <a:ea typeface="D2Coding" panose="020B0609020101020101" pitchFamily="49" charset="-127"/>
              </a:rPr>
              <a:t>LLMs(Large language models) are stateless.</a:t>
            </a:r>
          </a:p>
        </p:txBody>
      </p:sp>
      <p:sp>
        <p:nvSpPr>
          <p:cNvPr id="16" name="슬라이드 번호 개체 틀 3">
            <a:extLst>
              <a:ext uri="{FF2B5EF4-FFF2-40B4-BE49-F238E27FC236}">
                <a16:creationId xmlns:a16="http://schemas.microsoft.com/office/drawing/2014/main" id="{7405FC8C-396E-2835-6D8E-C606AD06C3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77052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b="1" smtClean="0">
                <a:latin typeface="Tw Cen MT" panose="020B0602020104020603" pitchFamily="34" charset="0"/>
              </a:rPr>
              <a:pPr/>
              <a:t>4</a:t>
            </a:fld>
            <a:endParaRPr lang="en-US" b="1" dirty="0">
              <a:latin typeface="Tw Cen MT" panose="020B06020201040206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46628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DE5245-9EDB-46A3-1F2A-4501E08E44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08DB553A-0412-FD51-E0DB-FBD53447FA10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Introducing LangGraph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5E492467-A6D9-B1D6-2B60-1DB5E190B3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77052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b="1" smtClean="0">
                <a:latin typeface="Tw Cen MT" panose="020B0602020104020603" pitchFamily="34" charset="0"/>
              </a:rPr>
              <a:pPr/>
              <a:t>5</a:t>
            </a:fld>
            <a:endParaRPr lang="en-US" b="1" dirty="0">
              <a:latin typeface="Tw Cen MT" panose="020B06020201040206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87461AE-E07B-9517-A770-DFCD398CBBF9}"/>
              </a:ext>
            </a:extLst>
          </p:cNvPr>
          <p:cNvSpPr txBox="1"/>
          <p:nvPr/>
        </p:nvSpPr>
        <p:spPr>
          <a:xfrm>
            <a:off x="485170" y="1248422"/>
            <a:ext cx="11040080" cy="41171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LLM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은 말을 그럴싸하게 지어내고 계획을 짜는 데는 천재적이지만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어제 일어난 일이나 아주 구체적인 최신 팩트를 정확히 알지는 못함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(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기억력과 최신 정보의 한계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 – LLM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은 방금 동면에서 깨어난 끝 말 이어가기 끝판 왕 아인슈타인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LLM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애플리케이션도 여러 도구와 컴포넌트를 조합할 때 강력해지는 시너지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(Pairing up):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sz="10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LLM +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검색 엔진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: LLM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에게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모르면 구글이나 검색 엔진에서 먼저 검색해 보고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그 결과를 토대로 답변해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!"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라고 지시하는 구조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(Perplexity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나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Arc Search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같은 혁신적인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AI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검색 서비스의 기반 기술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LLM +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또 다른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LLM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프롬프트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하나의 거대한 프롬프트로 모든 걸 해결하는 게 아니라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'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기획 담당 프롬프트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', '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코드 작성 담당 프롬프트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', '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검토 담당 프롬프트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'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를 따로 두어 서로 대화하게 만드는 구조</a:t>
            </a:r>
          </a:p>
        </p:txBody>
      </p:sp>
    </p:spTree>
    <p:extLst>
      <p:ext uri="{BB962C8B-B14F-4D97-AF65-F5344CB8AC3E}">
        <p14:creationId xmlns:p14="http://schemas.microsoft.com/office/powerpoint/2010/main" val="14326519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A9B754-A86B-9302-40E1-DBA877F95D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7EC01257-AA33-E3AA-DCE4-263DA74B5089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Introducing LangGraph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72FC2FD2-9578-245A-F33A-E71F1E386E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77052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b="1" smtClean="0">
                <a:latin typeface="Tw Cen MT" panose="020B0602020104020603" pitchFamily="34" charset="0"/>
              </a:rPr>
              <a:pPr/>
              <a:t>6</a:t>
            </a:fld>
            <a:endParaRPr lang="en-US" b="1" dirty="0">
              <a:latin typeface="Tw Cen MT" panose="020B0602020104020603" pitchFamily="34" charset="0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D9B1D79-ACE7-23CA-D1DA-9F59895712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4633" y="2142975"/>
            <a:ext cx="7315834" cy="346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73072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057D0D-E537-D054-4CF2-97F0C29A6E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A72CC994-18B6-521F-52E2-665A08915A97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Introducing LangGraph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F44CB52A-C5B1-A81D-CD6B-59C30B4684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77052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b="1" smtClean="0">
                <a:latin typeface="Tw Cen MT" panose="020B0602020104020603" pitchFamily="34" charset="0"/>
              </a:rPr>
              <a:pPr/>
              <a:t>7</a:t>
            </a:fld>
            <a:endParaRPr lang="en-US" b="1" dirty="0">
              <a:latin typeface="Tw Cen MT" panose="020B0602020104020603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D868BD3-CCA5-2A92-9A49-7485B6219595}"/>
              </a:ext>
            </a:extLst>
          </p:cNvPr>
          <p:cNvSpPr txBox="1"/>
          <p:nvPr/>
        </p:nvSpPr>
        <p:spPr>
          <a:xfrm>
            <a:off x="6362700" y="1602063"/>
            <a:ext cx="5343525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42900" indent="-342900">
              <a:buFont typeface="+mj-lt"/>
              <a:buAutoNum type="arabicPeriod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단순한 LLM 모델 하나만 사용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42900" indent="-342900">
              <a:buFont typeface="+mj-lt"/>
              <a:buAutoNum type="arabicPeriod"/>
            </a:pP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42900" indent="-342900">
              <a:buFont typeface="+mj-lt"/>
              <a:buAutoNum type="arabicPeriod"/>
            </a:pP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42900" indent="-342900">
              <a:buFont typeface="+mj-lt"/>
              <a:buAutoNum type="arabicPeriod"/>
            </a:pP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LLM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+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프롬프트(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ChatPromptTemplate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)를 결합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42900" indent="-342900">
              <a:buFont typeface="+mj-lt"/>
              <a:buAutoNum type="arabicPeriod"/>
            </a:pP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42900" indent="-342900">
              <a:buFont typeface="+mj-lt"/>
              <a:buAutoNum type="arabicPeriod"/>
            </a:pP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42900" indent="-342900">
              <a:buFont typeface="+mj-lt"/>
              <a:buAutoNum type="arabicPeriod"/>
            </a:pP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LLM +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과거를 기억하도록 메모리(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ChatMessageHistory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 빌딩 블록을 조합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42900" indent="-342900">
              <a:buFont typeface="+mj-lt"/>
              <a:buAutoNum type="arabicPeriod"/>
            </a:pP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42900" indent="-342900">
              <a:buFont typeface="+mj-lt"/>
              <a:buAutoNum type="arabicPeriod"/>
            </a:pP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42900" indent="-342900">
              <a:buFont typeface="+mj-lt"/>
              <a:buAutoNum type="arabicPeriod"/>
            </a:pP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LLM +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검색 엔진(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Search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Engine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or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외부도구(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Tools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 등과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레고 블록처럼 조합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A1A8002C-5EA4-7CCF-E2E9-8E34B1A4B2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233" y="1687788"/>
            <a:ext cx="5772467" cy="4040727"/>
          </a:xfrm>
          <a:prstGeom prst="rect">
            <a:avLst/>
          </a:prstGeom>
        </p:spPr>
      </p:pic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0F254F8C-E208-60F8-950F-45C20F49BAB5}"/>
              </a:ext>
            </a:extLst>
          </p:cNvPr>
          <p:cNvCxnSpPr/>
          <p:nvPr/>
        </p:nvCxnSpPr>
        <p:spPr>
          <a:xfrm>
            <a:off x="8401050" y="2238375"/>
            <a:ext cx="0" cy="47625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30E21899-A113-5DC8-7CF3-4C12C3A58489}"/>
              </a:ext>
            </a:extLst>
          </p:cNvPr>
          <p:cNvCxnSpPr/>
          <p:nvPr/>
        </p:nvCxnSpPr>
        <p:spPr>
          <a:xfrm>
            <a:off x="8401050" y="3267075"/>
            <a:ext cx="0" cy="47625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3A384A1A-AB2D-ABA9-57D0-CD51914F64E0}"/>
              </a:ext>
            </a:extLst>
          </p:cNvPr>
          <p:cNvCxnSpPr/>
          <p:nvPr/>
        </p:nvCxnSpPr>
        <p:spPr>
          <a:xfrm>
            <a:off x="8401050" y="4514850"/>
            <a:ext cx="0" cy="47625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532855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6D801A-FA79-05CB-059E-E9FE203011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006EDCC2-73C9-0A6F-7727-A8B261B56FEE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Introducing LangGraph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8ED80E82-023F-F9E2-4855-68F9F9F857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77052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b="1" smtClean="0">
                <a:latin typeface="Tw Cen MT" panose="020B0602020104020603" pitchFamily="34" charset="0"/>
              </a:rPr>
              <a:pPr/>
              <a:t>8</a:t>
            </a:fld>
            <a:endParaRPr lang="en-US" b="1" dirty="0">
              <a:latin typeface="Tw Cen MT" panose="020B0602020104020603" pitchFamily="34" charset="0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6AFBE33-705B-45A2-DDCA-992130DBDA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8199" y="1565135"/>
            <a:ext cx="6934200" cy="491565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C05E190-A5FA-C46D-C46A-D17A25D12493}"/>
              </a:ext>
            </a:extLst>
          </p:cNvPr>
          <p:cNvSpPr txBox="1"/>
          <p:nvPr/>
        </p:nvSpPr>
        <p:spPr>
          <a:xfrm>
            <a:off x="475644" y="1510676"/>
            <a:ext cx="4172555" cy="42604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LangGraph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에서는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LLM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이나 검색 엔진이 주인공이 아니라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모든 데이터를 중앙에서 관리하고 통제하는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State(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상태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가 진정한 주인공</a:t>
            </a: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Stateful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이란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대화의 모든 순간과 중간 데이터를 하나의 완벽한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'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상태 지도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(State)＇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로 유지하여 실시간으로 추적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·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저장하고 제어하는 강력한 아키텍처를 의미</a:t>
            </a: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State, Nodes, Edges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로 구성된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Workflow Architecture</a:t>
            </a: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D0DC966-5850-80AC-157B-52AEE7FB0F77}"/>
              </a:ext>
            </a:extLst>
          </p:cNvPr>
          <p:cNvSpPr txBox="1"/>
          <p:nvPr/>
        </p:nvSpPr>
        <p:spPr>
          <a:xfrm>
            <a:off x="6886573" y="1938037"/>
            <a:ext cx="90487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1" i="1" dirty="0">
                <a:latin typeface="D2Coding" panose="020B0609020101020101" pitchFamily="49" charset="-127"/>
                <a:ea typeface="D2Coding" panose="020B0609020101020101" pitchFamily="49" charset="-127"/>
              </a:rPr>
              <a:t>State</a:t>
            </a:r>
            <a:endParaRPr lang="ko-KR" altLang="en-US" sz="1600" b="1" i="1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30A80DC-2ED2-15DC-4C6C-DBBB057BD161}"/>
              </a:ext>
            </a:extLst>
          </p:cNvPr>
          <p:cNvSpPr txBox="1"/>
          <p:nvPr/>
        </p:nvSpPr>
        <p:spPr>
          <a:xfrm>
            <a:off x="5838825" y="2434947"/>
            <a:ext cx="90487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1" i="1" dirty="0">
                <a:latin typeface="D2Coding" panose="020B0609020101020101" pitchFamily="49" charset="-127"/>
                <a:ea typeface="D2Coding" panose="020B0609020101020101" pitchFamily="49" charset="-127"/>
              </a:rPr>
              <a:t>Nodes</a:t>
            </a:r>
            <a:endParaRPr lang="ko-KR" altLang="en-US" sz="1600" b="1" i="1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BA3384B-11C4-9E88-D86B-4AA39B1F63D5}"/>
              </a:ext>
            </a:extLst>
          </p:cNvPr>
          <p:cNvSpPr txBox="1"/>
          <p:nvPr/>
        </p:nvSpPr>
        <p:spPr>
          <a:xfrm>
            <a:off x="6886574" y="2434947"/>
            <a:ext cx="90487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1" i="1" dirty="0">
                <a:latin typeface="D2Coding" panose="020B0609020101020101" pitchFamily="49" charset="-127"/>
                <a:ea typeface="D2Coding" panose="020B0609020101020101" pitchFamily="49" charset="-127"/>
              </a:rPr>
              <a:t>Edges</a:t>
            </a:r>
            <a:endParaRPr lang="ko-KR" altLang="en-US" sz="1600" b="1" i="1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839608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D9E85E-6E21-7BD3-A1E0-46DA62D869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180E9FE8-D74A-C448-795A-40DB2A86AF0F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Creating a </a:t>
            </a:r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StateGraph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7838031E-1D73-E072-2C78-7C4CDEFF5F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77052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b="1" smtClean="0">
                <a:latin typeface="Tw Cen MT" panose="020B0602020104020603" pitchFamily="34" charset="0"/>
              </a:rPr>
              <a:pPr/>
              <a:t>9</a:t>
            </a:fld>
            <a:endParaRPr lang="en-US" b="1" dirty="0">
              <a:latin typeface="Tw Cen MT" panose="020B06020201040206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700465C-2F5B-2309-41EB-78D6B265D824}"/>
              </a:ext>
            </a:extLst>
          </p:cNvPr>
          <p:cNvSpPr txBox="1"/>
          <p:nvPr/>
        </p:nvSpPr>
        <p:spPr>
          <a:xfrm>
            <a:off x="560302" y="1390650"/>
            <a:ext cx="500649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dirty="0">
                <a:latin typeface="D2Coding" panose="020B0609020101020101" pitchFamily="49" charset="-127"/>
                <a:ea typeface="D2Coding" panose="020B0609020101020101" pitchFamily="49" charset="-127"/>
                <a:hlinkClick r:id="rId2"/>
              </a:rPr>
              <a:t>LangGraph </a:t>
            </a:r>
            <a:r>
              <a:rPr lang="ko-KR" altLang="en-US" sz="1600" b="1" dirty="0">
                <a:latin typeface="D2Coding" panose="020B0609020101020101" pitchFamily="49" charset="-127"/>
                <a:ea typeface="D2Coding" panose="020B0609020101020101" pitchFamily="49" charset="-127"/>
                <a:hlinkClick r:id="rId2"/>
              </a:rPr>
              <a:t>가이드북 </a:t>
            </a:r>
            <a:r>
              <a:rPr lang="en-US" altLang="ko-KR" sz="1600" b="1" dirty="0">
                <a:latin typeface="D2Coding" panose="020B0609020101020101" pitchFamily="49" charset="-127"/>
                <a:ea typeface="D2Coding" panose="020B0609020101020101" pitchFamily="49" charset="-127"/>
                <a:hlinkClick r:id="rId2"/>
              </a:rPr>
              <a:t>- </a:t>
            </a:r>
            <a:r>
              <a:rPr lang="ko-KR" altLang="en-US" sz="1600" b="1" dirty="0">
                <a:latin typeface="D2Coding" panose="020B0609020101020101" pitchFamily="49" charset="-127"/>
                <a:ea typeface="D2Coding" panose="020B0609020101020101" pitchFamily="49" charset="-127"/>
                <a:hlinkClick r:id="rId2"/>
              </a:rPr>
              <a:t>에이전트 </a:t>
            </a:r>
            <a:r>
              <a:rPr lang="en-US" altLang="ko-KR" sz="1600" b="1" dirty="0">
                <a:latin typeface="D2Coding" panose="020B0609020101020101" pitchFamily="49" charset="-127"/>
                <a:ea typeface="D2Coding" panose="020B0609020101020101" pitchFamily="49" charset="-127"/>
                <a:hlinkClick r:id="rId2"/>
              </a:rPr>
              <a:t>RAG with </a:t>
            </a:r>
            <a:r>
              <a:rPr lang="ko-KR" altLang="en-US" sz="1600" b="1" dirty="0" err="1">
                <a:latin typeface="D2Coding" panose="020B0609020101020101" pitchFamily="49" charset="-127"/>
                <a:ea typeface="D2Coding" panose="020B0609020101020101" pitchFamily="49" charset="-127"/>
                <a:hlinkClick r:id="rId2"/>
              </a:rPr>
              <a:t>랭그래프</a:t>
            </a:r>
            <a:endParaRPr lang="ko-KR" altLang="en-US" sz="1600" b="1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45953D6-D2F1-5736-331C-E81893260F6C}"/>
              </a:ext>
            </a:extLst>
          </p:cNvPr>
          <p:cNvSpPr txBox="1"/>
          <p:nvPr/>
        </p:nvSpPr>
        <p:spPr>
          <a:xfrm>
            <a:off x="560302" y="1729204"/>
            <a:ext cx="11071396" cy="4238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b="0" i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LangGraph</a:t>
            </a:r>
            <a:r>
              <a:rPr lang="ko-KR" altLang="en-US" sz="1600" b="0" i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는 대규모 언어 모델</a:t>
            </a:r>
            <a:r>
              <a:rPr lang="en-US" altLang="ko-KR" sz="1600" b="0" i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(LLM)</a:t>
            </a:r>
            <a:r>
              <a:rPr lang="ko-KR" altLang="en-US" sz="1600" b="0" i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기반으로 복잡한 워크플로우와 의사결정 프로세스를 구현하는 데 특화된 도구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454FAFD-4B46-AE6C-62EA-2FA2A3592270}"/>
              </a:ext>
            </a:extLst>
          </p:cNvPr>
          <p:cNvSpPr txBox="1"/>
          <p:nvPr/>
        </p:nvSpPr>
        <p:spPr>
          <a:xfrm>
            <a:off x="643398" y="2354445"/>
            <a:ext cx="10988300" cy="1815882"/>
          </a:xfrm>
          <a:prstGeom prst="rect">
            <a:avLst/>
          </a:prstGeom>
          <a:solidFill>
            <a:srgbClr val="76E3FF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from typing import Annotated,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TypedDict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from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langgraph.graph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import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StateGraph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START, END,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add_messages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lang="en-US" altLang="ko-KR" sz="1600" dirty="0"/>
              <a:t>1. State </a:t>
            </a:r>
            <a:r>
              <a:rPr lang="ko-KR" altLang="en-US" sz="1600" dirty="0"/>
              <a:t>정의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class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State(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TypedDict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):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  #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리듀서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add_messages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)가 작동하므로, 기존 리스트를 덮어쓰지 않고 뒤에 추가</a:t>
            </a:r>
          </a:p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messages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Annotated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[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list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add_messages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]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1E6A4EC-C9FB-C71A-13DD-14D4D2670BF8}"/>
              </a:ext>
            </a:extLst>
          </p:cNvPr>
          <p:cNvSpPr txBox="1"/>
          <p:nvPr/>
        </p:nvSpPr>
        <p:spPr>
          <a:xfrm>
            <a:off x="1281573" y="4265994"/>
            <a:ext cx="90487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1" i="1" dirty="0">
                <a:latin typeface="D2Coding" panose="020B0609020101020101" pitchFamily="49" charset="-127"/>
                <a:ea typeface="D2Coding" panose="020B0609020101020101" pitchFamily="49" charset="-127"/>
              </a:rPr>
              <a:t>State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575FD4D-01B2-F18C-E1EF-B29C00351EA2}"/>
              </a:ext>
            </a:extLst>
          </p:cNvPr>
          <p:cNvSpPr txBox="1"/>
          <p:nvPr/>
        </p:nvSpPr>
        <p:spPr>
          <a:xfrm>
            <a:off x="1800698" y="4739271"/>
            <a:ext cx="7457602" cy="135197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메모장 이름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: State class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메모장 안의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'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대화 기록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'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칸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: messages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그 칸의 관리 규칙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add_messages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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대화 기록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(messages)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이 들어왔을 때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기존 기록을 덮어쓰지 않고 차곡차곡 누적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(Append)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해 주는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리듀서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(Reducer)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함수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27" name="그림 26">
            <a:extLst>
              <a:ext uri="{FF2B5EF4-FFF2-40B4-BE49-F238E27FC236}">
                <a16:creationId xmlns:a16="http://schemas.microsoft.com/office/drawing/2014/main" id="{65C9D4B4-B49F-6E3D-2BB3-7727FDD283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1573" y="4649733"/>
            <a:ext cx="519125" cy="545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03395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43972E-AFEB-3B32-7A97-F0DD8682E0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FDA8EDE0-3973-73FC-B13E-8E9199C28DB2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Creating a </a:t>
            </a:r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StateGraph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4DF47B77-8D9A-E003-BBDA-FE41B70AE3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77052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b="1" smtClean="0">
                <a:latin typeface="Tw Cen MT" panose="020B0602020104020603" pitchFamily="34" charset="0"/>
              </a:rPr>
              <a:pPr/>
              <a:t>10</a:t>
            </a:fld>
            <a:endParaRPr lang="en-US" b="1" dirty="0">
              <a:latin typeface="Tw Cen MT" panose="020B0602020104020603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6FC8D80-9003-7A3D-AC44-C89FD16EAC36}"/>
              </a:ext>
            </a:extLst>
          </p:cNvPr>
          <p:cNvSpPr txBox="1"/>
          <p:nvPr/>
        </p:nvSpPr>
        <p:spPr>
          <a:xfrm>
            <a:off x="609599" y="1328481"/>
            <a:ext cx="10991851" cy="5016758"/>
          </a:xfrm>
          <a:prstGeom prst="rect">
            <a:avLst/>
          </a:prstGeom>
          <a:solidFill>
            <a:srgbClr val="76E3FF"/>
          </a:solidFill>
        </p:spPr>
        <p:txBody>
          <a:bodyPr wrap="square">
            <a:spAutoFit/>
          </a:bodyPr>
          <a:lstStyle/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# 2.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그래프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빌더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&amp;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모델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workflow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StateGraph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(State)</a:t>
            </a:r>
          </a:p>
          <a:p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model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ChatGroq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model_name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="llama-3.1-8b-instant",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temperature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=0)</a:t>
            </a:r>
          </a:p>
          <a:p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# 3.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노드 함수</a:t>
            </a:r>
          </a:p>
          <a:p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def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chatbot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state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: State):  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# Node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    # 상태(State) 메모장에 누적된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messages를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꺼내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LLM에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전달</a:t>
            </a:r>
          </a:p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answer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model.invoke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state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["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messages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"])</a:t>
            </a:r>
          </a:p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return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{"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messages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": [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answer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]}</a:t>
            </a:r>
          </a:p>
          <a:p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# 4.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노드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/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엣지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연결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workflow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add_node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("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chatbot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",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chatbot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workflow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add_edge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(START, "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chatbot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")</a:t>
            </a:r>
          </a:p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workflow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add_edge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("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chatbot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", END)</a:t>
            </a:r>
          </a:p>
          <a:p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# 5.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컴파일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&amp;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실행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app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workflow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compile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()</a:t>
            </a:r>
          </a:p>
          <a:p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input_data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= {"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messages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": [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HumanMessage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("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hi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!")]}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for chunk in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app.stream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input_data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):</a:t>
            </a:r>
          </a:p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    print(chunk)</a:t>
            </a:r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5AD7E75C-9C54-2DBE-5F37-1B3C5ACBD6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62774" y="3031953"/>
            <a:ext cx="1400501" cy="2122635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D25D64EC-B539-49B7-A71A-C97E5FABDF00}"/>
              </a:ext>
            </a:extLst>
          </p:cNvPr>
          <p:cNvSpPr txBox="1"/>
          <p:nvPr/>
        </p:nvSpPr>
        <p:spPr>
          <a:xfrm>
            <a:off x="9021547" y="5242082"/>
            <a:ext cx="248295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Single turn chatbot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E4F4987-16CF-9857-FBDF-53CFF912B92D}"/>
              </a:ext>
            </a:extLst>
          </p:cNvPr>
          <p:cNvSpPr txBox="1"/>
          <p:nvPr/>
        </p:nvSpPr>
        <p:spPr>
          <a:xfrm>
            <a:off x="6467475" y="3852249"/>
            <a:ext cx="299691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1" i="1" dirty="0">
                <a:latin typeface="D2Coding" panose="020B0609020101020101" pitchFamily="49" charset="-127"/>
                <a:ea typeface="D2Coding" panose="020B0609020101020101" pitchFamily="49" charset="-127"/>
              </a:rPr>
              <a:t>Node = chatbot(state: State)</a:t>
            </a:r>
            <a:endParaRPr lang="ko-KR" altLang="en-US" sz="1600" b="1" i="1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728053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F3A1AC-D16A-B3C1-BB8A-75F2300FC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452629CE-8485-34E9-CC59-EF91857AE6A3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Adding Memory to </a:t>
            </a:r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StateGraph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45DB68DE-1970-16AA-79B0-4BD6F149F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77052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b="1" smtClean="0">
                <a:latin typeface="Tw Cen MT" panose="020B0602020104020603" pitchFamily="34" charset="0"/>
              </a:rPr>
              <a:pPr/>
              <a:t>11</a:t>
            </a:fld>
            <a:endParaRPr lang="en-US" b="1" dirty="0">
              <a:latin typeface="Tw Cen MT" panose="020B06020201040206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3EA6403-6544-EA69-0B9D-54426068E463}"/>
              </a:ext>
            </a:extLst>
          </p:cNvPr>
          <p:cNvSpPr txBox="1"/>
          <p:nvPr/>
        </p:nvSpPr>
        <p:spPr>
          <a:xfrm>
            <a:off x="566435" y="1335804"/>
            <a:ext cx="11059130" cy="41171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체크포인터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Checkpointer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 =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AI의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하드디스크: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add_messages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규칙을 통해 State 메모장에 대화를 적었지만 프로그램이 꺼지면 메모장도 날아가 버림 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체크포인터는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이 메모장 내용을 데이터베이스(DB)에 안전하게 저장해 두는 저장소 어댑터 역할을 하게 되어 사용자가 나중에 다시 접속해도 이전 대화를 기억할 수 있음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(memory persistence)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용도에 맞는 3가지 어댑터 지원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인메모리: 컴퓨터 램(RAM)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에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임시로 저장하는 방식 (테스트용, 끄면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지워짐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SQLite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: 내 컴퓨터 파일로 저장하는 방식 (가벼운 로컬 앱 개발용)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Postgres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: 실제 서비스 운영 환경에서 대용량 데이터를 안전하게 저장하는 방식 (실전 서버용)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A7925BB-0F2A-5B8F-07BA-D51F9C36A4AD}"/>
              </a:ext>
            </a:extLst>
          </p:cNvPr>
          <p:cNvSpPr txBox="1"/>
          <p:nvPr/>
        </p:nvSpPr>
        <p:spPr>
          <a:xfrm>
            <a:off x="1438274" y="3055826"/>
            <a:ext cx="7153275" cy="33855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MemorySaver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() = DB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입출력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+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상태 복원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'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작업 자동화 모듈 </a:t>
            </a:r>
          </a:p>
        </p:txBody>
      </p:sp>
    </p:spTree>
    <p:extLst>
      <p:ext uri="{BB962C8B-B14F-4D97-AF65-F5344CB8AC3E}">
        <p14:creationId xmlns:p14="http://schemas.microsoft.com/office/powerpoint/2010/main" val="26286881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DE339C-63D5-5C9A-DA7D-C243CCFA41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87EC7FCA-1B7E-BF58-4609-E5189C079C01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Building a Chatbot Memory System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9D4A994B-D9B7-2E2B-44F4-20BBC4A568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77052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b="1" smtClean="0">
                <a:latin typeface="Tw Cen MT" panose="020B0602020104020603" pitchFamily="34" charset="0"/>
              </a:rPr>
              <a:pPr/>
              <a:t>12</a:t>
            </a:fld>
            <a:endParaRPr lang="en-US" b="1" dirty="0">
              <a:latin typeface="Tw Cen MT" panose="020B06020201040206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BC0156A-1FCF-546E-E022-8E99A383F2A5}"/>
              </a:ext>
            </a:extLst>
          </p:cNvPr>
          <p:cNvSpPr txBox="1"/>
          <p:nvPr/>
        </p:nvSpPr>
        <p:spPr>
          <a:xfrm>
            <a:off x="609599" y="1328481"/>
            <a:ext cx="10991851" cy="4278094"/>
          </a:xfrm>
          <a:prstGeom prst="rect">
            <a:avLst/>
          </a:prstGeom>
          <a:solidFill>
            <a:srgbClr val="76E3FF"/>
          </a:solidFill>
        </p:spPr>
        <p:txBody>
          <a:bodyPr wrap="square">
            <a:spAutoFit/>
          </a:bodyPr>
          <a:lstStyle/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from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langgraph.checkpoint.memory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import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MemorySaver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# 5. Add persistence with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MemorySaver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graph =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workflow.compile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checkpointer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=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MemorySaver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())</a:t>
            </a:r>
          </a:p>
          <a:p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# 6. Configure thread</a:t>
            </a:r>
          </a:p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thread1 = {“configurable”: {“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thread_id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”: “1”}}</a:t>
            </a:r>
          </a:p>
          <a:p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# Run with persistence</a:t>
            </a:r>
          </a:p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result_1 =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graph.invoke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({“messages”: [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HumanMessage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(“hi, my name is Jack!”)]}, thread1)</a:t>
            </a:r>
          </a:p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print(result_1)</a:t>
            </a:r>
          </a:p>
          <a:p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result_2 =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graph.invoke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({"messages": [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HumanMessage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("what is my name?")]}, thread1)</a:t>
            </a:r>
          </a:p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print(result_2)</a:t>
            </a:r>
          </a:p>
          <a:p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# Get state</a:t>
            </a:r>
          </a:p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print(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graph.get_state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(thread1))</a:t>
            </a:r>
          </a:p>
        </p:txBody>
      </p:sp>
    </p:spTree>
    <p:extLst>
      <p:ext uri="{BB962C8B-B14F-4D97-AF65-F5344CB8AC3E}">
        <p14:creationId xmlns:p14="http://schemas.microsoft.com/office/powerpoint/2010/main" val="5991001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1AC1F1-D9AC-E509-4C22-685FFC907D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4E29F78E-7939-F985-397A-7E680D57DE06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Modifying Chat History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A0E5E7E9-8102-58B0-8A11-A20AC37F3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77052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b="1" smtClean="0">
                <a:latin typeface="Tw Cen MT" panose="020B0602020104020603" pitchFamily="34" charset="0"/>
              </a:rPr>
              <a:pPr/>
              <a:t>13</a:t>
            </a:fld>
            <a:endParaRPr lang="en-US" b="1" dirty="0">
              <a:latin typeface="Tw Cen MT" panose="020B06020201040206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F4A7F0C-275A-C36F-233E-35E09A048EAA}"/>
              </a:ext>
            </a:extLst>
          </p:cNvPr>
          <p:cNvSpPr txBox="1"/>
          <p:nvPr/>
        </p:nvSpPr>
        <p:spPr>
          <a:xfrm>
            <a:off x="1560464" y="3639432"/>
            <a:ext cx="6413498" cy="1677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Trimming Messages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Filtering Messages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Merging Consecutive Messages</a:t>
            </a: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4D62D85-C69D-209A-CCCD-2E71B9E4ADA6}"/>
              </a:ext>
            </a:extLst>
          </p:cNvPr>
          <p:cNvSpPr txBox="1"/>
          <p:nvPr/>
        </p:nvSpPr>
        <p:spPr>
          <a:xfrm>
            <a:off x="561975" y="1248422"/>
            <a:ext cx="10982930" cy="19011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LLM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은 프롬프트로 받을 수 있는 토큰의 최대 개수가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제한된 컨텍스트 윈도우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(context window)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때문에 모델에 전달되는 최종 프롬프트는 해당 한계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각 모델마다 다름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를 초과해서는 안 됨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이를 해결하기 위해 메시지 잘라내기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(Trim Messages),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대화 요약하기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(Summarize Messages), RAG/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벡터 저장소 활용하여 관련 있는 정보만 추출하는 방법</a:t>
            </a:r>
          </a:p>
        </p:txBody>
      </p:sp>
    </p:spTree>
    <p:extLst>
      <p:ext uri="{BB962C8B-B14F-4D97-AF65-F5344CB8AC3E}">
        <p14:creationId xmlns:p14="http://schemas.microsoft.com/office/powerpoint/2010/main" val="16010775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3EFAAE-921F-7301-A437-D4BF52A643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6DD854D0-4E9B-9B75-66A0-574DEBCECFF8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Summary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B16CAF76-5658-8BB6-B292-3D42C18BD6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77052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b="1" smtClean="0">
                <a:latin typeface="Tw Cen MT" panose="020B0602020104020603" pitchFamily="34" charset="0"/>
              </a:rPr>
              <a:pPr/>
              <a:t>14</a:t>
            </a:fld>
            <a:endParaRPr lang="en-US" b="1" dirty="0">
              <a:latin typeface="Tw Cen MT" panose="020B06020201040206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7BBF1ED-D821-DCF6-C3B7-5C1C0CB72A20}"/>
              </a:ext>
            </a:extLst>
          </p:cNvPr>
          <p:cNvSpPr txBox="1"/>
          <p:nvPr/>
        </p:nvSpPr>
        <p:spPr>
          <a:xfrm>
            <a:off x="700086" y="2279720"/>
            <a:ext cx="11091863" cy="37478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b="1" dirty="0">
                <a:latin typeface="D2Coding" panose="020B0609020101020101" pitchFamily="49" charset="-127"/>
                <a:ea typeface="D2Coding" panose="020B0609020101020101" pitchFamily="49" charset="-127"/>
              </a:rPr>
              <a:t>State &amp; </a:t>
            </a:r>
            <a:r>
              <a:rPr lang="ko-KR" altLang="en-US" sz="1600" b="1" dirty="0" err="1">
                <a:latin typeface="D2Coding" panose="020B0609020101020101" pitchFamily="49" charset="-127"/>
                <a:ea typeface="D2Coding" panose="020B0609020101020101" pitchFamily="49" charset="-127"/>
              </a:rPr>
              <a:t>Node</a:t>
            </a:r>
            <a:r>
              <a:rPr lang="ko-KR" altLang="en-US" sz="1600" b="1" dirty="0">
                <a:latin typeface="D2Coding" panose="020B0609020101020101" pitchFamily="49" charset="-127"/>
                <a:ea typeface="D2Coding" panose="020B0609020101020101" pitchFamily="49" charset="-127"/>
              </a:rPr>
              <a:t> (</a:t>
            </a:r>
            <a:r>
              <a:rPr lang="ko-KR" altLang="en-US" sz="1600" b="1" dirty="0" err="1">
                <a:latin typeface="D2Coding" panose="020B0609020101020101" pitchFamily="49" charset="-127"/>
                <a:ea typeface="D2Coding" panose="020B0609020101020101" pitchFamily="49" charset="-127"/>
              </a:rPr>
              <a:t>chatbot</a:t>
            </a:r>
            <a:r>
              <a:rPr lang="ko-KR" altLang="en-US" sz="1600" b="1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b="1" dirty="0" err="1">
                <a:latin typeface="D2Coding" panose="020B0609020101020101" pitchFamily="49" charset="-127"/>
                <a:ea typeface="D2Coding" panose="020B0609020101020101" pitchFamily="49" charset="-127"/>
              </a:rPr>
              <a:t>add_messages</a:t>
            </a:r>
            <a:r>
              <a:rPr lang="ko-KR" altLang="en-US" sz="1600" b="1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그래프의 일꾼인 노드(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Node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)와 메모장인 State, 그리고 메모가 쌓이게 돕는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add_messages의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개념 이해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b="1" dirty="0">
                <a:latin typeface="D2Coding" panose="020B0609020101020101" pitchFamily="49" charset="-127"/>
                <a:ea typeface="D2Coding" panose="020B0609020101020101" pitchFamily="49" charset="-127"/>
              </a:rPr>
              <a:t>지속성 및 스레드 (</a:t>
            </a:r>
            <a:r>
              <a:rPr lang="ko-KR" altLang="en-US" sz="1600" b="1" dirty="0" err="1">
                <a:latin typeface="D2Coding" panose="020B0609020101020101" pitchFamily="49" charset="-127"/>
                <a:ea typeface="D2Coding" panose="020B0609020101020101" pitchFamily="49" charset="-127"/>
              </a:rPr>
              <a:t>MemorySaver</a:t>
            </a:r>
            <a:r>
              <a:rPr lang="ko-KR" altLang="en-US" sz="1600" b="1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b="1" dirty="0" err="1">
                <a:latin typeface="D2Coding" panose="020B0609020101020101" pitchFamily="49" charset="-127"/>
                <a:ea typeface="D2Coding" panose="020B0609020101020101" pitchFamily="49" charset="-127"/>
              </a:rPr>
              <a:t>thread_id</a:t>
            </a:r>
            <a:r>
              <a:rPr lang="ko-KR" altLang="en-US" sz="1600" b="1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DB연결을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자동화하는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체크포인터와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사용자별 대화방을 독립적으로 격리해 주는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thread_id의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역할을 이해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b="1" dirty="0">
                <a:latin typeface="D2Coding" panose="020B0609020101020101" pitchFamily="49" charset="-127"/>
                <a:ea typeface="D2Coding" panose="020B0609020101020101" pitchFamily="49" charset="-127"/>
              </a:rPr>
              <a:t>메모리 최적화 기법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trim_messages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: LLM 컨텍스트 한도를 넘지 않게 최신 메시지 위주로 자르기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filter_messages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: 필요한 메시지 타입(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HumanMessage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등)만 쏙 뼈대만 추리기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merge_message_runs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: 연속으로 들어온 같은 타입의 메시지를 하나로 깔끔하게 뭉치기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7B363A0-74EA-1D39-0768-C82525B58C01}"/>
              </a:ext>
            </a:extLst>
          </p:cNvPr>
          <p:cNvSpPr txBox="1"/>
          <p:nvPr/>
        </p:nvSpPr>
        <p:spPr>
          <a:xfrm>
            <a:off x="581024" y="1334185"/>
            <a:ext cx="109823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텍스트로 대화만 주고받는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'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수동적인 </a:t>
            </a:r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</a:rPr>
              <a:t>챗봇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'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의 단계를 이해하고 실습 완료</a:t>
            </a:r>
          </a:p>
        </p:txBody>
      </p:sp>
    </p:spTree>
    <p:extLst>
      <p:ext uri="{BB962C8B-B14F-4D97-AF65-F5344CB8AC3E}">
        <p14:creationId xmlns:p14="http://schemas.microsoft.com/office/powerpoint/2010/main" val="806590529"/>
      </p:ext>
    </p:extLst>
  </p:cSld>
  <p:clrMapOvr>
    <a:masterClrMapping/>
  </p:clrMapOvr>
</p:sld>
</file>

<file path=ppt/theme/theme1.xml><?xml version="1.0" encoding="utf-8"?>
<a:theme xmlns:a="http://schemas.openxmlformats.org/drawingml/2006/main" name="WelcomeDoc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60957323_TF10001108_Win32.potx" id="{89E2DA47-811B-41FC-8101-7BA0FB62AE2C}" vid="{0AAAB8A4-2457-4279-BA92-56392840B1F0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{9FD8D820-F221-4C2D-97F8-71B66FDCF583}TF2989475c-5427-4edb-9ec1-00f4ce72165be756b0ce_win32-2ff1dad8fff0</Template>
  <TotalTime>15700</TotalTime>
  <Words>1122</Words>
  <Application>Microsoft Office PowerPoint</Application>
  <PresentationFormat>와이드스크린</PresentationFormat>
  <Paragraphs>149</Paragraphs>
  <Slides>14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21" baseType="lpstr">
      <vt:lpstr>D2Coding</vt:lpstr>
      <vt:lpstr>맑은 고딕</vt:lpstr>
      <vt:lpstr>바탕</vt:lpstr>
      <vt:lpstr>Arial</vt:lpstr>
      <vt:lpstr>Tw Cen MT</vt:lpstr>
      <vt:lpstr>Wingdings</vt:lpstr>
      <vt:lpstr>WelcomeDoc</vt:lpstr>
      <vt:lpstr>CHAPTER 4 Using LangGraph to Add Memory to Your Chatbot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조상구</dc:creator>
  <cp:keywords/>
  <cp:lastModifiedBy>Sanggoo Cho</cp:lastModifiedBy>
  <cp:revision>219</cp:revision>
  <dcterms:created xsi:type="dcterms:W3CDTF">2026-04-06T01:00:39Z</dcterms:created>
  <dcterms:modified xsi:type="dcterms:W3CDTF">2026-07-21T01:43:49Z</dcterms:modified>
  <cp:version/>
</cp:coreProperties>
</file>