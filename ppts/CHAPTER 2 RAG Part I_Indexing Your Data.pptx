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5"/>
  </p:notesMasterIdLst>
  <p:handoutMasterIdLst>
    <p:handoutMasterId r:id="rId26"/>
  </p:handoutMasterIdLst>
  <p:sldIdLst>
    <p:sldId id="256" r:id="rId2"/>
    <p:sldId id="1138" r:id="rId3"/>
    <p:sldId id="1139" r:id="rId4"/>
    <p:sldId id="1155" r:id="rId5"/>
    <p:sldId id="1156" r:id="rId6"/>
    <p:sldId id="1158" r:id="rId7"/>
    <p:sldId id="1157" r:id="rId8"/>
    <p:sldId id="1159" r:id="rId9"/>
    <p:sldId id="1140" r:id="rId10"/>
    <p:sldId id="1141" r:id="rId11"/>
    <p:sldId id="1142" r:id="rId12"/>
    <p:sldId id="1143" r:id="rId13"/>
    <p:sldId id="1145" r:id="rId14"/>
    <p:sldId id="1144" r:id="rId15"/>
    <p:sldId id="1146" r:id="rId16"/>
    <p:sldId id="1147" r:id="rId17"/>
    <p:sldId id="1148" r:id="rId18"/>
    <p:sldId id="1149" r:id="rId19"/>
    <p:sldId id="1154" r:id="rId20"/>
    <p:sldId id="1153" r:id="rId21"/>
    <p:sldId id="1150" r:id="rId22"/>
    <p:sldId id="1151" r:id="rId23"/>
    <p:sldId id="1152" r:id="rId2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8"/>
            <p14:sldId id="1139"/>
            <p14:sldId id="1155"/>
            <p14:sldId id="1156"/>
            <p14:sldId id="1158"/>
            <p14:sldId id="1157"/>
            <p14:sldId id="1159"/>
            <p14:sldId id="1140"/>
            <p14:sldId id="1141"/>
            <p14:sldId id="1142"/>
            <p14:sldId id="1143"/>
            <p14:sldId id="1145"/>
            <p14:sldId id="1144"/>
            <p14:sldId id="1146"/>
            <p14:sldId id="1147"/>
            <p14:sldId id="1148"/>
            <p14:sldId id="1149"/>
            <p14:sldId id="1154"/>
            <p14:sldId id="1153"/>
            <p14:sldId id="1150"/>
            <p14:sldId id="1151"/>
            <p14:sldId id="1152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c.gov/Archives/edgar/data/1318605/000095017023001409/tsla-20221231.htm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text.CountVectorizer.html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hyperlink" Target="https://word2vec.kr/search/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humanloop.com/blog/rag-architectures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langchain.com/oss/javascript/deepagents/rag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2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Part I: Indexing Your Data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</a:t>
            </a:fld>
            <a:endParaRPr lang="en-US" sz="1400" b="1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F3E3F8-C9F6-B196-98B4-3CC4BD8CE8BE}"/>
              </a:ext>
            </a:extLst>
          </p:cNvPr>
          <p:cNvSpPr txBox="1"/>
          <p:nvPr/>
        </p:nvSpPr>
        <p:spPr>
          <a:xfrm>
            <a:off x="542406" y="1743722"/>
            <a:ext cx="11173949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최신 정보를 알지 못하는 지식 컷오프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(Knowledge Cutoff):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지식이 멈춘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유통기한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시점으로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지식 컷오프가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월이라면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년에 일어난 뉴스나 사건을 알지 못하고 엉뚱한 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(Hallucination)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데이터가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페이지일 때 질문할 때마다 프롬프트에 그 내용을 통째로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붙여넣기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모델에 넘기면 해결되니 번거로운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것 이외에는 기술적 고민이나 복잡한 아키텍처가 전혀 필요 없지만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넣을 건가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(Chunk)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고르기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D86A5-D250-C10A-3338-DBAB46ED1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6B2170F-4EF3-5F5C-ECA5-83431A3B88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Why RAG?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B27603-1B8D-99CB-B7B7-DE45EB336F65}"/>
              </a:ext>
            </a:extLst>
          </p:cNvPr>
          <p:cNvSpPr txBox="1"/>
          <p:nvPr/>
        </p:nvSpPr>
        <p:spPr>
          <a:xfrm>
            <a:off x="667267" y="1248422"/>
            <a:ext cx="9076807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r>
              <a:rPr lang="en-US" altLang="ko-KR" sz="16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방대한 텍스트 중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사용자의 질문에 답변하는 데 가장 관련성이 높은 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진짜 정답 조각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어떻게 찾아내어 프롬프트에 넣어줄 것인가</a:t>
            </a:r>
            <a:r>
              <a:rPr lang="en-US" altLang="ko-KR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4EBF23-6200-C218-6400-CBB4E99AFDCF}"/>
              </a:ext>
            </a:extLst>
          </p:cNvPr>
          <p:cNvSpPr txBox="1"/>
          <p:nvPr/>
        </p:nvSpPr>
        <p:spPr>
          <a:xfrm>
            <a:off x="581025" y="3515916"/>
            <a:ext cx="10972800" cy="273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Indexing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- 문서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및 색인)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컴퓨터와 LLM 기반 애플리케이션이 질문에 맞는 문서를 빛의 속도로 찾을 수 있도록 데이터를 미리 구조화하고 정리하는 작업. (마치 책 맨 뒤의 '찾아보기/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색인'을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만드는 과정)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검색 및 활용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질문을 던지면, 1단계에서 만든 인덱스에서 가장 관련성 높은 데이터 조각을 찾아내어(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컨텍스트(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제공하여 정확한 답변을 생성(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)하게 만드는 과정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936BC5A-E305-93C5-7A71-6101DF0E12B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3</a:t>
            </a:fld>
            <a:endParaRPr lang="en-US" sz="1400" b="1" dirty="0"/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4782B5BD-50D0-1498-2079-329BC66A8808}"/>
              </a:ext>
            </a:extLst>
          </p:cNvPr>
          <p:cNvSpPr/>
          <p:nvPr/>
        </p:nvSpPr>
        <p:spPr>
          <a:xfrm>
            <a:off x="4933950" y="2677791"/>
            <a:ext cx="714375" cy="705073"/>
          </a:xfrm>
          <a:prstGeom prst="downArrow">
            <a:avLst>
              <a:gd name="adj1" fmla="val 5392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5850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31" y="1391684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4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5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4A32C-2152-12F4-A8F0-666AB8622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1E68638-B68E-6459-C7A8-F788CD248A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9C7AF9F4-C578-8234-49CB-DED94394596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7C23D4-334C-7049-9BB5-22C79D4F33B7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51420DA4-D829-D7F0-22FB-6FECFF495D8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</a:t>
            </a:fld>
            <a:endParaRPr lang="en-US" sz="14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2EADC1-28AC-A8C3-377D-0AA908DD7AD1}"/>
              </a:ext>
            </a:extLst>
          </p:cNvPr>
          <p:cNvSpPr txBox="1"/>
          <p:nvPr/>
        </p:nvSpPr>
        <p:spPr>
          <a:xfrm>
            <a:off x="637312" y="1726488"/>
            <a:ext cx="10983188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--- 1. Data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문서를 텍스트로 변환 ---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('./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test.txt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encoding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="utf-8")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loader.load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--- 2. Data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Splitting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텍스트를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청크로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분할 ---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splitter.split_documents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접속 정보 설정 ---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supakey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 = "https://qctwuimxnppnzmjcnluc.supabase.co" # 본인 프로젝트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교체</a:t>
            </a:r>
          </a:p>
          <a:p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(SUPABASE_URL, SUPABASE_KEY)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클라이언트 생성</a:t>
            </a:r>
            <a:endParaRPr lang="ko-KR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--- 3. Data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모델 소환 (로컬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모델) ---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embed_model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--- 4. Data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Storing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VectorDB에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적재 ---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SQL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Editor에서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테이블를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(384) 차원으로 미리 생성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(all-MiniLM-L6-v2 = 384차원)</a:t>
            </a:r>
          </a:p>
          <a:p>
            <a:pPr marL="0" marR="0" indent="0" algn="l">
              <a:buNone/>
            </a:pP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embed_model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0" marR="0" indent="0" algn="l"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	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table_name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 marL="0" marR="0" indent="0"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			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query_name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match_documents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pPr marL="0" marR="0" indent="0"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			</a:t>
            </a:r>
            <a:r>
              <a:rPr lang="ko-KR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1D3B40-BB43-63A8-1F2C-37F92EA35FF5}"/>
              </a:ext>
            </a:extLst>
          </p:cNvPr>
          <p:cNvSpPr txBox="1"/>
          <p:nvPr/>
        </p:nvSpPr>
        <p:spPr>
          <a:xfrm>
            <a:off x="637312" y="1382604"/>
            <a:ext cx="10983188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→ Data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→ Data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Splitting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→ Data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→ Data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Storing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DB: </a:t>
            </a:r>
            <a:r>
              <a:rPr lang="ko-KR" altLang="ko-KR" sz="160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60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93248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04A62-AA69-3FF8-6D99-FCADB6BEE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DA34C3E-65F8-4E97-55C8-2C22F6A5DF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5F8A587-8418-5BA2-AD9B-E65AA9954F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277561-8DEB-B3F8-69CA-04307D02C552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B69542F-8C58-54D9-481B-59B6BC95229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8</a:t>
            </a:fld>
            <a:endParaRPr lang="en-US" sz="1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08DBBA-E889-28BB-B45D-F68CD6328731}"/>
              </a:ext>
            </a:extLst>
          </p:cNvPr>
          <p:cNvSpPr txBox="1"/>
          <p:nvPr/>
        </p:nvSpPr>
        <p:spPr>
          <a:xfrm>
            <a:off x="637312" y="1726488"/>
            <a:ext cx="10983188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en-US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ko-KR" sz="14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Retrieval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-K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랭체인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db.similarity_search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k=2)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"- 내용: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doc.page_content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| 출처: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doc.metadata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-K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→ LLM(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→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langchain_groq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ChatGroq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설정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Colab의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경우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사용, 로컬이면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os.environ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등으로 대체)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GROQ_API_KEY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('GROQ_API_KEY')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ChatGroq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="llama-3.3-70b-versatile", # 필요에 따라 다른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교체 가능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groq_api_key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=GROQ_API_KEY,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emperature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=0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"\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\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".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doc.page_content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"""다음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컨텍스트만을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참고하여 질문에 답하세요. 컨텍스트에 없는 내용은 모른다고 답하세요.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[컨텍스트]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[질문]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"""</a:t>
            </a: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llm.invoke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response.content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9F9B94-B663-F7DD-2A9C-DEE4C528370D}"/>
              </a:ext>
            </a:extLst>
          </p:cNvPr>
          <p:cNvSpPr txBox="1"/>
          <p:nvPr/>
        </p:nvSpPr>
        <p:spPr>
          <a:xfrm>
            <a:off x="637312" y="1382604"/>
            <a:ext cx="10983188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DB(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Retrieval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Top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-K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Chunks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→ LLM → </a:t>
            </a:r>
            <a:r>
              <a:rPr lang="ko-KR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Response</a:t>
            </a:r>
            <a:endParaRPr lang="ko-KR" altLang="ko-KR" sz="1400" b="1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3604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Goal: Picking Relevant Context for LLMs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48422"/>
            <a:ext cx="109728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Ingestion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is simply the process of converting your documents into numbers that computers can understand and analyze, and storing them in a special type of database for efficient retrieval. 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642E58B-10CC-8E33-F868-76BDE8BDD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8" y="2714624"/>
            <a:ext cx="7639100" cy="26765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4036C3-6CE1-9412-61CB-8AA26EABCFD4}"/>
              </a:ext>
            </a:extLst>
          </p:cNvPr>
          <p:cNvSpPr txBox="1"/>
          <p:nvPr/>
        </p:nvSpPr>
        <p:spPr>
          <a:xfrm>
            <a:off x="8458199" y="2714625"/>
            <a:ext cx="3324225" cy="2833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Extract the text from the document.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Split the text into manageable chunks.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Convert the text into numbers that computers can understand.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Store these number representations of your text somewhere that makes it easy and fast to retrieve the relevant sections of your document to answer a given question.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0870DB-7FC7-C2F1-AC9D-0DCF09FD92E6}"/>
              </a:ext>
            </a:extLst>
          </p:cNvPr>
          <p:cNvSpPr txBox="1"/>
          <p:nvPr/>
        </p:nvSpPr>
        <p:spPr>
          <a:xfrm>
            <a:off x="885826" y="2905780"/>
            <a:ext cx="14287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Tesla’s 2022 annual report</a:t>
            </a:r>
            <a:endParaRPr lang="ko-KR" altLang="en-US" sz="14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7C5159-309F-23EC-ADB3-6FAB4DCD08BE}"/>
              </a:ext>
            </a:extLst>
          </p:cNvPr>
          <p:cNvSpPr txBox="1"/>
          <p:nvPr/>
        </p:nvSpPr>
        <p:spPr>
          <a:xfrm>
            <a:off x="1112771" y="5788190"/>
            <a:ext cx="429577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“What key risks did Tesla face in 2022?”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웹 디자인">
            <a:extLst>
              <a:ext uri="{FF2B5EF4-FFF2-40B4-BE49-F238E27FC236}">
                <a16:creationId xmlns:a16="http://schemas.microsoft.com/office/drawing/2014/main" id="{2390334E-00AF-997C-7435-855CCD58A0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9184" y="5686662"/>
            <a:ext cx="543335" cy="54333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164DB67-877E-2766-2071-AB2439A150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9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36070-2CC2-66E6-DD08-B216F753E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316F6E-B76D-919F-CACA-216763CBE6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E20299-24BC-EE2D-485F-A75920529068}"/>
              </a:ext>
            </a:extLst>
          </p:cNvPr>
          <p:cNvSpPr txBox="1"/>
          <p:nvPr/>
        </p:nvSpPr>
        <p:spPr>
          <a:xfrm>
            <a:off x="552450" y="1248422"/>
            <a:ext cx="1106805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문장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하나의 길고 연속된 숫자 배열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변환하는 기술로 손실 압축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(Lossy 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되어 숫자로 바꾸는 과정에서 정보가 일부 유실되므로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숫자만 보고 원래 텍스트를 완벽하게 복원하는 것은 불가능하기 때문에 원문 텍스트와 변환된 숫자 배열을 동시에 저장하는 것이 일반적임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8F55DA5-9B2C-D743-42D8-2D3A6D9CE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772" y="2890231"/>
            <a:ext cx="5027556" cy="35230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C177282-FA62-1671-F445-07B785A60FEB}"/>
              </a:ext>
            </a:extLst>
          </p:cNvPr>
          <p:cNvSpPr txBox="1"/>
          <p:nvPr/>
        </p:nvSpPr>
        <p:spPr>
          <a:xfrm>
            <a:off x="5962651" y="2582454"/>
            <a:ext cx="4648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sklearn.feature_extraction.text.CountVectorizer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31A12F-8BAC-51AF-0C3A-57BB35C131A8}"/>
              </a:ext>
            </a:extLst>
          </p:cNvPr>
          <p:cNvSpPr txBox="1"/>
          <p:nvPr/>
        </p:nvSpPr>
        <p:spPr>
          <a:xfrm>
            <a:off x="571502" y="3865832"/>
            <a:ext cx="4648199" cy="116249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What a sunny 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Such bright skies today.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 haven’t seen a sunny day in weeks.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8" name="그래픽 17" descr="시계 방향으로 굽은 줄 화살표">
            <a:extLst>
              <a:ext uri="{FF2B5EF4-FFF2-40B4-BE49-F238E27FC236}">
                <a16:creationId xmlns:a16="http://schemas.microsoft.com/office/drawing/2014/main" id="{055100B4-C405-A0C3-26BB-81F67B995E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5048251" y="2992168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73D6CFB-E03C-46C7-55BF-41104DB29EA1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3154510-4BE7-5B2E-FA3B-26FFA7F010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10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967838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DAD8E-817C-3E4B-143B-51A72B003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E8235B-A26E-8524-42D9-C62BA9C05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5B9EBB-2E66-082D-EA15-D31933E2D58A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EFD2314-C375-B0E6-9A67-498A2AD4C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3376" y="2841595"/>
            <a:ext cx="4686300" cy="2694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A2C1598-4E5C-FFC2-0164-1F80C2838B1C}"/>
              </a:ext>
            </a:extLst>
          </p:cNvPr>
          <p:cNvSpPr txBox="1"/>
          <p:nvPr/>
        </p:nvSpPr>
        <p:spPr>
          <a:xfrm>
            <a:off x="1821656" y="2432427"/>
            <a:ext cx="2883694" cy="374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en-US" altLang="ko-KR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Bag-of-Words algorithm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6E6BED-D1C7-5B12-63BC-A7CC9B130F97}"/>
              </a:ext>
            </a:extLst>
          </p:cNvPr>
          <p:cNvSpPr txBox="1"/>
          <p:nvPr/>
        </p:nvSpPr>
        <p:spPr>
          <a:xfrm>
            <a:off x="1023376" y="5672691"/>
            <a:ext cx="4605899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250"/>
              </a:lnSpc>
              <a:buFont typeface="Wingdings" panose="05000000000000000000" pitchFamily="2" charset="2"/>
              <a:buChar char="§"/>
            </a:pPr>
            <a:r>
              <a:rPr lang="en-US" altLang="ko-KR" sz="1600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Bag-of-N grams algorithm</a:t>
            </a:r>
          </a:p>
          <a:p>
            <a:pPr marL="285750" indent="-285750">
              <a:lnSpc>
                <a:spcPts val="225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242424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TF-IDF algorithm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20AD1A-9057-226C-BDF3-65256712E4FE}"/>
              </a:ext>
            </a:extLst>
          </p:cNvPr>
          <p:cNvSpPr txBox="1"/>
          <p:nvPr/>
        </p:nvSpPr>
        <p:spPr>
          <a:xfrm>
            <a:off x="7648575" y="3017294"/>
            <a:ext cx="4029075" cy="1448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희소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(Sparse Embedding)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의미인식 불가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(No Semantic Embedding)</a:t>
            </a:r>
          </a:p>
          <a:p>
            <a:pPr lvl="1">
              <a:lnSpc>
                <a:spcPct val="20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bright skies, sunny day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화살표: 줄무늬가 있는 오른쪽 26">
            <a:extLst>
              <a:ext uri="{FF2B5EF4-FFF2-40B4-BE49-F238E27FC236}">
                <a16:creationId xmlns:a16="http://schemas.microsoft.com/office/drawing/2014/main" id="{B0B89421-3C18-1368-F3CA-D73E197124E2}"/>
              </a:ext>
            </a:extLst>
          </p:cNvPr>
          <p:cNvSpPr/>
          <p:nvPr/>
        </p:nvSpPr>
        <p:spPr>
          <a:xfrm>
            <a:off x="6153151" y="3267074"/>
            <a:ext cx="1238250" cy="1038225"/>
          </a:xfrm>
          <a:prstGeom prst="stripedRightArrow">
            <a:avLst>
              <a:gd name="adj1" fmla="val 70184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약점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44DD2D-AA4F-98C3-EC7B-F918809EAB6C}"/>
              </a:ext>
            </a:extLst>
          </p:cNvPr>
          <p:cNvSpPr txBox="1"/>
          <p:nvPr/>
        </p:nvSpPr>
        <p:spPr>
          <a:xfrm>
            <a:off x="552450" y="1248422"/>
            <a:ext cx="1106805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출현빈도를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세어야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길이는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수만큼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구성되어 자원의 손실 부작용과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 순서를 고려하지 않기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단어의 의미를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나타낼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없음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966D9A2-8A6C-CA60-F946-C04153495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11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24194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D1FBD-90CF-E311-8358-701261E9B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A5F9116-57D8-A712-175C-2495859817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35F48B-8E97-8640-ACC0-6AA4786BC7DD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6AED2F-BE85-50FF-D0EA-02A93D82203C}"/>
              </a:ext>
            </a:extLst>
          </p:cNvPr>
          <p:cNvSpPr txBox="1"/>
          <p:nvPr/>
        </p:nvSpPr>
        <p:spPr>
          <a:xfrm>
            <a:off x="537022" y="1248422"/>
            <a:ext cx="1117933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세상에 단어가 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광고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존재한다고 가정하고 예측모델이 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각각 정상과 스팸 어떤 것으로 분류하는지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문장에 어떤 단어가 있는지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key word search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2F6D4C-12A9-2B4B-E6C8-87D2F97DFBAC}"/>
              </a:ext>
            </a:extLst>
          </p:cNvPr>
          <p:cNvSpPr txBox="1"/>
          <p:nvPr/>
        </p:nvSpPr>
        <p:spPr>
          <a:xfrm>
            <a:off x="933450" y="2894556"/>
            <a:ext cx="4648200" cy="1440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1: "대출 광고"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[1,  1,  0,  0]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2: "오늘 대출"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[1,  0,  0, 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1: "안녕 오늘"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 0,  1, 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2: "오늘 안녕"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 0,  1,  1]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F7D5F1-5B13-0386-F411-5809448CD7D2}"/>
              </a:ext>
            </a:extLst>
          </p:cNvPr>
          <p:cNvSpPr txBox="1"/>
          <p:nvPr/>
        </p:nvSpPr>
        <p:spPr>
          <a:xfrm>
            <a:off x="5762624" y="3010363"/>
            <a:ext cx="566578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1  [1, 1, 0, 0] + 스팸 2  [1, 0, 0, 1] = [2, 1, 0,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평균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[1.0, 0.5, 0.0, 0.5]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AD14D-55D7-317F-7847-15E0E394731E}"/>
              </a:ext>
            </a:extLst>
          </p:cNvPr>
          <p:cNvSpPr txBox="1"/>
          <p:nvPr/>
        </p:nvSpPr>
        <p:spPr>
          <a:xfrm>
            <a:off x="5795962" y="3742360"/>
            <a:ext cx="566578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1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+ 정상 2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= [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평균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.0, 0.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.0, </a:t>
            </a:r>
            <a:r>
              <a:rPr lang="en-US" altLang="ko-KR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1.0</a:t>
            </a:r>
            <a:r>
              <a:rPr lang="ko-KR" altLang="en-US" sz="1500" b="1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B98BF7-067C-3085-3F74-763D2F3DD478}"/>
              </a:ext>
            </a:extLst>
          </p:cNvPr>
          <p:cNvSpPr txBox="1"/>
          <p:nvPr/>
        </p:nvSpPr>
        <p:spPr>
          <a:xfrm>
            <a:off x="1352550" y="4771884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"오늘 광고"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C1BA9BB-70C0-196C-B038-1DEFDE00A415}"/>
              </a:ext>
            </a:extLst>
          </p:cNvPr>
          <p:cNvSpPr/>
          <p:nvPr/>
        </p:nvSpPr>
        <p:spPr>
          <a:xfrm>
            <a:off x="822772" y="2894556"/>
            <a:ext cx="10730534" cy="14764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4EA96A-04DF-6DCB-7EF2-220B31A4D51C}"/>
              </a:ext>
            </a:extLst>
          </p:cNvPr>
          <p:cNvSpPr txBox="1"/>
          <p:nvPr/>
        </p:nvSpPr>
        <p:spPr>
          <a:xfrm>
            <a:off x="1809915" y="2563084"/>
            <a:ext cx="1696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학습된 모델 </a:t>
            </a:r>
            <a:endParaRPr lang="ko-KR" altLang="en-US" sz="1600" dirty="0"/>
          </a:p>
        </p:txBody>
      </p:sp>
      <p:pic>
        <p:nvPicPr>
          <p:cNvPr id="28" name="그래픽 27" descr="모니터">
            <a:extLst>
              <a:ext uri="{FF2B5EF4-FFF2-40B4-BE49-F238E27FC236}">
                <a16:creationId xmlns:a16="http://schemas.microsoft.com/office/drawing/2014/main" id="{B57E3CBA-A542-E1D3-7B29-C4103F7FCC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6350" y="2399091"/>
            <a:ext cx="533565" cy="533565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3C1F85D-A860-A277-940F-ACB9A2B89B60}"/>
              </a:ext>
            </a:extLst>
          </p:cNvPr>
          <p:cNvSpPr txBox="1"/>
          <p:nvPr/>
        </p:nvSpPr>
        <p:spPr>
          <a:xfrm>
            <a:off x="1352549" y="5592885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2: "오늘 구제"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6793DB13-110C-04AD-92FB-F33365531635}"/>
              </a:ext>
            </a:extLst>
          </p:cNvPr>
          <p:cNvCxnSpPr>
            <a:cxnSpLocks/>
            <a:stCxn id="23" idx="3"/>
            <a:endCxn id="39" idx="1"/>
          </p:cNvCxnSpPr>
          <p:nvPr/>
        </p:nvCxnSpPr>
        <p:spPr>
          <a:xfrm flipV="1">
            <a:off x="5857875" y="4974918"/>
            <a:ext cx="2776538" cy="8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D671A3D7-A499-9FB7-4EDB-C2DDDC2038E5}"/>
              </a:ext>
            </a:extLst>
          </p:cNvPr>
          <p:cNvCxnSpPr>
            <a:cxnSpLocks/>
            <a:stCxn id="30" idx="3"/>
            <a:endCxn id="48" idx="1"/>
          </p:cNvCxnSpPr>
          <p:nvPr/>
        </p:nvCxnSpPr>
        <p:spPr>
          <a:xfrm flipV="1">
            <a:off x="5857874" y="5783340"/>
            <a:ext cx="2776539" cy="20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그래픽 38" descr="모니터">
            <a:extLst>
              <a:ext uri="{FF2B5EF4-FFF2-40B4-BE49-F238E27FC236}">
                <a16:creationId xmlns:a16="http://schemas.microsoft.com/office/drawing/2014/main" id="{249C88CB-8243-AEF7-541C-658AAEF70C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4413" y="4708135"/>
            <a:ext cx="533565" cy="533565"/>
          </a:xfrm>
          <a:prstGeom prst="rect">
            <a:avLst/>
          </a:prstGeom>
        </p:spPr>
      </p:pic>
      <p:pic>
        <p:nvPicPr>
          <p:cNvPr id="48" name="그래픽 47" descr="모니터">
            <a:extLst>
              <a:ext uri="{FF2B5EF4-FFF2-40B4-BE49-F238E27FC236}">
                <a16:creationId xmlns:a16="http://schemas.microsoft.com/office/drawing/2014/main" id="{383E9A1B-9316-3F3F-2D83-75692CAD3A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4413" y="5516557"/>
            <a:ext cx="533565" cy="533565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FBE8410-9493-DEEF-C3BD-2472DE060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12</a:t>
            </a:fld>
            <a:endParaRPr lang="en-US" sz="1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F3F197-7E09-4EA8-F63B-37A2F78145C7}"/>
              </a:ext>
            </a:extLst>
          </p:cNvPr>
          <p:cNvSpPr txBox="1"/>
          <p:nvPr/>
        </p:nvSpPr>
        <p:spPr>
          <a:xfrm>
            <a:off x="3409386" y="2594325"/>
            <a:ext cx="2210363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대출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광고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안녕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DBFD54-596A-0986-752C-87552BEEE0C5}"/>
              </a:ext>
            </a:extLst>
          </p:cNvPr>
          <p:cNvSpPr txBox="1"/>
          <p:nvPr/>
        </p:nvSpPr>
        <p:spPr>
          <a:xfrm>
            <a:off x="9282278" y="4774830"/>
            <a:ext cx="22710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BF2FBA-8A2E-19AB-EC03-79E65C47CE02}"/>
              </a:ext>
            </a:extLst>
          </p:cNvPr>
          <p:cNvSpPr txBox="1"/>
          <p:nvPr/>
        </p:nvSpPr>
        <p:spPr>
          <a:xfrm>
            <a:off x="9349472" y="5592885"/>
            <a:ext cx="22710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4263220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13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14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53C72-47F2-5508-A63D-0B7F6B1E3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D1BBD92-1479-E67B-78C7-C5D24F49D0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22BDDC-F9DD-C4E6-9584-AEF9DD3F222A}"/>
              </a:ext>
            </a:extLst>
          </p:cNvPr>
          <p:cNvSpPr txBox="1"/>
          <p:nvPr/>
        </p:nvSpPr>
        <p:spPr>
          <a:xfrm>
            <a:off x="685800" y="1498036"/>
            <a:ext cx="52768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Converting Your Documents into Text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1F35B0-F14F-6A58-E813-62D6843EFA9D}"/>
              </a:ext>
            </a:extLst>
          </p:cNvPr>
          <p:cNvSpPr txBox="1"/>
          <p:nvPr/>
        </p:nvSpPr>
        <p:spPr>
          <a:xfrm>
            <a:off x="685800" y="35393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Splitting Your Text into Chunks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3A03B0-E773-EF70-78FD-4D01CB3D1FB2}"/>
              </a:ext>
            </a:extLst>
          </p:cNvPr>
          <p:cNvSpPr txBox="1"/>
          <p:nvPr/>
        </p:nvSpPr>
        <p:spPr>
          <a:xfrm>
            <a:off x="5715000" y="2068259"/>
            <a:ext cx="6191250" cy="11182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langchain_community.document_loaders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PyPDFLoader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loader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('./test.txt', encoding="utf-8")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loader.load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3E8D59-9B61-237D-A043-C8A932077354}"/>
              </a:ext>
            </a:extLst>
          </p:cNvPr>
          <p:cNvSpPr txBox="1"/>
          <p:nvPr/>
        </p:nvSpPr>
        <p:spPr>
          <a:xfrm>
            <a:off x="1673542" y="4821443"/>
            <a:ext cx="3462338" cy="120032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불러온 문서의 길이가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만 자를 넘게 되어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LLM(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대형 언어 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컨텍스트 창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Window,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처리할 수 있는 텍스트 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다 들어가지 않기 때문에 문서를 다루기 쉬운 크기의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조각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(Chunk,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들로 쪼개야 함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3FCADF-A26C-4232-F617-92DDC3C700FE}"/>
              </a:ext>
            </a:extLst>
          </p:cNvPr>
          <p:cNvSpPr txBox="1"/>
          <p:nvPr/>
        </p:nvSpPr>
        <p:spPr>
          <a:xfrm>
            <a:off x="5715000" y="4098169"/>
            <a:ext cx="6191250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langchain_text_splitters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splitter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splitter.split_documents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(docs)</a:t>
            </a: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4565F167-C7E7-9948-CB9C-45FE92689FD4}"/>
              </a:ext>
            </a:extLst>
          </p:cNvPr>
          <p:cNvCxnSpPr>
            <a:cxnSpLocks/>
            <a:stCxn id="10" idx="2"/>
            <a:endCxn id="15" idx="1"/>
          </p:cNvCxnSpPr>
          <p:nvPr/>
        </p:nvCxnSpPr>
        <p:spPr>
          <a:xfrm rot="16200000" flipH="1">
            <a:off x="4124214" y="1036600"/>
            <a:ext cx="790797" cy="23907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118A30FF-7E21-22F1-71E4-77097280861C}"/>
              </a:ext>
            </a:extLst>
          </p:cNvPr>
          <p:cNvCxnSpPr>
            <a:cxnSpLocks/>
            <a:stCxn id="12" idx="2"/>
            <a:endCxn id="24" idx="1"/>
          </p:cNvCxnSpPr>
          <p:nvPr/>
        </p:nvCxnSpPr>
        <p:spPr>
          <a:xfrm rot="16200000" flipH="1">
            <a:off x="4283428" y="3328317"/>
            <a:ext cx="881944" cy="19812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D0F623C-7C81-86C7-28FB-7AB6BC14209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15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7336801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2214A-5A47-F725-936B-7582FD6CE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284A37-1E3F-A59D-2F10-FB8C69BF0E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DEEF56-9A7B-D1F8-04E7-B25421A59C46}"/>
              </a:ext>
            </a:extLst>
          </p:cNvPr>
          <p:cNvSpPr txBox="1"/>
          <p:nvPr/>
        </p:nvSpPr>
        <p:spPr>
          <a:xfrm>
            <a:off x="709007" y="2284598"/>
            <a:ext cx="10921320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[1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단락 자르기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──▶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단락을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'\n\n'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기준으로 쪼갬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6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6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├─▶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1,000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 이하인 조각 ──▶ 통과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그대로 둠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lvl="6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└─▶ 1,500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자짜리 거대 단락 발견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     │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[2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다음 가위 가동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────────────┴──▶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거대 단락만 가져와서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'\n'(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줄바꿈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기준으로 다시 쪼갬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8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│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8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├─▶ 이제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1,000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 이하가 됨 ──▶ 통과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</a:p>
          <a:p>
            <a:pPr lvl="8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└─▶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그래도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1,200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자짜리 줄 발견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 ──▶ '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공백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띄어쓰기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또 쪼갬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42669A-B35A-2A00-C20A-0A565058A55F}"/>
              </a:ext>
            </a:extLst>
          </p:cNvPr>
          <p:cNvSpPr txBox="1"/>
          <p:nvPr/>
        </p:nvSpPr>
        <p:spPr>
          <a:xfrm>
            <a:off x="561672" y="1248422"/>
            <a:ext cx="1106865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분할기는 무작정 가위질을 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인간이 글을 읽는 단위를 고려하여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최대한 의미가 통하는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유지하며 재귀적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아래와 같이 안전하게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잘라줌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FD76BF-CD36-909D-E978-CD9FF32B9E87}"/>
              </a:ext>
            </a:extLst>
          </p:cNvPr>
          <p:cNvSpPr txBox="1"/>
          <p:nvPr/>
        </p:nvSpPr>
        <p:spPr>
          <a:xfrm>
            <a:off x="628650" y="4272409"/>
            <a:ext cx="11268075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메타데이터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(Metadata)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텍스트를 아무리 잘게 쪼개도 원본의 출처와 위치를 찾는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네비게이션 꼬리표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AA800D-6A32-A57C-52FD-67A1AE2EA5C4}"/>
              </a:ext>
            </a:extLst>
          </p:cNvPr>
          <p:cNvSpPr txBox="1"/>
          <p:nvPr/>
        </p:nvSpPr>
        <p:spPr>
          <a:xfrm>
            <a:off x="2766407" y="4746610"/>
            <a:ext cx="7658100" cy="70564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 range(5): # 864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f"Document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 metadata: {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splitted_docs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].metadata}")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E94E3D-8975-8772-9C78-A47A7C4CB7D9}"/>
              </a:ext>
            </a:extLst>
          </p:cNvPr>
          <p:cNvSpPr txBox="1"/>
          <p:nvPr/>
        </p:nvSpPr>
        <p:spPr>
          <a:xfrm>
            <a:off x="2766407" y="5452252"/>
            <a:ext cx="4282093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 0 metadata: {'source': './test.txt'} Document 1 metadata: {'source': './test.txt'} Document 2 metadata: {'source': './test.txt'} Document 3 metadata: {'source': './test.txt'} Document 4 metadata: {'source': './test.txt'}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E459BD-6C5B-C97E-3CEA-D16BACE56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16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9493006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B73FF-AAFE-527E-BAC9-4E68AE047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AAC3C16-5355-24BF-217A-D8985CCD3D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DF5E29-AB53-8B63-6C3C-6C3A8D5AC840}"/>
              </a:ext>
            </a:extLst>
          </p:cNvPr>
          <p:cNvSpPr txBox="1"/>
          <p:nvPr/>
        </p:nvSpPr>
        <p:spPr>
          <a:xfrm>
            <a:off x="619125" y="14819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Generating Text Embeddings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978E78-C955-BE92-5C0A-F325975087A6}"/>
              </a:ext>
            </a:extLst>
          </p:cNvPr>
          <p:cNvSpPr txBox="1"/>
          <p:nvPr/>
        </p:nvSpPr>
        <p:spPr>
          <a:xfrm>
            <a:off x="1781176" y="2113577"/>
            <a:ext cx="9048232" cy="37446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langchain_community.embeddings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b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인터넷 너머의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서버를 전혀 부르지 않고 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메모리에 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임베딩를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다운로드받아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설치하는 명령어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embed_model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>
              <a:lnSpc>
                <a:spcPts val="1575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embed_model.embed_documents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"Hi there!",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"Oh, hello!",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"What's your name?",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"My friends call me World",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"Hello World!"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print(embeddings)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C99521D-A018-C649-20AF-EF92AC53E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7178065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EE74C-F6AF-0FFF-02C0-065BB714C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EF9347-1C5A-215B-828D-012466499A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65088-6AF0-9054-3062-EC384D0230FF}"/>
              </a:ext>
            </a:extLst>
          </p:cNvPr>
          <p:cNvSpPr txBox="1"/>
          <p:nvPr/>
        </p:nvSpPr>
        <p:spPr>
          <a:xfrm>
            <a:off x="619125" y="1481991"/>
            <a:ext cx="609600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단계: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Storing Embeddings in a Vector Store</a:t>
            </a:r>
            <a:r>
              <a:rPr lang="ko-KR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50336E8-FDAF-78D3-69F7-76E8EDDED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" y="1989752"/>
            <a:ext cx="7712108" cy="13717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D3B2F3-0C31-2E6C-E69A-1D079B523DCA}"/>
              </a:ext>
            </a:extLst>
          </p:cNvPr>
          <p:cNvSpPr txBox="1"/>
          <p:nvPr/>
        </p:nvSpPr>
        <p:spPr>
          <a:xfrm>
            <a:off x="619125" y="3670655"/>
            <a:ext cx="1102995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백엔드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개발자들에게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Pinecone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Milvus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최신 전문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비싸게 도입할 필요가 없으며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가장 친숙한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데이터베이스에 플러그인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pgvector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하나만 켜면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2FE64-4976-2781-44ED-6BE72BCDDE82}"/>
              </a:ext>
            </a:extLst>
          </p:cNvPr>
          <p:cNvSpPr txBox="1"/>
          <p:nvPr/>
        </p:nvSpPr>
        <p:spPr>
          <a:xfrm>
            <a:off x="1122296" y="5788190"/>
            <a:ext cx="6450079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환경에서 클라우드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vector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저장하기</a:t>
            </a:r>
          </a:p>
        </p:txBody>
      </p:sp>
      <p:pic>
        <p:nvPicPr>
          <p:cNvPr id="11" name="그래픽 10" descr="웹 디자인">
            <a:extLst>
              <a:ext uri="{FF2B5EF4-FFF2-40B4-BE49-F238E27FC236}">
                <a16:creationId xmlns:a16="http://schemas.microsoft.com/office/drawing/2014/main" id="{FF4D50AC-E78E-C767-94A7-93D1D3787E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709" y="5686662"/>
            <a:ext cx="543335" cy="5433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087CF1-5C36-1787-787C-1970D6972574}"/>
              </a:ext>
            </a:extLst>
          </p:cNvPr>
          <p:cNvSpPr txBox="1"/>
          <p:nvPr/>
        </p:nvSpPr>
        <p:spPr>
          <a:xfrm>
            <a:off x="1112519" y="4955866"/>
            <a:ext cx="645033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환경에서 직접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postgres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vector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저장하기</a:t>
            </a:r>
          </a:p>
        </p:txBody>
      </p:sp>
      <p:pic>
        <p:nvPicPr>
          <p:cNvPr id="13" name="그래픽 12" descr="웹 디자인">
            <a:extLst>
              <a:ext uri="{FF2B5EF4-FFF2-40B4-BE49-F238E27FC236}">
                <a16:creationId xmlns:a16="http://schemas.microsoft.com/office/drawing/2014/main" id="{0A0F9956-16EA-3725-FC30-CB7DEA41B1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8932" y="4854338"/>
            <a:ext cx="543335" cy="54333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FFF4F43-5573-2F0B-D471-654F61007B3A}"/>
              </a:ext>
            </a:extLst>
          </p:cNvPr>
          <p:cNvSpPr txBox="1"/>
          <p:nvPr/>
        </p:nvSpPr>
        <p:spPr>
          <a:xfrm>
            <a:off x="7686675" y="5806284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3170FAB-0B3C-5799-94FD-DA87024C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18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5914596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CDCAF-F2C4-81B5-0B3B-08603E206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 descr="Simple RAG">
            <a:extLst>
              <a:ext uri="{FF2B5EF4-FFF2-40B4-BE49-F238E27FC236}">
                <a16:creationId xmlns:a16="http://schemas.microsoft.com/office/drawing/2014/main" id="{31CD1155-AAC9-5F70-8CA2-AF2EF1027E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025" y="2046836"/>
            <a:ext cx="11038683" cy="407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B7FA75D-5D50-0308-C9A0-C7189492E36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8E7A39-10E4-97D1-58B4-87B7EE0A627B}"/>
              </a:ext>
            </a:extLst>
          </p:cNvPr>
          <p:cNvSpPr txBox="1"/>
          <p:nvPr/>
        </p:nvSpPr>
        <p:spPr>
          <a:xfrm>
            <a:off x="685025" y="3806506"/>
            <a:ext cx="3100949" cy="95410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Split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텍스트 분할하기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의미를 숫자로 바꾸기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창고에 저장하기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8E432C-288A-2CAC-90C0-0EC6692B0880}"/>
              </a:ext>
            </a:extLst>
          </p:cNvPr>
          <p:cNvSpPr txBox="1"/>
          <p:nvPr/>
        </p:nvSpPr>
        <p:spPr>
          <a:xfrm>
            <a:off x="6833016" y="3806506"/>
            <a:ext cx="4082024" cy="95410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Question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RETRIEVE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벡터 검색 단계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PROMPT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컨텍스트 결합 및 프롬프트 생성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LLM &amp; Answer 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 및 답변 전달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C55E38-32AA-9217-506B-2C703A3E28E3}"/>
              </a:ext>
            </a:extLst>
          </p:cNvPr>
          <p:cNvSpPr txBox="1"/>
          <p:nvPr/>
        </p:nvSpPr>
        <p:spPr>
          <a:xfrm>
            <a:off x="600659" y="1462963"/>
            <a:ext cx="2146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RAG-Architectures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BEAB149-30BC-2AB8-6DCD-37BBF59E1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19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576160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EC939-9714-3429-9980-6732A21A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FAAE74-6C6B-9245-BEA1-7F52DF1B4A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 STEP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Data Indexing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002052-A2F4-9839-D58F-E585521FDDD2}"/>
              </a:ext>
            </a:extLst>
          </p:cNvPr>
          <p:cNvSpPr txBox="1"/>
          <p:nvPr/>
        </p:nvSpPr>
        <p:spPr>
          <a:xfrm>
            <a:off x="608284" y="1353850"/>
            <a:ext cx="11021741" cy="487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Load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형태의 원본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(TXT, PDF,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웹페이지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시스템이 이해할 수 있는 공통 규격인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객체로 변환하는 단계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Split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분할하기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거대한 문서를 작은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(Chunk)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잘게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쪼깨는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한 번에 읽을 수 있는 글자 수 제한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Window)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초과하거나 불필요한 비용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(Token)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축소하는　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Embed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의미를 숫자로 바꾸기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쪼갠 글자 조각들을 컴퓨터가 연산할 수 있는 방향성 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(Numeric Vector)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변환하면 이 숫자들이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진짜 의미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가지게 되어 유사도 검색이 가능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(all-MiniLM-L6-v2)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글자 조각들을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수자로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창고에 저장하기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변환된 글자 조각들과 그에 대응하는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들을 나중에 언제든 꺼내 쓸 수 있도록 벡터 저장소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VectorStore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인덱싱하여 안전하게 보관하는 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클라우드에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테이블을 만들고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(...)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9B217-326B-59C7-30AC-53A3E263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20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2734569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F842C-9CAC-38E6-8FD9-D5DA947D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243947F-3B13-B412-B1A4-2AFBF67B6C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 STEP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Data Indexing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index_diagram">
            <a:extLst>
              <a:ext uri="{FF2B5EF4-FFF2-40B4-BE49-F238E27FC236}">
                <a16:creationId xmlns:a16="http://schemas.microsoft.com/office/drawing/2014/main" id="{5AC6592C-BD82-0D32-9BB4-24792A5FD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982280"/>
            <a:ext cx="8743950" cy="4397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0B795B2-462B-1D70-F75C-F6A7974637BE}"/>
              </a:ext>
            </a:extLst>
          </p:cNvPr>
          <p:cNvSpPr txBox="1"/>
          <p:nvPr/>
        </p:nvSpPr>
        <p:spPr>
          <a:xfrm>
            <a:off x="543648" y="1520410"/>
            <a:ext cx="4224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</a:t>
            </a:r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 Augmented Generation)</a:t>
            </a:r>
            <a:endParaRPr lang="ko-KR" altLang="en-US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488459-E7EC-2E9A-07FA-4BEE57E0C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21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7100878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8721-1D54-F2C3-9D0C-19D25E4DE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CCF26C-27E2-34A5-0A8D-96C10E06D9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Retrieval &amp;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116C9C-E112-9017-C824-57FDABBD88D1}"/>
              </a:ext>
            </a:extLst>
          </p:cNvPr>
          <p:cNvSpPr txBox="1"/>
          <p:nvPr/>
        </p:nvSpPr>
        <p:spPr>
          <a:xfrm>
            <a:off x="608284" y="1353850"/>
            <a:ext cx="11021741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Question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서비스에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랭체인이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뭔가요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RETRIEVE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벡터 검색 단계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(all-MiniLM-L6-v2)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숫자로 바꾼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Vector DB(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pgvector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저장된 수많은 문서 조각 중 가장 유사도가 높은 핵심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파란색으로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하이라이트된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칸들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돋보기로 빠르게 찾아냄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(Retrieve)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PROMPT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컨텍스트 결합 및 프롬프트 생성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(Question)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끄집어낸 참고 문서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(Retrieve)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위아래 화살표를 통해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하나의 주머니로 합쳐지는 단계로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무작정 답을 달라고 하는 게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참고 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솔직하게 답해줘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형태의 완성된 지시서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조립하는 단계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LLM &amp; Answer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및 답변 전달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조립된 프롬프트가 대형 언어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(LLM,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/Llama3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전달하면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자신이 아는 지식으로 소설을 쓰는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환각 현상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주어지는 참고 문서를 기반으로 정확하고 정제된 최종 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(Answer)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작성하여 사용자에게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B6EDEA-367A-6D96-DBF3-A3AE03FFE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22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0209693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574E4-5B38-625B-D78F-F70F559CD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F9FC71-E2BD-5A5C-7CCF-D928284288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Retrieval &amp;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268" name="Picture 4" descr="retrieval_diagram">
            <a:extLst>
              <a:ext uri="{FF2B5EF4-FFF2-40B4-BE49-F238E27FC236}">
                <a16:creationId xmlns:a16="http://schemas.microsoft.com/office/drawing/2014/main" id="{A9CB697F-86C4-E9CB-25B3-0303A1737A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8299" y="2129628"/>
            <a:ext cx="8277226" cy="4246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AC66DF-E377-DCF9-5FCC-231B680E30FA}"/>
              </a:ext>
            </a:extLst>
          </p:cNvPr>
          <p:cNvSpPr txBox="1"/>
          <p:nvPr/>
        </p:nvSpPr>
        <p:spPr>
          <a:xfrm>
            <a:off x="638175" y="1228636"/>
            <a:ext cx="10858500" cy="79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넣으실 건가요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불가능하겠죠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 고르기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</a:t>
            </a:r>
            <a:endParaRPr lang="ko-KR" altLang="en-US" sz="16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E12384-7C5B-1487-B1A3-95485D64B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23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00849080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13238</TotalTime>
  <Words>2426</Words>
  <Application>Microsoft Office PowerPoint</Application>
  <PresentationFormat>와이드스크린</PresentationFormat>
  <Paragraphs>234</Paragraphs>
  <Slides>23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9" baseType="lpstr">
      <vt:lpstr>D2Coding</vt:lpstr>
      <vt:lpstr>맑은 고딕</vt:lpstr>
      <vt:lpstr>Batang</vt:lpstr>
      <vt:lpstr>Arial</vt:lpstr>
      <vt:lpstr>Wingdings</vt:lpstr>
      <vt:lpstr>WelcomeDoc</vt:lpstr>
      <vt:lpstr>CHAPERT 2 RAG Part I: Indexing Your Data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192</cp:revision>
  <dcterms:created xsi:type="dcterms:W3CDTF">2026-04-06T01:00:39Z</dcterms:created>
  <dcterms:modified xsi:type="dcterms:W3CDTF">2026-09-19T22:32:16Z</dcterms:modified>
  <cp:version/>
</cp:coreProperties>
</file>