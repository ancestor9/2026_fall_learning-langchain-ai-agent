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6"/>
  </p:notesMasterIdLst>
  <p:handoutMasterIdLst>
    <p:handoutMasterId r:id="rId47"/>
  </p:handoutMasterIdLst>
  <p:sldIdLst>
    <p:sldId id="256" r:id="rId2"/>
    <p:sldId id="1138" r:id="rId3"/>
    <p:sldId id="1139" r:id="rId4"/>
    <p:sldId id="1155" r:id="rId5"/>
    <p:sldId id="1160" r:id="rId6"/>
    <p:sldId id="1156" r:id="rId7"/>
    <p:sldId id="1158" r:id="rId8"/>
    <p:sldId id="1157" r:id="rId9"/>
    <p:sldId id="1159" r:id="rId10"/>
    <p:sldId id="1140" r:id="rId11"/>
    <p:sldId id="1141" r:id="rId12"/>
    <p:sldId id="1142" r:id="rId13"/>
    <p:sldId id="1143" r:id="rId14"/>
    <p:sldId id="1171" r:id="rId15"/>
    <p:sldId id="1172" r:id="rId16"/>
    <p:sldId id="1174" r:id="rId17"/>
    <p:sldId id="1175" r:id="rId18"/>
    <p:sldId id="1173" r:id="rId19"/>
    <p:sldId id="1176" r:id="rId20"/>
    <p:sldId id="1180" r:id="rId21"/>
    <p:sldId id="1177" r:id="rId22"/>
    <p:sldId id="1179" r:id="rId23"/>
    <p:sldId id="1178" r:id="rId24"/>
    <p:sldId id="1145" r:id="rId25"/>
    <p:sldId id="1144" r:id="rId26"/>
    <p:sldId id="1146" r:id="rId27"/>
    <p:sldId id="1147" r:id="rId28"/>
    <p:sldId id="1148" r:id="rId29"/>
    <p:sldId id="1149" r:id="rId30"/>
    <p:sldId id="1154" r:id="rId31"/>
    <p:sldId id="1153" r:id="rId32"/>
    <p:sldId id="1150" r:id="rId33"/>
    <p:sldId id="1151" r:id="rId34"/>
    <p:sldId id="1152" r:id="rId35"/>
    <p:sldId id="1161" r:id="rId36"/>
    <p:sldId id="1162" r:id="rId37"/>
    <p:sldId id="1169" r:id="rId38"/>
    <p:sldId id="1164" r:id="rId39"/>
    <p:sldId id="1167" r:id="rId40"/>
    <p:sldId id="1163" r:id="rId41"/>
    <p:sldId id="1166" r:id="rId42"/>
    <p:sldId id="1168" r:id="rId43"/>
    <p:sldId id="1165" r:id="rId44"/>
    <p:sldId id="1170" r:id="rId45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38"/>
            <p14:sldId id="1139"/>
            <p14:sldId id="1155"/>
            <p14:sldId id="1160"/>
            <p14:sldId id="1156"/>
            <p14:sldId id="1158"/>
            <p14:sldId id="1157"/>
            <p14:sldId id="1159"/>
            <p14:sldId id="1140"/>
            <p14:sldId id="1141"/>
            <p14:sldId id="1142"/>
            <p14:sldId id="1143"/>
            <p14:sldId id="1171"/>
            <p14:sldId id="1172"/>
            <p14:sldId id="1174"/>
            <p14:sldId id="1175"/>
            <p14:sldId id="1173"/>
            <p14:sldId id="1176"/>
            <p14:sldId id="1180"/>
            <p14:sldId id="1177"/>
            <p14:sldId id="1179"/>
            <p14:sldId id="1178"/>
            <p14:sldId id="1145"/>
            <p14:sldId id="1144"/>
            <p14:sldId id="1146"/>
            <p14:sldId id="1147"/>
            <p14:sldId id="1148"/>
            <p14:sldId id="1149"/>
            <p14:sldId id="1154"/>
            <p14:sldId id="1153"/>
            <p14:sldId id="1150"/>
            <p14:sldId id="1151"/>
            <p14:sldId id="1152"/>
            <p14:sldId id="1161"/>
            <p14:sldId id="1162"/>
            <p14:sldId id="1169"/>
            <p14:sldId id="1164"/>
            <p14:sldId id="1167"/>
            <p14:sldId id="1163"/>
            <p14:sldId id="1166"/>
            <p14:sldId id="1168"/>
            <p14:sldId id="1165"/>
            <p14:sldId id="1170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D24726"/>
    <a:srgbClr val="FF9B45"/>
    <a:srgbClr val="DD462F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2" autoAdjust="0"/>
    <p:restoredTop sz="94297" autoAdjust="0"/>
  </p:normalViewPr>
  <p:slideViewPr>
    <p:cSldViewPr snapToGrid="0">
      <p:cViewPr>
        <p:scale>
          <a:sx n="66" d="100"/>
          <a:sy n="66" d="100"/>
        </p:scale>
        <p:origin x="1416" y="36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-16834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2026-10-23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2026-10-23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04285-A33B-A36F-0082-9FF5329D3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DB6BFC8-6BA6-F707-1E37-58EBC01E6A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93A03B-D60C-E412-404C-8DF1EDAED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A52AE6-1882-8C43-4724-70B3D93930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5143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2026-10-23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10/23/2026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2026-10-23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sec.gov/Archives/edgar/data/1318605/000095017023001409/tsla-20221231.htm" TargetMode="External"/><Relationship Id="rId4" Type="http://schemas.openxmlformats.org/officeDocument/2006/relationships/image" Target="../media/image1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feature_extraction.text.CountVectorizer.html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metrics.pairwise_distances.html" TargetMode="External"/><Relationship Id="rId2" Type="http://schemas.openxmlformats.org/officeDocument/2006/relationships/hyperlink" Target="https://scikit-learn.org/stable/modules/generated/sklearn.feature_extraction.text.CountVectorizer.html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hyperlink" Target="https://scikit-learn.org/stable/modules/generated/sklearn.metrics.pairwise.cosine_similarity.html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metrics.pairwise_distances.html" TargetMode="External"/><Relationship Id="rId2" Type="http://schemas.openxmlformats.org/officeDocument/2006/relationships/hyperlink" Target="https://scikit-learn.org/stable/modules/generated/sklearn.feature_extraction.text.CountVectorizer.html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hyperlink" Target="https://scikit-learn.org/stable/modules/generated/sklearn.metrics.pairwise.cosine_similarity.html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scikit-learn.org/stable/modules/generated/sklearn.decomposition.PCA.html" TargetMode="Externa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png"/><Relationship Id="rId4" Type="http://schemas.openxmlformats.org/officeDocument/2006/relationships/hyperlink" Target="https://scikit-learn.org/stable/modules/neighbors.html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scikit-learn.org/stable/modules/biclustering.html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openxmlformats.org/officeDocument/2006/relationships/hyperlink" Target="https://scikit-learn.org/stable/modules/biclustering.html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scikit-learn.org/stable/modules/biclustering.html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png"/><Relationship Id="rId4" Type="http://schemas.openxmlformats.org/officeDocument/2006/relationships/hyperlink" Target="https://scikit-learn.org/stable/modules/biclustering.html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101ai.net/text/word-embed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2.png"/><Relationship Id="rId4" Type="http://schemas.openxmlformats.org/officeDocument/2006/relationships/hyperlink" Target="https://word2vec.kr/search/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humanloop.com/blog/rag-architectures" TargetMode="Externa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langchain.com/oss/javascript/deepagents/rag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CHAPERT 2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RAG Part I: Indexing Your Data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667BA-883A-F760-A852-480894981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25E88B-6D21-127E-3DF6-DC200AC37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07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2</a:t>
            </a:fld>
            <a:endParaRPr lang="en-US" sz="1400" b="1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0151A18-B816-E6A4-DE0E-617FB6906B4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Motivation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F3E3F8-C9F6-B196-98B4-3CC4BD8CE8BE}"/>
              </a:ext>
            </a:extLst>
          </p:cNvPr>
          <p:cNvSpPr txBox="1"/>
          <p:nvPr/>
        </p:nvSpPr>
        <p:spPr>
          <a:xfrm>
            <a:off x="542406" y="1743722"/>
            <a:ext cx="11173949" cy="3747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모델이 최신 정보를 알지 못하는 지식 컷오프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(Knowledge Cutoff):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모델의 지식이 멈춘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유통기한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같은 시점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예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어떤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지식 컷오프가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2025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월이라면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AI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2026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년에 일어난 뉴스나 사건을 알지 못하고 엉뚱한 답변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(Hallucination)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생성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(Generate)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하게 됨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1~2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페이지일 때 질문할 때마다 프롬프트에 그 내용을 통째로 복사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붙여넣기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(Context)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해서 모델에 넘기면 해결되니 번거로운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것 이외에는 기술적 고민이나 복잡한 아키텍처가 전혀 필요 없지만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만약 여러분 회사의 방대한 모든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규정집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(Huge Quantity)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에게 참고하라고 한다면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매번 수천 페이지를 복사해서 붙여 넣을 건가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불가능하죠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그래서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정답 조각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(Chunk)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검색하여 찾아내는 기술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필요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8986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D86A5-D250-C10A-3338-DBAB46ED1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6B2170F-4EF3-5F5C-ECA5-83431A3B886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What is RAG(Retrieval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Augmented Generation)?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B27603-1B8D-99CB-B7B7-DE45EB336F65}"/>
              </a:ext>
            </a:extLst>
          </p:cNvPr>
          <p:cNvSpPr txBox="1"/>
          <p:nvPr/>
        </p:nvSpPr>
        <p:spPr>
          <a:xfrm>
            <a:off x="581025" y="1314948"/>
            <a:ext cx="10972800" cy="1296317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질문</a:t>
            </a:r>
            <a:r>
              <a:rPr lang="en-US" altLang="ko-KR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en-US" altLang="ko-KR" sz="1600" i="1" dirty="0">
              <a:solidFill>
                <a:srgbClr val="FF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2">
              <a:lnSpc>
                <a:spcPct val="150000"/>
              </a:lnSpc>
            </a:pPr>
            <a:r>
              <a:rPr lang="en-US" altLang="ko-KR" sz="1600" i="1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“</a:t>
            </a:r>
            <a:r>
              <a:rPr lang="ko-KR" altLang="en-US" i="1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 방대한 텍스트 중</a:t>
            </a:r>
            <a:r>
              <a:rPr lang="en-US" altLang="ko-KR" i="1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i="1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사용자의 질문에 답변하는 데 가장 관련성이 높은 </a:t>
            </a:r>
            <a:r>
              <a:rPr lang="en-US" altLang="ko-KR" i="1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i="1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진짜 정답 조각</a:t>
            </a:r>
            <a:r>
              <a:rPr lang="en-US" altLang="ko-KR" i="1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i="1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을 어떻게 찾아내어 프롬프트에 넣어줄 것인가</a:t>
            </a:r>
            <a:r>
              <a:rPr lang="en-US" altLang="ko-KR" i="1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?"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4EBF23-6200-C218-6400-CBB4E99AFDCF}"/>
              </a:ext>
            </a:extLst>
          </p:cNvPr>
          <p:cNvSpPr txBox="1"/>
          <p:nvPr/>
        </p:nvSpPr>
        <p:spPr>
          <a:xfrm>
            <a:off x="581025" y="3515916"/>
            <a:ext cx="10972800" cy="120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인덱싱 (</a:t>
            </a:r>
            <a:r>
              <a:rPr lang="ko-KR" altLang="en-US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Indexing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 - 문서 </a:t>
            </a:r>
            <a:r>
              <a:rPr lang="ko-KR" altLang="en-US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전처리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 및 색인)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컴퓨터와 LLM 기반 애플리케이션이 질문에 맞는 문서를 빛의 속도로 찾을 수 있도록 데이터를 미리 구조화하고 정리하는 작업. (마치 책 맨 뒤의 '찾아보기/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색인'을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만드는 과정)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936BC5A-E305-93C5-7A71-6101DF0E12B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/>
              <a:pPr/>
              <a:t>3</a:t>
            </a:fld>
            <a:endParaRPr lang="en-US" sz="1400" b="1" dirty="0"/>
          </a:p>
        </p:txBody>
      </p:sp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4782B5BD-50D0-1498-2079-329BC66A8808}"/>
              </a:ext>
            </a:extLst>
          </p:cNvPr>
          <p:cNvSpPr/>
          <p:nvPr/>
        </p:nvSpPr>
        <p:spPr>
          <a:xfrm>
            <a:off x="5054023" y="2739563"/>
            <a:ext cx="714375" cy="705073"/>
          </a:xfrm>
          <a:prstGeom prst="downArrow">
            <a:avLst>
              <a:gd name="adj1" fmla="val 53922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50B413-DE57-FE96-7DF4-8AC6171D6CC5}"/>
              </a:ext>
            </a:extLst>
          </p:cNvPr>
          <p:cNvSpPr txBox="1"/>
          <p:nvPr/>
        </p:nvSpPr>
        <p:spPr>
          <a:xfrm>
            <a:off x="581025" y="5085787"/>
            <a:ext cx="10972800" cy="120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2. 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검색 및 활용 (</a:t>
            </a:r>
            <a:r>
              <a:rPr lang="ko-KR" altLang="en-US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Retrieving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 &amp; </a:t>
            </a:r>
            <a:r>
              <a:rPr lang="ko-KR" altLang="en-US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Generation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사용자가 질문을 던지면, 1단계에서 만든 인덱스에서 가장 관련성 높은 데이터 조각을 찾아내어(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Retrieve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LLM에게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컨텍스트(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Context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)로 제공하여 정확한 답변을 생성(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Generate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)하게 만드는 과정</a:t>
            </a:r>
          </a:p>
        </p:txBody>
      </p:sp>
    </p:spTree>
    <p:extLst>
      <p:ext uri="{BB962C8B-B14F-4D97-AF65-F5344CB8AC3E}">
        <p14:creationId xmlns:p14="http://schemas.microsoft.com/office/powerpoint/2010/main" val="1435850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0AB53-D16C-B5E3-5588-2D996C98D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9423641-A831-F9DB-647F-E9692BB829E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Basic RAG Pipeline(n8n)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86168D61-8A4C-F442-6ECB-29D2790DBB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09308C51-4AD7-ECCD-56E4-273FED520B3F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/>
              <a:pPr/>
              <a:t>4</a:t>
            </a:fld>
            <a:endParaRPr lang="en-US" sz="14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3827101-F0C2-25E4-3B0B-CE2FAA2F4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538" y="1673180"/>
            <a:ext cx="5415583" cy="34878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CA8CA3F-0BA8-7058-572D-DF72F70FE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943" y="4469448"/>
            <a:ext cx="2056700" cy="1827471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75E726F-7750-95A9-91C5-11D8936341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839" y="1626393"/>
            <a:ext cx="5445400" cy="39266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A5F5304C-B287-E814-9659-8227EE0BF0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2116" y="4469448"/>
            <a:ext cx="3981575" cy="2184635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C7FE9EB-4427-4FA4-602F-DA6D9493F167}"/>
              </a:ext>
            </a:extLst>
          </p:cNvPr>
          <p:cNvSpPr txBox="1"/>
          <p:nvPr/>
        </p:nvSpPr>
        <p:spPr>
          <a:xfrm>
            <a:off x="591714" y="1358310"/>
            <a:ext cx="5435230" cy="30777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4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Indexing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14E712-A679-3AF7-B73D-B33F39395820}"/>
              </a:ext>
            </a:extLst>
          </p:cNvPr>
          <p:cNvSpPr txBox="1"/>
          <p:nvPr/>
        </p:nvSpPr>
        <p:spPr>
          <a:xfrm>
            <a:off x="6361904" y="1337662"/>
            <a:ext cx="5468145" cy="30777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4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Retrieving</a:t>
            </a:r>
            <a:r>
              <a:rPr lang="ko-KR" altLang="en-US" sz="1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&amp; </a:t>
            </a:r>
            <a:r>
              <a:rPr lang="ko-KR" altLang="en-US" sz="14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Generation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DD69997C-A46F-DBD9-CB4B-EC0228F8FB64}"/>
              </a:ext>
            </a:extLst>
          </p:cNvPr>
          <p:cNvCxnSpPr/>
          <p:nvPr/>
        </p:nvCxnSpPr>
        <p:spPr>
          <a:xfrm>
            <a:off x="3295650" y="4953000"/>
            <a:ext cx="0" cy="1295400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E6A41BB1-ADA6-18C5-86B4-F53017FBB59C}"/>
              </a:ext>
            </a:extLst>
          </p:cNvPr>
          <p:cNvCxnSpPr/>
          <p:nvPr/>
        </p:nvCxnSpPr>
        <p:spPr>
          <a:xfrm>
            <a:off x="8968466" y="5095875"/>
            <a:ext cx="0" cy="1295400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6312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E65DD-071B-790C-AE28-462DDB0FD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ECE603A-D598-A6F9-7675-2D3840BBD7A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Basic RAG Pipeline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C43BEA39-484F-40A5-D0AB-09F82CC158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760482D-DFF4-0422-618A-C023A3D8A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31" y="1391684"/>
            <a:ext cx="10353763" cy="4827139"/>
          </a:xfrm>
          <a:prstGeom prst="rect">
            <a:avLst/>
          </a:prstGeom>
        </p:spPr>
      </p:pic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B9CFCECD-BA53-9882-BF47-5B74A7BED6EC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/>
              <a:pPr/>
              <a:t>5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040038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B41B4-1D46-0D9A-0AB4-C8EF5376D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A47A670-E7C8-FE41-30F5-1DAF393D6C9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Basic RAG Pipeline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7817456C-82D4-E557-3BCB-FAECC3E516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D02BB5A-B3F0-7886-0289-4C494F9D2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18" y="2093542"/>
            <a:ext cx="8774622" cy="31427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08E3AC-1B21-5665-4DC5-D7CA0588B7C2}"/>
              </a:ext>
            </a:extLst>
          </p:cNvPr>
          <p:cNvSpPr txBox="1"/>
          <p:nvPr/>
        </p:nvSpPr>
        <p:spPr>
          <a:xfrm>
            <a:off x="8439150" y="654811"/>
            <a:ext cx="31813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Step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1. Data Indexing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061B2413-AFBD-721E-AA95-FED2D928E2F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/>
              <a:pPr/>
              <a:t>6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377536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4A32C-2152-12F4-A8F0-666AB8622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1E68638-B68E-6459-C7A8-F788CD248A4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Basic RAG Pipeline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9C7AF9F4-C578-8234-49CB-DED9439459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7C23D4-334C-7049-9BB5-22C79D4F33B7}"/>
              </a:ext>
            </a:extLst>
          </p:cNvPr>
          <p:cNvSpPr txBox="1"/>
          <p:nvPr/>
        </p:nvSpPr>
        <p:spPr>
          <a:xfrm>
            <a:off x="8439150" y="654811"/>
            <a:ext cx="31813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Step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1. Data Indexing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51420DA4-D829-D7F0-22FB-6FECFF495D8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/>
              <a:pPr/>
              <a:t>7</a:t>
            </a:fld>
            <a:endParaRPr lang="en-US" sz="1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2EADC1-28AC-A8C3-377D-0AA908DD7AD1}"/>
              </a:ext>
            </a:extLst>
          </p:cNvPr>
          <p:cNvSpPr txBox="1"/>
          <p:nvPr/>
        </p:nvSpPr>
        <p:spPr>
          <a:xfrm>
            <a:off x="637312" y="1726488"/>
            <a:ext cx="10983188" cy="4832092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ko-KR" altLang="ko-KR" sz="1400" b="1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--- 1. Data </a:t>
            </a:r>
            <a:r>
              <a:rPr lang="ko-KR" altLang="ko-KR" sz="1400" b="1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Loading</a:t>
            </a:r>
            <a:r>
              <a:rPr lang="ko-KR" altLang="ko-KR" sz="1400" b="1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문서를 텍스트로 변환 ---</a:t>
            </a:r>
          </a:p>
          <a:p>
            <a:pPr marL="0" marR="0" indent="0" algn="l">
              <a:buNone/>
            </a:pPr>
            <a:r>
              <a:rPr lang="ko-KR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loader</a:t>
            </a: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TextLoader</a:t>
            </a: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('./</a:t>
            </a:r>
            <a:r>
              <a:rPr lang="ko-KR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test.txt</a:t>
            </a: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  <a:r>
              <a:rPr lang="ko-KR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encoding</a:t>
            </a: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="utf-8")</a:t>
            </a:r>
          </a:p>
          <a:p>
            <a:pPr marL="0" marR="0" indent="0" algn="l">
              <a:buNone/>
            </a:pPr>
            <a:r>
              <a:rPr lang="ko-KR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docs</a:t>
            </a: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loader.load</a:t>
            </a: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pPr marL="0" marR="0" indent="0" algn="l">
              <a:buNone/>
            </a:pP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</a:p>
          <a:p>
            <a:pPr marL="0" marR="0" indent="0" algn="l">
              <a:buNone/>
            </a:pPr>
            <a:r>
              <a:rPr lang="ko-KR" altLang="ko-KR" sz="1400" b="1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--- 2. Data </a:t>
            </a:r>
            <a:r>
              <a:rPr lang="ko-KR" altLang="ko-KR" sz="1400" b="1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Splitting</a:t>
            </a:r>
            <a:r>
              <a:rPr lang="ko-KR" altLang="ko-KR" sz="1400" b="1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텍스트를 </a:t>
            </a:r>
            <a:r>
              <a:rPr lang="ko-KR" altLang="ko-KR" sz="1400" b="1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청크로</a:t>
            </a:r>
            <a:r>
              <a:rPr lang="ko-KR" altLang="ko-KR" sz="1400" b="1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분할 ---</a:t>
            </a:r>
          </a:p>
          <a:p>
            <a:pPr marL="0" marR="0" indent="0" algn="l">
              <a:buNone/>
            </a:pPr>
            <a:r>
              <a:rPr lang="ko-KR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splitter</a:t>
            </a: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RecursiveCharacterTextSplitter</a:t>
            </a: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chunk_size</a:t>
            </a: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=1000, </a:t>
            </a:r>
            <a:r>
              <a:rPr lang="ko-KR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chunk_overlap</a:t>
            </a: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=200)</a:t>
            </a:r>
          </a:p>
          <a:p>
            <a:pPr marL="0" marR="0" indent="0" algn="l">
              <a:buNone/>
            </a:pPr>
            <a:r>
              <a:rPr lang="ko-KR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splitted_docs</a:t>
            </a: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splitter.split_documents</a:t>
            </a: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docs</a:t>
            </a: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0" marR="0" indent="0" algn="l">
              <a:buNone/>
            </a:pP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</a:p>
          <a:p>
            <a:pPr marL="0" marR="0" indent="0" algn="l">
              <a:buNone/>
            </a:pPr>
            <a:r>
              <a:rPr lang="ko-KR" altLang="ko-KR" sz="1400" b="1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--- </a:t>
            </a:r>
            <a:r>
              <a:rPr lang="ko-KR" altLang="ko-KR" sz="1400" b="1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ko-KR" altLang="ko-KR" sz="1400" b="1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접속 정보 설정 ---</a:t>
            </a:r>
          </a:p>
          <a:p>
            <a:pPr marL="0" marR="0" indent="0" algn="l">
              <a:buNone/>
            </a:pP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SUPABASE_KEY = </a:t>
            </a:r>
            <a:r>
              <a:rPr lang="ko-KR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userdata.get</a:t>
            </a: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('</a:t>
            </a:r>
            <a:r>
              <a:rPr lang="ko-KR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supakey</a:t>
            </a: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 marL="0" marR="0" indent="0" algn="l">
              <a:buNone/>
            </a:pP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SUPABASE_URL = "https://qctwuimxnppnzmjcnluc.supabase.co" # 본인 프로젝트 </a:t>
            </a:r>
            <a:r>
              <a:rPr lang="ko-KR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URL로</a:t>
            </a: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교체</a:t>
            </a:r>
          </a:p>
          <a:p>
            <a:r>
              <a:rPr lang="ko-KR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supabase_client</a:t>
            </a: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Client</a:t>
            </a: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create_client</a:t>
            </a: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(SUPABASE_URL, SUPABASE_KEY)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클라이언트 생성</a:t>
            </a:r>
            <a:endParaRPr lang="ko-KR" altLang="ko-KR" sz="1400" b="0" i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indent="0" algn="l">
              <a:buNone/>
            </a:pP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</a:p>
          <a:p>
            <a:pPr marL="0" marR="0" indent="0" algn="l">
              <a:buNone/>
            </a:pPr>
            <a:r>
              <a:rPr lang="ko-KR" altLang="ko-KR" sz="1400" b="1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--- 3. Data </a:t>
            </a:r>
            <a:r>
              <a:rPr lang="ko-KR" altLang="ko-KR" sz="1400" b="1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Embedding</a:t>
            </a:r>
            <a:r>
              <a:rPr lang="ko-KR" altLang="ko-KR" sz="1400" b="1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ko-KR" sz="1400" b="1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ko-KR" altLang="ko-KR" sz="1400" b="1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모델 소환 (로컬 </a:t>
            </a:r>
            <a:r>
              <a:rPr lang="ko-KR" altLang="ko-KR" sz="1400" b="1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HuggingFace</a:t>
            </a:r>
            <a:r>
              <a:rPr lang="ko-KR" altLang="ko-KR" sz="1400" b="1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모델) ---</a:t>
            </a:r>
          </a:p>
          <a:p>
            <a:pPr marL="0" marR="0" indent="0" algn="l">
              <a:buNone/>
            </a:pPr>
            <a:r>
              <a:rPr lang="ko-KR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embed_model</a:t>
            </a: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HuggingFaceEmbeddings</a:t>
            </a: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model_name</a:t>
            </a: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="all-MiniLM-L6-v2")</a:t>
            </a:r>
          </a:p>
          <a:p>
            <a:pPr marL="0" marR="0" indent="0" algn="l">
              <a:buNone/>
            </a:pP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</a:p>
          <a:p>
            <a:pPr marL="0" marR="0" indent="0" algn="l">
              <a:buNone/>
            </a:pPr>
            <a:r>
              <a:rPr lang="ko-KR" altLang="ko-KR" sz="1400" b="1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--- 4. Data </a:t>
            </a:r>
            <a:r>
              <a:rPr lang="ko-KR" altLang="ko-KR" sz="1400" b="1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Storing</a:t>
            </a:r>
            <a:r>
              <a:rPr lang="ko-KR" altLang="ko-KR" sz="1400" b="1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ko-KR" sz="1400" b="1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ko-KR" altLang="ko-KR" sz="1400" b="1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b="1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VectorDB에</a:t>
            </a:r>
            <a:r>
              <a:rPr lang="ko-KR" altLang="ko-KR" sz="1400" b="1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적재 ---</a:t>
            </a:r>
          </a:p>
          <a:p>
            <a:pPr marL="0" marR="0" indent="0" algn="l">
              <a:buNone/>
            </a:pP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SQL </a:t>
            </a:r>
            <a:r>
              <a:rPr lang="ko-KR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Editor에서</a:t>
            </a: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documents</a:t>
            </a: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테이블를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</a:t>
            </a: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(384) 차원으로 미리 생성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(all-MiniLM-L6-v2 = 384차원)</a:t>
            </a:r>
          </a:p>
          <a:p>
            <a:pPr marL="0" marR="0" indent="0" algn="l">
              <a:buNone/>
            </a:pPr>
            <a:r>
              <a:rPr lang="ko-KR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SupabaseVectorStore.from_documents</a:t>
            </a: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documents</a:t>
            </a: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splitted_docs</a:t>
            </a: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embedding</a:t>
            </a: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embed_model</a:t>
            </a: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 marL="0" marR="0" indent="0" algn="l"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			</a:t>
            </a:r>
            <a:r>
              <a:rPr lang="ko-KR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client</a:t>
            </a: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supabase_client</a:t>
            </a: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table_name</a:t>
            </a: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lang="ko-KR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documents</a:t>
            </a: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pPr marL="0" marR="0" indent="0" algn="l">
              <a:buNone/>
            </a:pP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			</a:t>
            </a:r>
            <a:r>
              <a:rPr lang="ko-KR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query_name</a:t>
            </a: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lang="ko-KR" altLang="ko-KR" sz="14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match_documents</a:t>
            </a: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</a:p>
          <a:p>
            <a:pPr marL="0" marR="0" indent="0" algn="l">
              <a:buNone/>
            </a:pP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			</a:t>
            </a:r>
            <a:r>
              <a:rPr lang="ko-KR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1D3B40-BB43-63A8-1F2C-37F92EA35FF5}"/>
              </a:ext>
            </a:extLst>
          </p:cNvPr>
          <p:cNvSpPr txBox="1"/>
          <p:nvPr/>
        </p:nvSpPr>
        <p:spPr>
          <a:xfrm>
            <a:off x="637312" y="1382604"/>
            <a:ext cx="10983188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ko-KR" altLang="ko-KR" sz="160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Documents</a:t>
            </a:r>
            <a:r>
              <a:rPr lang="ko-KR" altLang="ko-KR" sz="160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→ Data </a:t>
            </a:r>
            <a:r>
              <a:rPr lang="ko-KR" altLang="ko-KR" sz="160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Loading</a:t>
            </a:r>
            <a:r>
              <a:rPr lang="ko-KR" altLang="ko-KR" sz="160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→ Data </a:t>
            </a:r>
            <a:r>
              <a:rPr lang="ko-KR" altLang="ko-KR" sz="160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Splitting</a:t>
            </a:r>
            <a:r>
              <a:rPr lang="ko-KR" altLang="ko-KR" sz="160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→ Data </a:t>
            </a:r>
            <a:r>
              <a:rPr lang="ko-KR" altLang="ko-KR" sz="160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Embedding</a:t>
            </a:r>
            <a:r>
              <a:rPr lang="ko-KR" altLang="ko-KR" sz="160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→ Data </a:t>
            </a:r>
            <a:r>
              <a:rPr lang="ko-KR" altLang="ko-KR" sz="160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Storing</a:t>
            </a:r>
            <a:r>
              <a:rPr lang="ko-KR" altLang="ko-KR" sz="160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ko-KR" sz="160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Vector</a:t>
            </a:r>
            <a:r>
              <a:rPr lang="ko-KR" altLang="ko-KR" sz="160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DB: </a:t>
            </a:r>
            <a:r>
              <a:rPr lang="ko-KR" altLang="ko-KR" sz="160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ko-KR" altLang="ko-KR" sz="160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93248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A81BC-AF22-466F-5EB5-7C85CE2DC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07A3216-FE72-EDF9-7303-55BCE87940F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Basic RAG Pipeline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2AB7355C-86AC-6AAE-3552-145850DC0B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4285380-B40E-187A-030B-04E12E45A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552" y="1643485"/>
            <a:ext cx="8837298" cy="4575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542657-A59B-8A0A-0A9C-41DC4391D97F}"/>
              </a:ext>
            </a:extLst>
          </p:cNvPr>
          <p:cNvSpPr txBox="1"/>
          <p:nvPr/>
        </p:nvSpPr>
        <p:spPr>
          <a:xfrm>
            <a:off x="6677891" y="654811"/>
            <a:ext cx="49426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Step 2. Data Retrieval &amp; Generation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8B25F3DD-A4D4-B292-29B7-9975ACE52F81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/>
              <a:pPr/>
              <a:t>8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889453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04A62-AA69-3FF8-6D99-FCADB6BEE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DA34C3E-65F8-4E97-55C8-2C22F6A5DFC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Basic RAG Pipeline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5F8A587-8418-5BA2-AD9B-E65AA9954F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277561-8DEB-B3F8-69CA-04307D02C552}"/>
              </a:ext>
            </a:extLst>
          </p:cNvPr>
          <p:cNvSpPr txBox="1"/>
          <p:nvPr/>
        </p:nvSpPr>
        <p:spPr>
          <a:xfrm>
            <a:off x="6677891" y="654811"/>
            <a:ext cx="49426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Step 2. Data Retrieval &amp; Generation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4B69542F-8C58-54D9-481B-59B6BC952292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/>
              <a:pPr/>
              <a:t>9</a:t>
            </a:fld>
            <a:endParaRPr lang="en-US" sz="1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08DBBA-E889-28BB-B45D-F68CD6328731}"/>
              </a:ext>
            </a:extLst>
          </p:cNvPr>
          <p:cNvSpPr txBox="1"/>
          <p:nvPr/>
        </p:nvSpPr>
        <p:spPr>
          <a:xfrm>
            <a:off x="637312" y="1726488"/>
            <a:ext cx="10983188" cy="4832092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ko-KR" altLang="ko-KR" sz="1400" b="1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--- </a:t>
            </a:r>
            <a:r>
              <a:rPr lang="en-US" altLang="ko-KR" sz="1400" b="1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ko-KR" sz="1400" b="1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ko-KR" sz="14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User</a:t>
            </a:r>
            <a:r>
              <a:rPr lang="ko-KR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Query</a:t>
            </a:r>
            <a:r>
              <a:rPr lang="ko-KR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 → </a:t>
            </a:r>
            <a:r>
              <a:rPr lang="ko-KR" altLang="ko-KR" sz="14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Vector</a:t>
            </a:r>
            <a:r>
              <a:rPr lang="ko-KR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Embedding</a:t>
            </a:r>
            <a:r>
              <a:rPr lang="ko-KR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 → </a:t>
            </a:r>
            <a:r>
              <a:rPr lang="ko-KR" altLang="ko-KR" sz="14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Retrieval</a:t>
            </a:r>
            <a:r>
              <a:rPr lang="ko-KR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ko-KR" sz="14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Top</a:t>
            </a:r>
            <a:r>
              <a:rPr lang="ko-KR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-K </a:t>
            </a:r>
            <a:r>
              <a:rPr lang="ko-KR" altLang="ko-KR" sz="14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Chunks</a:t>
            </a:r>
            <a:r>
              <a:rPr lang="ko-KR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query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"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랭체인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</a:p>
          <a:p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results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db.similarity_search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query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k=2)</a:t>
            </a:r>
          </a:p>
          <a:p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results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"- 내용: {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doc.page_content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} | 출처: {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doc.metadata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}")</a:t>
            </a:r>
          </a:p>
          <a:p>
            <a:endParaRPr lang="en-US" altLang="ko-KR" sz="1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# --- 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6</a:t>
            </a:r>
            <a:r>
              <a:rPr lang="ko-KR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ko-KR" sz="14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Generation</a:t>
            </a:r>
            <a:r>
              <a:rPr lang="ko-KR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ko-KR" sz="14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Top</a:t>
            </a:r>
            <a:r>
              <a:rPr lang="ko-KR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-K </a:t>
            </a:r>
            <a:r>
              <a:rPr lang="ko-KR" altLang="ko-KR" sz="14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Chunks</a:t>
            </a:r>
            <a:r>
              <a:rPr lang="ko-KR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 → LLM(</a:t>
            </a:r>
            <a:r>
              <a:rPr lang="ko-KR" altLang="ko-KR" sz="14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Groq</a:t>
            </a:r>
            <a:r>
              <a:rPr lang="ko-KR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) → </a:t>
            </a:r>
            <a:r>
              <a:rPr lang="ko-KR" altLang="ko-KR" sz="14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Response</a:t>
            </a:r>
            <a:r>
              <a:rPr lang="ko-KR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from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langchain_groq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import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ChatGroq</a:t>
            </a:r>
            <a:endParaRPr lang="ko-KR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Groq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API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Key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설정 (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Colab의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경우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userdata.get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사용, 로컬이면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os.environ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등으로 대체)</a:t>
            </a:r>
          </a:p>
          <a:p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GROQ_API_KEY =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userdata.get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('GROQ_API_KEY')</a:t>
            </a:r>
          </a:p>
          <a:p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</a:t>
            </a:r>
          </a:p>
          <a:p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ChatGroq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="llama-3.3-70b-versatile", # 필요에 따라 다른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Groq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모델로 교체 가능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	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groq_api_key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=GROQ_API_KEY,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t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emperature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=0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	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context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"\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\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".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join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([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doc.page_content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results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])</a:t>
            </a:r>
          </a:p>
          <a:p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prompt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"""다음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컨텍스트만을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참고하여 질문에 답하세요. 컨텍스트에 없는 내용은 모른다고 답하세요.</a:t>
            </a:r>
          </a:p>
          <a:p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[컨텍스트]</a:t>
            </a:r>
          </a:p>
          <a:p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context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  <a:p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[질문]</a:t>
            </a:r>
          </a:p>
          <a:p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query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  <a:p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"""</a:t>
            </a:r>
          </a:p>
          <a:p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response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llm.invoke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prompt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print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response.content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9F9B94-B663-F7DD-2A9C-DEE4C528370D}"/>
              </a:ext>
            </a:extLst>
          </p:cNvPr>
          <p:cNvSpPr txBox="1"/>
          <p:nvPr/>
        </p:nvSpPr>
        <p:spPr>
          <a:xfrm>
            <a:off x="637312" y="1382604"/>
            <a:ext cx="10983188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ko-KR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User</a:t>
            </a:r>
            <a:r>
              <a:rPr lang="ko-KR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Query</a:t>
            </a:r>
            <a:r>
              <a:rPr lang="ko-KR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→ </a:t>
            </a:r>
            <a:r>
              <a:rPr lang="ko-KR" altLang="ko-KR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Vector</a:t>
            </a:r>
            <a:r>
              <a:rPr lang="ko-KR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Embedding</a:t>
            </a:r>
            <a:r>
              <a:rPr lang="ko-KR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→ </a:t>
            </a:r>
            <a:r>
              <a:rPr lang="ko-KR" altLang="ko-KR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Vector</a:t>
            </a:r>
            <a:r>
              <a:rPr lang="ko-KR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DB(</a:t>
            </a:r>
            <a:r>
              <a:rPr lang="ko-KR" altLang="ko-KR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ko-KR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→ </a:t>
            </a:r>
            <a:r>
              <a:rPr lang="ko-KR" altLang="ko-KR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Retrieval</a:t>
            </a:r>
            <a:r>
              <a:rPr lang="ko-KR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→ </a:t>
            </a:r>
            <a:r>
              <a:rPr lang="ko-KR" altLang="ko-KR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Top</a:t>
            </a:r>
            <a:r>
              <a:rPr lang="ko-KR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-K </a:t>
            </a:r>
            <a:r>
              <a:rPr lang="ko-KR" altLang="ko-KR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Chunks</a:t>
            </a:r>
            <a:r>
              <a:rPr lang="ko-KR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→ LLM → </a:t>
            </a:r>
            <a:r>
              <a:rPr lang="ko-KR" altLang="ko-KR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Response</a:t>
            </a:r>
            <a:endParaRPr lang="ko-KR" altLang="ko-KR" sz="1400" b="1" i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43604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6AADB-16FD-D031-093A-078B9B45A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642E58B-10CC-8E33-F868-76BDE8BDD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318" y="2714624"/>
            <a:ext cx="7639100" cy="26765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9FF27C86-F5A7-56AC-6B7D-6AB573A8361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Goal: Picking Relevant Context for LLMs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DE27A3-7BCD-B963-0B8B-1E167166F732}"/>
              </a:ext>
            </a:extLst>
          </p:cNvPr>
          <p:cNvSpPr txBox="1"/>
          <p:nvPr/>
        </p:nvSpPr>
        <p:spPr>
          <a:xfrm>
            <a:off x="609600" y="1248422"/>
            <a:ext cx="10972800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Ingestion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is simply the process of converting your documents into numbers that computers can understand and analyze, and storing them in a special type of database for efficient retrieval. </a:t>
            </a:r>
            <a:endParaRPr lang="ko-KR" altLang="en-US" sz="16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4036C3-6CE1-9412-61CB-8AA26EABCFD4}"/>
              </a:ext>
            </a:extLst>
          </p:cNvPr>
          <p:cNvSpPr txBox="1"/>
          <p:nvPr/>
        </p:nvSpPr>
        <p:spPr>
          <a:xfrm>
            <a:off x="8458199" y="2714625"/>
            <a:ext cx="3324225" cy="28339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Extract the text from the document.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Split the text into manageable chunks.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Convert the text into numbers that computers can understand.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Store these number representations of your text somewhere that makes it easy and fast to retrieve the relevant sections of your document to answer a given question.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7C5159-309F-23EC-ADB3-6FAB4DCD08BE}"/>
              </a:ext>
            </a:extLst>
          </p:cNvPr>
          <p:cNvSpPr txBox="1"/>
          <p:nvPr/>
        </p:nvSpPr>
        <p:spPr>
          <a:xfrm>
            <a:off x="1112771" y="5788190"/>
            <a:ext cx="4295775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“What key risks did Tesla face in 2022?”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4" name="그래픽 13" descr="웹 디자인">
            <a:extLst>
              <a:ext uri="{FF2B5EF4-FFF2-40B4-BE49-F238E27FC236}">
                <a16:creationId xmlns:a16="http://schemas.microsoft.com/office/drawing/2014/main" id="{2390334E-00AF-997C-7435-855CCD58A0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9184" y="5686662"/>
            <a:ext cx="543335" cy="543335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0164DB67-877E-2766-2071-AB2439A1502F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/>
              <a:pPr/>
              <a:t>10</a:t>
            </a:fld>
            <a:endParaRPr lang="en-US" sz="1400" b="1" dirty="0"/>
          </a:p>
        </p:txBody>
      </p:sp>
      <p:sp>
        <p:nvSpPr>
          <p:cNvPr id="4" name="두루마리 모양: 가로로 말림 3">
            <a:extLst>
              <a:ext uri="{FF2B5EF4-FFF2-40B4-BE49-F238E27FC236}">
                <a16:creationId xmlns:a16="http://schemas.microsoft.com/office/drawing/2014/main" id="{18D8461A-F4D0-45BF-D36F-2936E3ECA64C}"/>
              </a:ext>
            </a:extLst>
          </p:cNvPr>
          <p:cNvSpPr/>
          <p:nvPr/>
        </p:nvSpPr>
        <p:spPr>
          <a:xfrm>
            <a:off x="819151" y="2772098"/>
            <a:ext cx="1428749" cy="771202"/>
          </a:xfrm>
          <a:prstGeom prst="horizontalScroll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0870DB-7FC7-C2F1-AC9D-0DCF09FD92E6}"/>
              </a:ext>
            </a:extLst>
          </p:cNvPr>
          <p:cNvSpPr txBox="1"/>
          <p:nvPr/>
        </p:nvSpPr>
        <p:spPr>
          <a:xfrm>
            <a:off x="885826" y="2905780"/>
            <a:ext cx="1428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Tesla’s 2022 annual report</a:t>
            </a:r>
            <a:endParaRPr lang="ko-KR" altLang="en-US" sz="14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1685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36070-2CC2-66E6-DD08-B216F753E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8316F6E-B76D-919F-CACA-216763CBE61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Embeddings: Converting Text to Numbers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E20299-24BC-EE2D-485F-A75920529068}"/>
              </a:ext>
            </a:extLst>
          </p:cNvPr>
          <p:cNvSpPr txBox="1"/>
          <p:nvPr/>
        </p:nvSpPr>
        <p:spPr>
          <a:xfrm>
            <a:off x="552450" y="1248422"/>
            <a:ext cx="11068050" cy="102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(Embedding)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텍스트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단어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문장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하나의 길고 연속된 숫자 배열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벡터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 변환하는 기술로 손실 압축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(Lossy Representation)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 되어 숫자로 바꾸는 과정에서 정보가 일부 유실되므로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숫자만 보고 원래 텍스트를 완벽하게 복원하는 것은 불가능하기 때문에 원문 텍스트와 변환된 숫자 배열을 동시에 저장하는 것이 일반적임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8F55DA5-9B2C-D743-42D8-2D3A6D9CE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7772" y="2890231"/>
            <a:ext cx="5027556" cy="352309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C177282-FA62-1671-F445-07B785A60FEB}"/>
              </a:ext>
            </a:extLst>
          </p:cNvPr>
          <p:cNvSpPr txBox="1"/>
          <p:nvPr/>
        </p:nvSpPr>
        <p:spPr>
          <a:xfrm>
            <a:off x="5962651" y="2582454"/>
            <a:ext cx="46481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sklearn.feature_extraction.text.CountVectorizer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31A12F-8BAC-51AF-0C3A-57BB35C131A8}"/>
              </a:ext>
            </a:extLst>
          </p:cNvPr>
          <p:cNvSpPr txBox="1"/>
          <p:nvPr/>
        </p:nvSpPr>
        <p:spPr>
          <a:xfrm>
            <a:off x="571502" y="3865832"/>
            <a:ext cx="4648199" cy="116249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What a sunny day.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Such bright skies today.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 haven’t seen a sunny day in weeks.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8" name="그래픽 17" descr="시계 방향으로 굽은 줄 화살표">
            <a:extLst>
              <a:ext uri="{FF2B5EF4-FFF2-40B4-BE49-F238E27FC236}">
                <a16:creationId xmlns:a16="http://schemas.microsoft.com/office/drawing/2014/main" id="{055100B4-C405-A0C3-26BB-81F67B995E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5048251" y="2992168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73D6CFB-E03C-46C7-55BF-41104DB29EA1}"/>
              </a:ext>
            </a:extLst>
          </p:cNvPr>
          <p:cNvSpPr txBox="1"/>
          <p:nvPr/>
        </p:nvSpPr>
        <p:spPr>
          <a:xfrm>
            <a:off x="8439150" y="654811"/>
            <a:ext cx="31813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Embeddings Before LLMs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3154510-4BE7-5B2E-FA3B-26FFA7F0103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/>
              <a:pPr/>
              <a:t>11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967838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DAD8E-817C-3E4B-143B-51A72B003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9E8235B-A26E-8524-42D9-C62BA9C055C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Embeddings: Converting Text to Numbers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5B9EBB-2E66-082D-EA15-D31933E2D58A}"/>
              </a:ext>
            </a:extLst>
          </p:cNvPr>
          <p:cNvSpPr txBox="1"/>
          <p:nvPr/>
        </p:nvSpPr>
        <p:spPr>
          <a:xfrm>
            <a:off x="8439150" y="654811"/>
            <a:ext cx="31813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Embeddings Before LLMs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2EFD2314-C375-B0E6-9A67-498A2AD4C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376" y="2841595"/>
            <a:ext cx="4686300" cy="2694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A2C1598-4E5C-FFC2-0164-1F80C2838B1C}"/>
              </a:ext>
            </a:extLst>
          </p:cNvPr>
          <p:cNvSpPr txBox="1"/>
          <p:nvPr/>
        </p:nvSpPr>
        <p:spPr>
          <a:xfrm>
            <a:off x="1821656" y="2432427"/>
            <a:ext cx="2883694" cy="374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en-US" altLang="ko-KR" i="0" dirty="0">
                <a:solidFill>
                  <a:srgbClr val="24242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Bag-of-Words algorithm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6E6BED-D1C7-5B12-63BC-A7CC9B130F97}"/>
              </a:ext>
            </a:extLst>
          </p:cNvPr>
          <p:cNvSpPr txBox="1"/>
          <p:nvPr/>
        </p:nvSpPr>
        <p:spPr>
          <a:xfrm>
            <a:off x="1023376" y="5672691"/>
            <a:ext cx="4605899" cy="663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250"/>
              </a:lnSpc>
              <a:buFont typeface="Wingdings" panose="05000000000000000000" pitchFamily="2" charset="2"/>
              <a:buChar char="§"/>
            </a:pPr>
            <a:r>
              <a:rPr lang="en-US" altLang="ko-KR" sz="1600" i="0" dirty="0">
                <a:solidFill>
                  <a:srgbClr val="24242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Bag-of-N grams algorithm</a:t>
            </a:r>
          </a:p>
          <a:p>
            <a:pPr marL="285750" indent="-285750">
              <a:lnSpc>
                <a:spcPts val="225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solidFill>
                  <a:srgbClr val="242424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TF-IDF algorithm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20AD1A-9057-226C-BDF3-65256712E4FE}"/>
              </a:ext>
            </a:extLst>
          </p:cNvPr>
          <p:cNvSpPr txBox="1"/>
          <p:nvPr/>
        </p:nvSpPr>
        <p:spPr>
          <a:xfrm>
            <a:off x="7648575" y="3017294"/>
            <a:ext cx="4029075" cy="1448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희소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(Sparse Embedding)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의미인식 불가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(No Semantic Embedding)</a:t>
            </a:r>
          </a:p>
          <a:p>
            <a:pPr lvl="1">
              <a:lnSpc>
                <a:spcPct val="20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bright skies, sunny day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7" name="화살표: 줄무늬가 있는 오른쪽 26">
            <a:extLst>
              <a:ext uri="{FF2B5EF4-FFF2-40B4-BE49-F238E27FC236}">
                <a16:creationId xmlns:a16="http://schemas.microsoft.com/office/drawing/2014/main" id="{B0B89421-3C18-1368-F3CA-D73E197124E2}"/>
              </a:ext>
            </a:extLst>
          </p:cNvPr>
          <p:cNvSpPr/>
          <p:nvPr/>
        </p:nvSpPr>
        <p:spPr>
          <a:xfrm>
            <a:off x="6153151" y="3267074"/>
            <a:ext cx="1238250" cy="1038225"/>
          </a:xfrm>
          <a:prstGeom prst="stripedRightArrow">
            <a:avLst>
              <a:gd name="adj1" fmla="val 70184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latin typeface="D2Coding" panose="020B0609020101020101" pitchFamily="49" charset="-127"/>
                <a:ea typeface="D2Coding" panose="020B0609020101020101" pitchFamily="49" charset="-127"/>
              </a:rPr>
              <a:t>약점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44DD2D-AA4F-98C3-EC7B-F918809EAB6C}"/>
              </a:ext>
            </a:extLst>
          </p:cNvPr>
          <p:cNvSpPr txBox="1"/>
          <p:nvPr/>
        </p:nvSpPr>
        <p:spPr>
          <a:xfrm>
            <a:off x="552450" y="1248422"/>
            <a:ext cx="11068050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모든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단어의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출현빈도를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세어야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문장의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벡터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길이는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수만큼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커지고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대부분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으로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구성되어 자원의 손실 부작용과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단어의 순서를 고려하지 않기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때문에 단어의 의미를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나타낼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수가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없음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A966D9A2-8A6C-CA60-F946-C04153495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07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12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824194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D1FBD-90CF-E311-8358-701261E9B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A5F9116-57D8-A712-175C-24958598179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Embeddings: Converting Text to Numbers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35F48B-8E97-8640-ACC0-6AA4786BC7DD}"/>
              </a:ext>
            </a:extLst>
          </p:cNvPr>
          <p:cNvSpPr txBox="1"/>
          <p:nvPr/>
        </p:nvSpPr>
        <p:spPr>
          <a:xfrm>
            <a:off x="8439150" y="654811"/>
            <a:ext cx="31813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Embeddings Before LLMs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6AED2F-BE85-50FF-D0EA-02A93D82203C}"/>
              </a:ext>
            </a:extLst>
          </p:cNvPr>
          <p:cNvSpPr txBox="1"/>
          <p:nvPr/>
        </p:nvSpPr>
        <p:spPr>
          <a:xfrm>
            <a:off x="537022" y="1248422"/>
            <a:ext cx="11179333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세상에 단어가 딱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 단어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대출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", 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광고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", 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안녕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", 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오늘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만 존재한다고 가정하고 예측모델이 새로운 메일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개를 각각 정상과 스팸 어떤 것으로 분류하는지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 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각 문장에 어떤 단어가 있는지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key word search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 가능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2F6D4C-12A9-2B4B-E6C8-87D2F97DFBAC}"/>
              </a:ext>
            </a:extLst>
          </p:cNvPr>
          <p:cNvSpPr txBox="1"/>
          <p:nvPr/>
        </p:nvSpPr>
        <p:spPr>
          <a:xfrm>
            <a:off x="933450" y="2894556"/>
            <a:ext cx="4648200" cy="1440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스팸 메일 1: "대출 광고"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 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[1,  1,  0,  0]</a:t>
            </a:r>
            <a:endParaRPr lang="en-US" altLang="ko-KR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스팸 메일 2: "오늘 대출"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[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, 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,  0,  1]</a:t>
            </a:r>
            <a:endParaRPr lang="en-US" altLang="ko-KR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정상 메일 1: "안녕 오늘"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[0,  0,  1,  1]</a:t>
            </a:r>
            <a:endParaRPr lang="en-US" altLang="ko-KR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정상 메일 2: "오늘 안녕"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[0,  0,  1,  1]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7D5F1-5B13-0386-F411-5809448CD7D2}"/>
              </a:ext>
            </a:extLst>
          </p:cNvPr>
          <p:cNvSpPr txBox="1"/>
          <p:nvPr/>
        </p:nvSpPr>
        <p:spPr>
          <a:xfrm>
            <a:off x="5762624" y="3010363"/>
            <a:ext cx="566578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스팸 1  [1, 1, 0, 0] + 스팸 2  [1, 0, 0, 1] = [2, 1, 0, 1]</a:t>
            </a:r>
            <a:endParaRPr lang="en-US" altLang="ko-KR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총 개수 2로 나누면 </a:t>
            </a:r>
            <a:r>
              <a:rPr lang="ko-KR" altLang="en-US" sz="1500" b="1" dirty="0">
                <a:latin typeface="D2Coding" panose="020B0609020101020101" pitchFamily="49" charset="-127"/>
                <a:ea typeface="D2Coding" panose="020B0609020101020101" pitchFamily="49" charset="-127"/>
              </a:rPr>
              <a:t>평균</a:t>
            </a:r>
            <a:r>
              <a:rPr lang="en-US" altLang="ko-KR" sz="1500" b="1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500" b="1" dirty="0">
                <a:latin typeface="D2Coding" panose="020B0609020101020101" pitchFamily="49" charset="-127"/>
                <a:ea typeface="D2Coding" panose="020B0609020101020101" pitchFamily="49" charset="-127"/>
              </a:rPr>
              <a:t>대표</a:t>
            </a:r>
            <a:r>
              <a:rPr lang="en-US" altLang="ko-KR" sz="1500" b="1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500" b="1" dirty="0">
                <a:latin typeface="D2Coding" panose="020B0609020101020101" pitchFamily="49" charset="-127"/>
                <a:ea typeface="D2Coding" panose="020B0609020101020101" pitchFamily="49" charset="-127"/>
              </a:rPr>
              <a:t> 벡터 </a:t>
            </a:r>
            <a:r>
              <a:rPr lang="en-US" altLang="ko-KR" sz="1500" b="1" dirty="0"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ko-KR" altLang="en-US" sz="1500" b="1" dirty="0">
                <a:latin typeface="D2Coding" panose="020B0609020101020101" pitchFamily="49" charset="-127"/>
                <a:ea typeface="D2Coding" panose="020B0609020101020101" pitchFamily="49" charset="-127"/>
              </a:rPr>
              <a:t>[1.0, 0.5, 0.0, 0.5]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9AD14D-55D7-317F-7847-15E0E394731E}"/>
              </a:ext>
            </a:extLst>
          </p:cNvPr>
          <p:cNvSpPr txBox="1"/>
          <p:nvPr/>
        </p:nvSpPr>
        <p:spPr>
          <a:xfrm>
            <a:off x="5795962" y="3742360"/>
            <a:ext cx="566578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정상 1  [0, 0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1, 1] + 정상 2  [0, 0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1, 1] = [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endParaRPr lang="en-US" altLang="ko-KR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총 개수 2로 나누면 </a:t>
            </a:r>
            <a:r>
              <a:rPr lang="ko-KR" altLang="en-US" sz="1500" b="1" dirty="0">
                <a:latin typeface="D2Coding" panose="020B0609020101020101" pitchFamily="49" charset="-127"/>
                <a:ea typeface="D2Coding" panose="020B0609020101020101" pitchFamily="49" charset="-127"/>
              </a:rPr>
              <a:t>평균</a:t>
            </a:r>
            <a:r>
              <a:rPr lang="en-US" altLang="ko-KR" sz="1500" b="1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500" b="1" dirty="0">
                <a:latin typeface="D2Coding" panose="020B0609020101020101" pitchFamily="49" charset="-127"/>
                <a:ea typeface="D2Coding" panose="020B0609020101020101" pitchFamily="49" charset="-127"/>
              </a:rPr>
              <a:t>대표</a:t>
            </a:r>
            <a:r>
              <a:rPr lang="en-US" altLang="ko-KR" sz="1500" b="1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500" b="1" dirty="0">
                <a:latin typeface="D2Coding" panose="020B0609020101020101" pitchFamily="49" charset="-127"/>
                <a:ea typeface="D2Coding" panose="020B0609020101020101" pitchFamily="49" charset="-127"/>
              </a:rPr>
              <a:t> 벡터 </a:t>
            </a:r>
            <a:r>
              <a:rPr lang="en-US" altLang="ko-KR" sz="1500" b="1" dirty="0"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ko-KR" altLang="en-US" sz="1500" b="1" dirty="0"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500" b="1" dirty="0"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500" b="1" dirty="0">
                <a:latin typeface="D2Coding" panose="020B0609020101020101" pitchFamily="49" charset="-127"/>
                <a:ea typeface="D2Coding" panose="020B0609020101020101" pitchFamily="49" charset="-127"/>
              </a:rPr>
              <a:t>.0, 0.</a:t>
            </a:r>
            <a:r>
              <a:rPr lang="en-US" altLang="ko-KR" sz="1500" b="1" dirty="0"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500" b="1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500" b="1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500" b="1" dirty="0">
                <a:latin typeface="D2Coding" panose="020B0609020101020101" pitchFamily="49" charset="-127"/>
                <a:ea typeface="D2Coding" panose="020B0609020101020101" pitchFamily="49" charset="-127"/>
              </a:rPr>
              <a:t>.0, </a:t>
            </a:r>
            <a:r>
              <a:rPr lang="en-US" altLang="ko-KR" sz="1500" b="1" dirty="0">
                <a:latin typeface="D2Coding" panose="020B0609020101020101" pitchFamily="49" charset="-127"/>
                <a:ea typeface="D2Coding" panose="020B0609020101020101" pitchFamily="49" charset="-127"/>
              </a:rPr>
              <a:t>1.0</a:t>
            </a:r>
            <a:r>
              <a:rPr lang="ko-KR" altLang="en-US" sz="1500" b="1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B98BF7-067C-3085-3F74-763D2F3DD478}"/>
              </a:ext>
            </a:extLst>
          </p:cNvPr>
          <p:cNvSpPr txBox="1"/>
          <p:nvPr/>
        </p:nvSpPr>
        <p:spPr>
          <a:xfrm>
            <a:off x="1352550" y="4771884"/>
            <a:ext cx="4505325" cy="422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새로운 메일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"오늘 광고"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[0,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1]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C1BA9BB-70C0-196C-B038-1DEFDE00A415}"/>
              </a:ext>
            </a:extLst>
          </p:cNvPr>
          <p:cNvSpPr/>
          <p:nvPr/>
        </p:nvSpPr>
        <p:spPr>
          <a:xfrm>
            <a:off x="822772" y="2894556"/>
            <a:ext cx="10730534" cy="14764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4EA96A-04DF-6DCB-7EF2-220B31A4D51C}"/>
              </a:ext>
            </a:extLst>
          </p:cNvPr>
          <p:cNvSpPr txBox="1"/>
          <p:nvPr/>
        </p:nvSpPr>
        <p:spPr>
          <a:xfrm>
            <a:off x="1809915" y="2563084"/>
            <a:ext cx="16960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>
                <a:latin typeface="D2Coding" panose="020B0609020101020101" pitchFamily="49" charset="-127"/>
                <a:ea typeface="D2Coding" panose="020B0609020101020101" pitchFamily="49" charset="-127"/>
              </a:rPr>
              <a:t>학습된 모델 </a:t>
            </a:r>
            <a:endParaRPr lang="ko-KR" altLang="en-US" sz="1600" dirty="0"/>
          </a:p>
        </p:txBody>
      </p:sp>
      <p:pic>
        <p:nvPicPr>
          <p:cNvPr id="28" name="그래픽 27" descr="모니터">
            <a:extLst>
              <a:ext uri="{FF2B5EF4-FFF2-40B4-BE49-F238E27FC236}">
                <a16:creationId xmlns:a16="http://schemas.microsoft.com/office/drawing/2014/main" id="{B57E3CBA-A542-E1D3-7B29-C4103F7FC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6350" y="2399091"/>
            <a:ext cx="533565" cy="533565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3C1F85D-A860-A277-940F-ACB9A2B89B60}"/>
              </a:ext>
            </a:extLst>
          </p:cNvPr>
          <p:cNvSpPr txBox="1"/>
          <p:nvPr/>
        </p:nvSpPr>
        <p:spPr>
          <a:xfrm>
            <a:off x="1352549" y="5592885"/>
            <a:ext cx="4505325" cy="422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새로운 메일 2: "오늘 구제"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[0,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1]</a:t>
            </a: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6793DB13-110C-04AD-92FB-F33365531635}"/>
              </a:ext>
            </a:extLst>
          </p:cNvPr>
          <p:cNvCxnSpPr>
            <a:cxnSpLocks/>
            <a:stCxn id="23" idx="3"/>
            <a:endCxn id="39" idx="1"/>
          </p:cNvCxnSpPr>
          <p:nvPr/>
        </p:nvCxnSpPr>
        <p:spPr>
          <a:xfrm flipV="1">
            <a:off x="5857875" y="4974918"/>
            <a:ext cx="2776538" cy="8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D671A3D7-A499-9FB7-4EDB-C2DDDC2038E5}"/>
              </a:ext>
            </a:extLst>
          </p:cNvPr>
          <p:cNvCxnSpPr>
            <a:cxnSpLocks/>
            <a:stCxn id="30" idx="3"/>
            <a:endCxn id="48" idx="1"/>
          </p:cNvCxnSpPr>
          <p:nvPr/>
        </p:nvCxnSpPr>
        <p:spPr>
          <a:xfrm flipV="1">
            <a:off x="5857874" y="5783340"/>
            <a:ext cx="2776539" cy="206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9" name="그래픽 38" descr="모니터">
            <a:extLst>
              <a:ext uri="{FF2B5EF4-FFF2-40B4-BE49-F238E27FC236}">
                <a16:creationId xmlns:a16="http://schemas.microsoft.com/office/drawing/2014/main" id="{249C88CB-8243-AEF7-541C-658AAEF70C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34413" y="4708135"/>
            <a:ext cx="533565" cy="533565"/>
          </a:xfrm>
          <a:prstGeom prst="rect">
            <a:avLst/>
          </a:prstGeom>
        </p:spPr>
      </p:pic>
      <p:pic>
        <p:nvPicPr>
          <p:cNvPr id="48" name="그래픽 47" descr="모니터">
            <a:extLst>
              <a:ext uri="{FF2B5EF4-FFF2-40B4-BE49-F238E27FC236}">
                <a16:creationId xmlns:a16="http://schemas.microsoft.com/office/drawing/2014/main" id="{383E9A1B-9316-3F3F-2D83-75692CAD3A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34413" y="5516557"/>
            <a:ext cx="533565" cy="533565"/>
          </a:xfrm>
          <a:prstGeom prst="rect">
            <a:avLst/>
          </a:prstGeom>
        </p:spPr>
      </p:pic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8FBE8410-9493-DEEF-C3BD-2472DE060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07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13</a:t>
            </a:fld>
            <a:endParaRPr lang="en-US" sz="1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F3F197-7E09-4EA8-F63B-37A2F78145C7}"/>
              </a:ext>
            </a:extLst>
          </p:cNvPr>
          <p:cNvSpPr txBox="1"/>
          <p:nvPr/>
        </p:nvSpPr>
        <p:spPr>
          <a:xfrm>
            <a:off x="3409386" y="2594325"/>
            <a:ext cx="2210363" cy="27699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‘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대출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’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‘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광고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’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‘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오늘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’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‘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안녕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’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DBFD54-596A-0986-752C-87552BEEE0C5}"/>
              </a:ext>
            </a:extLst>
          </p:cNvPr>
          <p:cNvSpPr txBox="1"/>
          <p:nvPr/>
        </p:nvSpPr>
        <p:spPr>
          <a:xfrm>
            <a:off x="9282278" y="4774830"/>
            <a:ext cx="22710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Classification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  <a:endParaRPr lang="ko-KR" altLang="en-U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BF2FBA-8A2E-19AB-EC03-79E65C47CE02}"/>
              </a:ext>
            </a:extLst>
          </p:cNvPr>
          <p:cNvSpPr txBox="1"/>
          <p:nvPr/>
        </p:nvSpPr>
        <p:spPr>
          <a:xfrm>
            <a:off x="9349472" y="5592885"/>
            <a:ext cx="22710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Classification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426322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75660-B2B6-3A63-7CB2-819574EBB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3B3A9F9-3964-5AA0-9F12-F9FF33CB506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Embeddings: Converting Text to Numbers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A72E13-236C-1C12-31D7-B997CA45A3B4}"/>
              </a:ext>
            </a:extLst>
          </p:cNvPr>
          <p:cNvSpPr txBox="1"/>
          <p:nvPr/>
        </p:nvSpPr>
        <p:spPr>
          <a:xfrm>
            <a:off x="8439150" y="654811"/>
            <a:ext cx="31813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Embeddings Before LLMs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042F79-696E-2B1A-BC7B-8C465B75B63A}"/>
              </a:ext>
            </a:extLst>
          </p:cNvPr>
          <p:cNvSpPr txBox="1"/>
          <p:nvPr/>
        </p:nvSpPr>
        <p:spPr>
          <a:xfrm>
            <a:off x="790575" y="2618580"/>
            <a:ext cx="4648200" cy="1440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스팸 메일 1: "대출 광고"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 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[1,  1,  0,  0]</a:t>
            </a:r>
            <a:endParaRPr lang="en-US" altLang="ko-KR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스팸 메일 2: "오늘 대출"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[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, 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,  0,  1]</a:t>
            </a:r>
            <a:endParaRPr lang="en-US" altLang="ko-KR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정상 메일 1: "안녕 오늘"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[0,  0,  1,  1]</a:t>
            </a:r>
            <a:endParaRPr lang="en-US" altLang="ko-KR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정상 메일 2: "오늘 안녕"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[0,  0,  1,  1]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5BC66D7-C364-D3EF-7D0C-622FBDDC7F47}"/>
              </a:ext>
            </a:extLst>
          </p:cNvPr>
          <p:cNvSpPr/>
          <p:nvPr/>
        </p:nvSpPr>
        <p:spPr>
          <a:xfrm>
            <a:off x="679897" y="2618580"/>
            <a:ext cx="5244653" cy="14764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182ABAA7-68EF-252A-83E1-AB63174B9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07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14</a:t>
            </a:fld>
            <a:endParaRPr lang="en-US" sz="1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DA658A-5F67-02F4-A6BE-F285FDC16863}"/>
              </a:ext>
            </a:extLst>
          </p:cNvPr>
          <p:cNvSpPr txBox="1"/>
          <p:nvPr/>
        </p:nvSpPr>
        <p:spPr>
          <a:xfrm>
            <a:off x="537022" y="1248422"/>
            <a:ext cx="11179333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scikit-learn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CountVectorizer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API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사용하여 아래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 메일을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유클리디어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거리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과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코사인 유사성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으로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 메일을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clustering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하고 새로운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메일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어디 그룹에 속하는지 분류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(classification)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하라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880442C-B100-952F-0A18-839C0AB974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9808" y="2235089"/>
            <a:ext cx="4657725" cy="429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1165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AF252-DB5D-F318-0864-78590E920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AEED75B-AB9C-7703-2F20-FA13D8643A2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Embeddings: Converting Text to Numbers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A96E94-9DB4-D850-53EC-CDEF4E84A739}"/>
              </a:ext>
            </a:extLst>
          </p:cNvPr>
          <p:cNvSpPr txBox="1"/>
          <p:nvPr/>
        </p:nvSpPr>
        <p:spPr>
          <a:xfrm>
            <a:off x="8439150" y="654811"/>
            <a:ext cx="31813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Embeddings Before LLMs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0F39BE-1E4B-FE09-800C-1561E72FDFFF}"/>
              </a:ext>
            </a:extLst>
          </p:cNvPr>
          <p:cNvSpPr txBox="1"/>
          <p:nvPr/>
        </p:nvSpPr>
        <p:spPr>
          <a:xfrm>
            <a:off x="790575" y="2618580"/>
            <a:ext cx="4648200" cy="1440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스팸 메일 1: "대출 광고"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 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[1,  1,  0,  0]</a:t>
            </a:r>
            <a:endParaRPr lang="en-US" altLang="ko-KR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스팸 메일 2: "오늘 대출"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[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, 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,  0,  1]</a:t>
            </a:r>
            <a:endParaRPr lang="en-US" altLang="ko-KR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정상 메일 1: "안녕 오늘"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[0,  0,  1,  1]</a:t>
            </a:r>
            <a:endParaRPr lang="en-US" altLang="ko-KR" sz="1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정상 메일 2: "오늘 안녕" </a:t>
            </a:r>
            <a:r>
              <a:rPr lang="en-US" altLang="ko-KR" sz="15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ko-KR" altLang="en-US" sz="1500" dirty="0">
                <a:latin typeface="D2Coding" panose="020B0609020101020101" pitchFamily="49" charset="-127"/>
                <a:ea typeface="D2Coding" panose="020B0609020101020101" pitchFamily="49" charset="-127"/>
              </a:rPr>
              <a:t> [0,  0,  1,  1]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D6A8DC-ACBE-0A47-0618-AF962C8A95A3}"/>
              </a:ext>
            </a:extLst>
          </p:cNvPr>
          <p:cNvSpPr txBox="1"/>
          <p:nvPr/>
        </p:nvSpPr>
        <p:spPr>
          <a:xfrm>
            <a:off x="1352550" y="4771884"/>
            <a:ext cx="4505325" cy="422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새로운 메일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"오늘 광고"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[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1]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FEA5244-A622-1C85-3A34-A1D2575CB44F}"/>
              </a:ext>
            </a:extLst>
          </p:cNvPr>
          <p:cNvSpPr/>
          <p:nvPr/>
        </p:nvSpPr>
        <p:spPr>
          <a:xfrm>
            <a:off x="679897" y="2618580"/>
            <a:ext cx="5244653" cy="147645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54D62F1-799A-8D02-A814-00C2C742BB62}"/>
              </a:ext>
            </a:extLst>
          </p:cNvPr>
          <p:cNvSpPr txBox="1"/>
          <p:nvPr/>
        </p:nvSpPr>
        <p:spPr>
          <a:xfrm>
            <a:off x="1352549" y="5592885"/>
            <a:ext cx="4505325" cy="422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새로운 메일 2: "오늘 구제"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[0,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1]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D040B1A0-AAD7-2488-1281-13A0A0479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07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15</a:t>
            </a:fld>
            <a:endParaRPr lang="en-US" sz="1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070999-8A4D-2D95-73CD-B7BB61A9AD8C}"/>
              </a:ext>
            </a:extLst>
          </p:cNvPr>
          <p:cNvSpPr txBox="1"/>
          <p:nvPr/>
        </p:nvSpPr>
        <p:spPr>
          <a:xfrm>
            <a:off x="537022" y="1248422"/>
            <a:ext cx="11179333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scikit-learn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CountVectorizer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API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사용하여 아래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 메일을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유클리디어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거리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과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코사인 유사성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으로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 메일을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clustering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하고 새로운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메일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어디 그룹에 속하는지 분류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(classification)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하라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1E532B6-3D41-739B-144B-39A285B94D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2738" y="2235089"/>
            <a:ext cx="4657725" cy="429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7438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92ADA-DA0B-C41E-683C-74D9E21C6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DD352F9-9112-AA03-48BB-77CBC4D4306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Embeddings: Converting Text to Numbers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CA1D2C95-EE90-4D41-6CCB-A78AC77DC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07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16</a:t>
            </a:fld>
            <a:endParaRPr lang="en-US" sz="1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DFA981-E2AF-3ABF-9C1D-9701C5FFB55C}"/>
              </a:ext>
            </a:extLst>
          </p:cNvPr>
          <p:cNvSpPr txBox="1"/>
          <p:nvPr/>
        </p:nvSpPr>
        <p:spPr>
          <a:xfrm>
            <a:off x="561370" y="1326518"/>
            <a:ext cx="6362700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corpus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= ["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protect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gotham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fight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justice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  #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0   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	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protect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city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bring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justice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  #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1   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	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	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fight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to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protect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gotham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city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  #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2    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2"/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bring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peace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protect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innocent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  #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3    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2"/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fight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peace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justice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gotham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  #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4    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2"/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destroy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gotham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rule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dark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city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  #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5    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2"/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bring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chaos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destroy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order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  #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6    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2"/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rule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dark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world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with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chaos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crime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  #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7    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2"/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destroy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peace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create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pure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chaos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  #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8    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2"/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rule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city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with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darkness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crime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  #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9]</a:t>
            </a:r>
          </a:p>
        </p:txBody>
      </p:sp>
      <p:pic>
        <p:nvPicPr>
          <p:cNvPr id="2051" name="Picture 3">
            <a:extLst>
              <a:ext uri="{FF2B5EF4-FFF2-40B4-BE49-F238E27FC236}">
                <a16:creationId xmlns:a16="http://schemas.microsoft.com/office/drawing/2014/main" id="{1ECB3AD1-7BEB-9371-8E77-BF336672FD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6650" y="3332517"/>
            <a:ext cx="8257656" cy="3293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그래픽 12" descr="축구">
            <a:extLst>
              <a:ext uri="{FF2B5EF4-FFF2-40B4-BE49-F238E27FC236}">
                <a16:creationId xmlns:a16="http://schemas.microsoft.com/office/drawing/2014/main" id="{756EE4CB-E718-717B-644F-5D2AED2D35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38359" y="29942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3677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9BBC6-0EED-589C-592E-6282477E0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96CD87F-4F3A-416A-6EB9-71D883DF743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KNN : Converting Text to Numbers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4D35C8C0-6DFF-8639-BE2D-3D793635B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07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17</a:t>
            </a:fld>
            <a:endParaRPr lang="en-US" sz="1400" b="1" dirty="0"/>
          </a:p>
        </p:txBody>
      </p:sp>
      <p:pic>
        <p:nvPicPr>
          <p:cNvPr id="13" name="그래픽 12" descr="축구">
            <a:extLst>
              <a:ext uri="{FF2B5EF4-FFF2-40B4-BE49-F238E27FC236}">
                <a16:creationId xmlns:a16="http://schemas.microsoft.com/office/drawing/2014/main" id="{E4B80F3C-1EDE-1597-52D6-732EDE32CA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38359" y="299420"/>
            <a:ext cx="914400" cy="914400"/>
          </a:xfrm>
          <a:prstGeom prst="rect">
            <a:avLst/>
          </a:prstGeom>
        </p:spPr>
      </p:pic>
      <p:pic>
        <p:nvPicPr>
          <p:cNvPr id="2053" name="Picture 5">
            <a:extLst>
              <a:ext uri="{FF2B5EF4-FFF2-40B4-BE49-F238E27FC236}">
                <a16:creationId xmlns:a16="http://schemas.microsoft.com/office/drawing/2014/main" id="{4C745EDC-4ACA-E8AD-9E54-D06136D80C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1982970"/>
            <a:ext cx="5553075" cy="3860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35BA92B-870A-9630-6FF6-25F50FC7CE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0869" y="1982970"/>
            <a:ext cx="4941261" cy="386006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3E63C19-3D0E-3041-F232-EF18EE06584F}"/>
              </a:ext>
            </a:extLst>
          </p:cNvPr>
          <p:cNvSpPr txBox="1"/>
          <p:nvPr/>
        </p:nvSpPr>
        <p:spPr>
          <a:xfrm>
            <a:off x="475645" y="1277142"/>
            <a:ext cx="73661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Scikit-learn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6"/>
              </a:rPr>
              <a:t>decomposition.PCA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사용하여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개의 문장을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시각화하라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4297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57289-E8D3-66C9-B35E-2FE018355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F7BB043-6AC5-E25D-1E54-8EC48E7A567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KNN_cosine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similarity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CC57C4A1-1D14-F8A1-8361-9F01DA7F7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07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18</a:t>
            </a:fld>
            <a:endParaRPr lang="en-US" sz="1400" b="1" dirty="0"/>
          </a:p>
        </p:txBody>
      </p:sp>
      <p:pic>
        <p:nvPicPr>
          <p:cNvPr id="13" name="그래픽 12" descr="축구">
            <a:extLst>
              <a:ext uri="{FF2B5EF4-FFF2-40B4-BE49-F238E27FC236}">
                <a16:creationId xmlns:a16="http://schemas.microsoft.com/office/drawing/2014/main" id="{F035E391-11B0-9F30-99E6-69A81F6F21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38359" y="299420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8CD0D2F-253A-EB87-F893-4C37186258B3}"/>
              </a:ext>
            </a:extLst>
          </p:cNvPr>
          <p:cNvSpPr txBox="1"/>
          <p:nvPr/>
        </p:nvSpPr>
        <p:spPr>
          <a:xfrm>
            <a:off x="518058" y="1278416"/>
            <a:ext cx="10934701" cy="793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코사인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거리를 사용하여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Scikit-learn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nearest neighbors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k=2, 3, 4, 5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일 경우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(Hyperparameters)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각각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개의 문장을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Clustering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061" name="Picture 13">
            <a:extLst>
              <a:ext uri="{FF2B5EF4-FFF2-40B4-BE49-F238E27FC236}">
                <a16:creationId xmlns:a16="http://schemas.microsoft.com/office/drawing/2014/main" id="{307DA5FB-DA37-D4D0-F192-D47C585F68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080" y="2620857"/>
            <a:ext cx="11052246" cy="357039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56356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7BC4E-627E-55EC-717A-5007CDD88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9F6B356-56E4-B83E-1EE2-10BEE4A8F86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KNN Algorithm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A49CD3E8-48E0-1BF9-1CA2-BA752D16A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07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19</a:t>
            </a:fld>
            <a:endParaRPr lang="en-US" sz="1400" b="1" dirty="0"/>
          </a:p>
        </p:txBody>
      </p:sp>
      <p:pic>
        <p:nvPicPr>
          <p:cNvPr id="13" name="그래픽 12" descr="축구">
            <a:extLst>
              <a:ext uri="{FF2B5EF4-FFF2-40B4-BE49-F238E27FC236}">
                <a16:creationId xmlns:a16="http://schemas.microsoft.com/office/drawing/2014/main" id="{A738017D-22C4-B5C6-E5CA-E08460AC34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38359" y="299420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5CCAA76-72F6-04BA-4F9D-B8F17FDED61C}"/>
              </a:ext>
            </a:extLst>
          </p:cNvPr>
          <p:cNvSpPr txBox="1"/>
          <p:nvPr/>
        </p:nvSpPr>
        <p:spPr>
          <a:xfrm>
            <a:off x="475646" y="1277142"/>
            <a:ext cx="11020425" cy="793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Scikit-learn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KNeighborsClassifier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및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kneighbors_graph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사용하여 순수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k-NN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알고리즘만을 실행해 인접 관계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이웃 포함 여부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행렬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(Inclusion Matrix)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형태로 직접 산출 및 시각화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059" name="Picture 11">
            <a:extLst>
              <a:ext uri="{FF2B5EF4-FFF2-40B4-BE49-F238E27FC236}">
                <a16:creationId xmlns:a16="http://schemas.microsoft.com/office/drawing/2014/main" id="{E4968CBC-AF14-C9EF-3E05-A2113C7641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7" y="2452317"/>
            <a:ext cx="11020425" cy="38284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3818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125D4-B4F3-AB8D-D8B2-476BDAE0D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217B7AA-3EAC-CCFA-DF01-EE2E878E582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SpectralBiclustering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B3AB6F08-076D-1EEB-7A72-112DC4929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07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20</a:t>
            </a:fld>
            <a:endParaRPr lang="en-US" sz="1400" b="1" dirty="0"/>
          </a:p>
        </p:txBody>
      </p:sp>
      <p:pic>
        <p:nvPicPr>
          <p:cNvPr id="13" name="그래픽 12" descr="축구">
            <a:extLst>
              <a:ext uri="{FF2B5EF4-FFF2-40B4-BE49-F238E27FC236}">
                <a16:creationId xmlns:a16="http://schemas.microsoft.com/office/drawing/2014/main" id="{E11408EA-3BE4-85D6-F29A-190BD207BC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38359" y="299420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0411851-DA48-E761-4160-E3F9BB919AFA}"/>
              </a:ext>
            </a:extLst>
          </p:cNvPr>
          <p:cNvSpPr txBox="1"/>
          <p:nvPr/>
        </p:nvSpPr>
        <p:spPr>
          <a:xfrm>
            <a:off x="475646" y="1277142"/>
            <a:ext cx="11020425" cy="423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Scikit-learn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biclustering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66EB43-D019-6A48-4262-58AAC27313E6}"/>
              </a:ext>
            </a:extLst>
          </p:cNvPr>
          <p:cNvSpPr txBox="1"/>
          <p:nvPr/>
        </p:nvSpPr>
        <p:spPr>
          <a:xfrm>
            <a:off x="832859" y="1826417"/>
            <a:ext cx="9491759" cy="4708981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sklearn.cluster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SpectralBiclustering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sklearn.datasets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make_checkerboard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1. </a:t>
            </a:r>
            <a:r>
              <a:rPr lang="ko-KR" altLang="en-US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체커보드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구조 데이터 생성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(300x300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행렬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5x5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클러스터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셔플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적용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n_clusters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(5, 5) # (2,2), (3,3), (4,4)</a:t>
            </a: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data, rows, columns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make_checkerboard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(shape=(300, 300),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n_clusters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n_clusters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noise=10, shuffle=True,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random_state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=0)</a:t>
            </a:r>
          </a:p>
          <a:p>
            <a:pPr>
              <a:buNone/>
            </a:pP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2. Spectral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Biclustering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모델 학습</a:t>
            </a: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SpectralBiclustering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n_clusters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n_clusters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method="log",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random_state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=0)</a:t>
            </a:r>
          </a:p>
          <a:p>
            <a:pPr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model.fit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(data)</a:t>
            </a:r>
            <a:b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3. </a:t>
            </a:r>
            <a:r>
              <a:rPr lang="ko-KR" altLang="en-US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바이클러스터링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결과에 따라 행과 열 재배열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(Rearrange)</a:t>
            </a:r>
          </a:p>
          <a:p>
            <a:pPr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fit_data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data[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np.argsort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model.row_labels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_)]</a:t>
            </a:r>
          </a:p>
          <a:p>
            <a:pPr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fit_data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fit_data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[:,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np.argsort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model.column_labels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_)]</a:t>
            </a:r>
            <a:b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4.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시각화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원본 </a:t>
            </a:r>
            <a:r>
              <a:rPr lang="ko-KR" altLang="en-US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셔플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행렬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vs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재배열 행렬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fig, axes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plt.subplots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(1, 2,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figsize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=(12, 6))</a:t>
            </a:r>
            <a:b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[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좌측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원본 이미지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(Shuffled Original)</a:t>
            </a: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im0 = axes[0].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matshow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(data,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cmap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plt.cm.Blues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axes[0].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set_title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("Original (Shuffled Data)",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fontsize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=12, pad=15)</a:t>
            </a:r>
          </a:p>
          <a:p>
            <a:pPr>
              <a:buNone/>
            </a:pP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[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우측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 </a:t>
            </a:r>
            <a:r>
              <a:rPr lang="ko-KR" altLang="en-US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바이클러스터링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정렬 이미지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(Rearranged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Biclusters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im1 = axes[1].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matshow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fit_data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cmap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plt.cm.Blues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axes[1].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set_title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("After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biclustering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 rearranged to show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biclusters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",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fontsize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=12, pad=15)</a:t>
            </a:r>
          </a:p>
        </p:txBody>
      </p:sp>
    </p:spTree>
    <p:extLst>
      <p:ext uri="{BB962C8B-B14F-4D97-AF65-F5344CB8AC3E}">
        <p14:creationId xmlns:p14="http://schemas.microsoft.com/office/powerpoint/2010/main" val="21362262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4CCC7-FE45-A08B-5C8D-D8DE39415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15FEFA4-6CA5-68C4-DEAA-52419484150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SpectralBiclustering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7A7EAA54-3D95-02F3-1E70-AF96ADC29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07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21</a:t>
            </a:fld>
            <a:endParaRPr lang="en-US" sz="1400" b="1" dirty="0"/>
          </a:p>
        </p:txBody>
      </p:sp>
      <p:pic>
        <p:nvPicPr>
          <p:cNvPr id="13" name="그래픽 12" descr="축구">
            <a:extLst>
              <a:ext uri="{FF2B5EF4-FFF2-40B4-BE49-F238E27FC236}">
                <a16:creationId xmlns:a16="http://schemas.microsoft.com/office/drawing/2014/main" id="{F451CF23-6255-F341-D87E-EE0BC50143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38359" y="299420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72045B9-24E4-80E5-1EFE-A46FBFC8F63B}"/>
              </a:ext>
            </a:extLst>
          </p:cNvPr>
          <p:cNvSpPr txBox="1"/>
          <p:nvPr/>
        </p:nvSpPr>
        <p:spPr>
          <a:xfrm>
            <a:off x="475646" y="1277142"/>
            <a:ext cx="11020425" cy="423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Scikit-learn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biclustering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으로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시각화하면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Clustering 2ro (2, 2)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군집 분류하는 것이 좋아 보임</a:t>
            </a:r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8D98B228-0CF7-0C95-48E6-D8A5D7E1D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458" y="2178022"/>
            <a:ext cx="11180761" cy="307034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92866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8BB51-44F9-2425-FD74-577623DAE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9D71AE6-A0F0-7303-683E-71CDF808C9F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SpectralBiclustering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91990AC8-5629-BB2D-90F8-2A7462158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07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22</a:t>
            </a:fld>
            <a:endParaRPr lang="en-US" sz="1400" b="1" dirty="0"/>
          </a:p>
        </p:txBody>
      </p:sp>
      <p:pic>
        <p:nvPicPr>
          <p:cNvPr id="13" name="그래픽 12" descr="축구">
            <a:extLst>
              <a:ext uri="{FF2B5EF4-FFF2-40B4-BE49-F238E27FC236}">
                <a16:creationId xmlns:a16="http://schemas.microsoft.com/office/drawing/2014/main" id="{42C0AFD8-AB3B-5780-C92F-94EA893A9D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38359" y="299420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517770C-37FB-FD11-FC05-275774768BA9}"/>
              </a:ext>
            </a:extLst>
          </p:cNvPr>
          <p:cNvSpPr txBox="1"/>
          <p:nvPr/>
        </p:nvSpPr>
        <p:spPr>
          <a:xfrm>
            <a:off x="475646" y="1277142"/>
            <a:ext cx="11020425" cy="423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Scikit-learn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biclustering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사용하면 대사를 무작위로 썩어도 이 알고리즘을 이용하여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 그룹으로 분류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818077-F725-1B9E-CFDC-ADFA35464548}"/>
              </a:ext>
            </a:extLst>
          </p:cNvPr>
          <p:cNvSpPr txBox="1"/>
          <p:nvPr/>
        </p:nvSpPr>
        <p:spPr>
          <a:xfrm>
            <a:off x="1356751" y="1764298"/>
            <a:ext cx="7930124" cy="4708981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sklearn.cluster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SpectralBiclustering</a:t>
            </a: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1.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명확한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 블록 구조를 가진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10x10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데이터 생성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(Hero vs Villain)</a:t>
            </a:r>
          </a:p>
          <a:p>
            <a:pPr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np.random.seed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(42)</a:t>
            </a: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대각선 블록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(Doc 0~4, Doc 5~9)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은 높은 값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(0.8~1.0), </a:t>
            </a:r>
            <a:r>
              <a:rPr lang="ko-KR" altLang="en-US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비대각선은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낮은 값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(0.0~0.3)</a:t>
            </a:r>
            <a:endParaRPr lang="ko-KR" altLang="en-US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matrix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np.random.uniform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(0.0, 0.3, (10, 10))</a:t>
            </a: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matrix[:5, :5] += 0.7  # Hero-Hero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블록</a:t>
            </a: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matrix[5:, 5:] += 0.7  # Villain-Villain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블록</a:t>
            </a:r>
          </a:p>
          <a:p>
            <a:pPr>
              <a:buNone/>
            </a:pPr>
            <a:endParaRPr lang="ko-KR" altLang="en-US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2.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행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열 무작위 </a:t>
            </a:r>
            <a:r>
              <a:rPr lang="ko-KR" altLang="en-US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셔플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초기 무질서한 상태로 만듦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row_shuffled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np.random.permutation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(10)</a:t>
            </a:r>
          </a:p>
          <a:p>
            <a:pPr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col_shuffled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np.random.permutation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(10)</a:t>
            </a:r>
          </a:p>
          <a:p>
            <a:pPr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shuffled_matrix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matrix[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row_shuffled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:][:,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col_shuffled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  <a:p>
            <a:pPr>
              <a:buNone/>
            </a:pP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labels = [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f"Doc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{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}" for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in range(10)]</a:t>
            </a:r>
          </a:p>
          <a:p>
            <a:pPr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row_labels_shuffled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[labels[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 for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in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row_shuffled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  <a:p>
            <a:pPr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col_labels_shuffled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[labels[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 for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in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col_shuffled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  <a:p>
            <a:pPr>
              <a:buNone/>
            </a:pP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3. Spectral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Biclustering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적용</a:t>
            </a: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SpectralBiclustering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n_clusters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=(2, 2), method="log",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random_state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=42).fit(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shuffled_matrix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4. </a:t>
            </a:r>
            <a:r>
              <a:rPr lang="ko-KR" altLang="en-US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재배열 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(Reorder)</a:t>
            </a:r>
          </a:p>
          <a:p>
            <a:pPr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row_idx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np.argsort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model.row_labels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_)</a:t>
            </a:r>
          </a:p>
          <a:p>
            <a:pPr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col_idx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np.argsort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model.column_labels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_)</a:t>
            </a:r>
          </a:p>
          <a:p>
            <a:pPr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reordered_matrix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shuffled_matrix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row_idx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:][:,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col_idx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9784651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8D82A-0950-8D4C-F80A-394284B0C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2644686-4846-3E15-C9DE-40F3EA80C87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SpectralBiclustering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7133E69E-39D4-A820-7DFA-EA9702540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07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23</a:t>
            </a:fld>
            <a:endParaRPr lang="en-US" sz="1400" b="1" dirty="0"/>
          </a:p>
        </p:txBody>
      </p:sp>
      <p:pic>
        <p:nvPicPr>
          <p:cNvPr id="13" name="그래픽 12" descr="축구">
            <a:extLst>
              <a:ext uri="{FF2B5EF4-FFF2-40B4-BE49-F238E27FC236}">
                <a16:creationId xmlns:a16="http://schemas.microsoft.com/office/drawing/2014/main" id="{D9C556E0-82A5-252A-D2B6-4F8D460FF1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38359" y="299420"/>
            <a:ext cx="914400" cy="91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1DB7743-44B9-D730-4DE0-61FFE197786E}"/>
              </a:ext>
            </a:extLst>
          </p:cNvPr>
          <p:cNvSpPr txBox="1"/>
          <p:nvPr/>
        </p:nvSpPr>
        <p:spPr>
          <a:xfrm>
            <a:off x="475646" y="1277142"/>
            <a:ext cx="11020425" cy="423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Scikit-learn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biclustering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사용하면 대사를 무작위로 썩어도 이 알고리즘을 이용하여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 그룹으로 분류 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37A31457-905C-DF3C-2206-AE33393BE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195" y="1826417"/>
            <a:ext cx="10601325" cy="460357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29507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9C13E-F294-2A6E-3342-FFC723E0E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5BA32C1-1767-EA50-91DB-819B96D7849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LLM-Based Embeddings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BDF977-EBB2-5BE7-BA5F-D0695C11FC0F}"/>
              </a:ext>
            </a:extLst>
          </p:cNvPr>
          <p:cNvSpPr txBox="1"/>
          <p:nvPr/>
        </p:nvSpPr>
        <p:spPr>
          <a:xfrm>
            <a:off x="7200900" y="654811"/>
            <a:ext cx="441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Semantic Embeddings Explained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B1B62A-A13C-786F-E0F6-33F6742DFD56}"/>
              </a:ext>
            </a:extLst>
          </p:cNvPr>
          <p:cNvSpPr txBox="1"/>
          <p:nvPr/>
        </p:nvSpPr>
        <p:spPr>
          <a:xfrm>
            <a:off x="537022" y="1248422"/>
            <a:ext cx="11179333" cy="46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차원은 특정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Feature,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즉 의미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(semantic dimension)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나타냄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376B82E-8B6E-FCEE-91B1-12493B6A0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873" y="2637676"/>
            <a:ext cx="3718120" cy="324984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16F8386-CECD-6CE6-2553-C04C3A31695E}"/>
              </a:ext>
            </a:extLst>
          </p:cNvPr>
          <p:cNvSpPr txBox="1"/>
          <p:nvPr/>
        </p:nvSpPr>
        <p:spPr>
          <a:xfrm>
            <a:off x="1563873" y="6003164"/>
            <a:ext cx="37736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Semantic representations of words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39CBBFAE-103D-A7ED-C8F6-CB6DA5E07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625" y="2644092"/>
            <a:ext cx="3863675" cy="293395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D6CFBC2-1A23-1286-6F47-4ECEBBDC0980}"/>
              </a:ext>
            </a:extLst>
          </p:cNvPr>
          <p:cNvSpPr txBox="1"/>
          <p:nvPr/>
        </p:nvSpPr>
        <p:spPr>
          <a:xfrm>
            <a:off x="6568507" y="5988917"/>
            <a:ext cx="51536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Plot of word vectors in a multidimensional space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11CD4E-8905-C1D0-6D25-BE3CE6C372C7}"/>
              </a:ext>
            </a:extLst>
          </p:cNvPr>
          <p:cNvSpPr txBox="1"/>
          <p:nvPr/>
        </p:nvSpPr>
        <p:spPr>
          <a:xfrm>
            <a:off x="1563873" y="2256593"/>
            <a:ext cx="3718120" cy="38108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WordEmbedding</a:t>
            </a:r>
            <a:endParaRPr lang="ko-KR" altLang="en-US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34A88469-FDBC-CCA7-A077-444C006B1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07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24</a:t>
            </a:fld>
            <a:endParaRPr lang="en-US" sz="1400" b="1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81D0E954-41C6-DFA7-3857-3D1A7430A2F9}"/>
              </a:ext>
            </a:extLst>
          </p:cNvPr>
          <p:cNvCxnSpPr>
            <a:cxnSpLocks/>
          </p:cNvCxnSpPr>
          <p:nvPr/>
        </p:nvCxnSpPr>
        <p:spPr>
          <a:xfrm>
            <a:off x="5473132" y="4262597"/>
            <a:ext cx="10953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48350AB-59C2-044F-5A77-90C216F13CD9}"/>
              </a:ext>
            </a:extLst>
          </p:cNvPr>
          <p:cNvSpPr txBox="1"/>
          <p:nvPr/>
        </p:nvSpPr>
        <p:spPr>
          <a:xfrm>
            <a:off x="6910008" y="2268344"/>
            <a:ext cx="3863673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Cosine similarity</a:t>
            </a:r>
            <a:endParaRPr lang="ko-KR" altLang="en-US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7E2C86-A7BD-7380-ED6A-7BC7D5AFD984}"/>
              </a:ext>
            </a:extLst>
          </p:cNvPr>
          <p:cNvSpPr txBox="1"/>
          <p:nvPr/>
        </p:nvSpPr>
        <p:spPr>
          <a:xfrm>
            <a:off x="6643062" y="4848312"/>
            <a:ext cx="12892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wildness</a:t>
            </a:r>
            <a:endParaRPr lang="ko-KR" altLang="en-US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DCBCC5-7696-BEC3-846D-A44064B88289}"/>
              </a:ext>
            </a:extLst>
          </p:cNvPr>
          <p:cNvSpPr txBox="1"/>
          <p:nvPr/>
        </p:nvSpPr>
        <p:spPr>
          <a:xfrm>
            <a:off x="9609236" y="4942627"/>
            <a:ext cx="12892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attack</a:t>
            </a:r>
            <a:endParaRPr lang="ko-KR" altLang="en-US" sz="16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921114-9B46-D86B-EA5A-E62CCE9248E6}"/>
              </a:ext>
            </a:extLst>
          </p:cNvPr>
          <p:cNvSpPr txBox="1"/>
          <p:nvPr/>
        </p:nvSpPr>
        <p:spPr>
          <a:xfrm>
            <a:off x="8603720" y="2766668"/>
            <a:ext cx="10832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strength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7791928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51295-47CC-7FDC-BF9B-2262C9DCF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961916C-61AB-5184-1360-3ED0005E8D5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LLM-Based Embeddings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E26A79-7B54-C862-F7BE-BF4BBB839E5F}"/>
              </a:ext>
            </a:extLst>
          </p:cNvPr>
          <p:cNvSpPr txBox="1"/>
          <p:nvPr/>
        </p:nvSpPr>
        <p:spPr>
          <a:xfrm>
            <a:off x="7200900" y="654811"/>
            <a:ext cx="441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Semantic Embeddings Explained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DB58B20-EA3F-9E46-5A4C-690B81174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5590" y="1684922"/>
            <a:ext cx="7434910" cy="1393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DEAE80-AE71-B78C-9740-C65477983F90}"/>
              </a:ext>
            </a:extLst>
          </p:cNvPr>
          <p:cNvSpPr txBox="1"/>
          <p:nvPr/>
        </p:nvSpPr>
        <p:spPr>
          <a:xfrm>
            <a:off x="1032296" y="1768157"/>
            <a:ext cx="29015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Semantic</a:t>
            </a:r>
            <a:r>
              <a:rPr lang="ko-KR" altLang="en-US" sz="16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ko-KR" sz="1600" dirty="0" err="1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Densed</a:t>
            </a:r>
            <a:r>
              <a:rPr lang="en-US" altLang="ko-KR" sz="16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Embedding</a:t>
            </a:r>
            <a:endParaRPr lang="en-US" altLang="ko-KR" sz="1600" dirty="0">
              <a:solidFill>
                <a:srgbClr val="00B0F0"/>
              </a:solidFill>
              <a:latin typeface="D2Coding" panose="020B0609020101020101" pitchFamily="49" charset="-127"/>
              <a:ea typeface="D2Coding" panose="020B0609020101020101" pitchFamily="49" charset="-127"/>
              <a:sym typeface="Wingdings" panose="05000000000000000000" pitchFamily="2" charset="2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9325022-F44F-28CE-80B9-BB4EE199D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6346" y="3952320"/>
            <a:ext cx="7706942" cy="2250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82D5D71-8A2C-B6C7-94E2-6246C77FA68F}"/>
              </a:ext>
            </a:extLst>
          </p:cNvPr>
          <p:cNvSpPr txBox="1"/>
          <p:nvPr/>
        </p:nvSpPr>
        <p:spPr>
          <a:xfrm>
            <a:off x="1032296" y="3952320"/>
            <a:ext cx="29872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Deep Learning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방식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  <a:sym typeface="Wingdings" panose="05000000000000000000" pitchFamily="2" charset="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389590-FF1D-9EAF-473E-0BAF0CF7372B}"/>
              </a:ext>
            </a:extLst>
          </p:cNvPr>
          <p:cNvSpPr txBox="1"/>
          <p:nvPr/>
        </p:nvSpPr>
        <p:spPr>
          <a:xfrm>
            <a:off x="10663288" y="5205264"/>
            <a:ext cx="105306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batch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embedding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size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표기 오류)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14BDC1A4-2CAB-3963-B8C2-E8A8B888C2F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/>
              <a:pPr/>
              <a:t>25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3226760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53C72-47F2-5508-A63D-0B7F6B1E3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D1BBD92-1479-E67B-78C7-C5D24F49D0A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LLM-Based Embeddings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22BDDC-F9DD-C4E6-9584-AEF9DD3F222A}"/>
              </a:ext>
            </a:extLst>
          </p:cNvPr>
          <p:cNvSpPr txBox="1"/>
          <p:nvPr/>
        </p:nvSpPr>
        <p:spPr>
          <a:xfrm>
            <a:off x="685800" y="1498036"/>
            <a:ext cx="5276850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1단계: 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Converting Your Documents into Text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1F35B0-F14F-6A58-E813-62D6843EFA9D}"/>
              </a:ext>
            </a:extLst>
          </p:cNvPr>
          <p:cNvSpPr txBox="1"/>
          <p:nvPr/>
        </p:nvSpPr>
        <p:spPr>
          <a:xfrm>
            <a:off x="685800" y="3539391"/>
            <a:ext cx="6096000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2단계: 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Splitting Your Text into Chunks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3A03B0-E773-EF70-78FD-4D01CB3D1FB2}"/>
              </a:ext>
            </a:extLst>
          </p:cNvPr>
          <p:cNvSpPr txBox="1"/>
          <p:nvPr/>
        </p:nvSpPr>
        <p:spPr>
          <a:xfrm>
            <a:off x="5715000" y="2068259"/>
            <a:ext cx="6191250" cy="1118255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langchain_community.document_loaders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PyPDFLoader</a:t>
            </a: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loader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TextLoader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('./test.txt', encoding="utf-8")</a:t>
            </a:r>
          </a:p>
          <a:p>
            <a:pPr>
              <a:lnSpc>
                <a:spcPts val="1575"/>
              </a:lnSpc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docs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loader.load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3E8D59-9B61-237D-A043-C8A932077354}"/>
              </a:ext>
            </a:extLst>
          </p:cNvPr>
          <p:cNvSpPr txBox="1"/>
          <p:nvPr/>
        </p:nvSpPr>
        <p:spPr>
          <a:xfrm>
            <a:off x="1673542" y="4821443"/>
            <a:ext cx="3462338" cy="120032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불러온 문서의 길이가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10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만 자를 넘게 되어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LLM(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대형 언어 모델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이나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모델의 </a:t>
            </a:r>
            <a:r>
              <a:rPr lang="ko-KR" altLang="en-US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컨텍스트 창</a:t>
            </a:r>
            <a:r>
              <a:rPr lang="en-US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(Context Window, </a:t>
            </a:r>
            <a:r>
              <a:rPr lang="ko-KR" altLang="en-US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한 번에 처리할 수 있는 텍스트 양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에 다 들어가지 않기 때문에 문서를 다루기 쉬운 크기의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텍스트 조각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(Chunk,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청크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)'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들로 쪼개야 함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53FCADF-A26C-4232-F617-92DDC3C700FE}"/>
              </a:ext>
            </a:extLst>
          </p:cNvPr>
          <p:cNvSpPr txBox="1"/>
          <p:nvPr/>
        </p:nvSpPr>
        <p:spPr>
          <a:xfrm>
            <a:off x="5715000" y="4098169"/>
            <a:ext cx="6191250" cy="1323439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langchain_text_splitters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RecursiveCharacterTextSplitter</a:t>
            </a:r>
            <a:b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splitter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RecursiveCharacterTextSplitter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chunk_size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=1000, </a:t>
            </a:r>
          </a:p>
          <a:p>
            <a:pPr>
              <a:lnSpc>
                <a:spcPts val="1575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                                 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chunk_overlap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=200)</a:t>
            </a:r>
          </a:p>
          <a:p>
            <a:pPr>
              <a:lnSpc>
                <a:spcPts val="1575"/>
              </a:lnSpc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</a:pP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splitted_docs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splitter.split_documents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(docs)</a:t>
            </a:r>
          </a:p>
        </p:txBody>
      </p: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4565F167-C7E7-9948-CB9C-45FE92689FD4}"/>
              </a:ext>
            </a:extLst>
          </p:cNvPr>
          <p:cNvCxnSpPr>
            <a:cxnSpLocks/>
            <a:stCxn id="10" idx="2"/>
            <a:endCxn id="15" idx="1"/>
          </p:cNvCxnSpPr>
          <p:nvPr/>
        </p:nvCxnSpPr>
        <p:spPr>
          <a:xfrm rot="16200000" flipH="1">
            <a:off x="4124214" y="1036600"/>
            <a:ext cx="790797" cy="239077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118A30FF-7E21-22F1-71E4-77097280861C}"/>
              </a:ext>
            </a:extLst>
          </p:cNvPr>
          <p:cNvCxnSpPr>
            <a:cxnSpLocks/>
            <a:stCxn id="12" idx="2"/>
            <a:endCxn id="24" idx="1"/>
          </p:cNvCxnSpPr>
          <p:nvPr/>
        </p:nvCxnSpPr>
        <p:spPr>
          <a:xfrm rot="16200000" flipH="1">
            <a:off x="4283428" y="3328317"/>
            <a:ext cx="881944" cy="19812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9D0F623C-7C81-86C7-28FB-7AB6BC142092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/>
              <a:pPr/>
              <a:t>26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7336801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2214A-5A47-F725-936B-7582FD6CE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B284A37-1E3F-A59D-2F10-FB8C69BF0E7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LLM-Based Embeddings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DEEF56-9A7B-D1F8-04E7-B25421A59C46}"/>
              </a:ext>
            </a:extLst>
          </p:cNvPr>
          <p:cNvSpPr txBox="1"/>
          <p:nvPr/>
        </p:nvSpPr>
        <p:spPr>
          <a:xfrm>
            <a:off x="709007" y="2284598"/>
            <a:ext cx="10921320" cy="175432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[1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단락 자르기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 ──▶ 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모든 단락을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'\n\n' 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기준으로 쪼갬 </a:t>
            </a:r>
            <a:endParaRPr lang="en-US" altLang="ko-KR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6"/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│ </a:t>
            </a:r>
            <a:endParaRPr lang="en-US" altLang="ko-KR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6"/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├─▶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1,000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자 이하인 조각 ──▶ 통과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! (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그대로 둠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</a:p>
          <a:p>
            <a:pPr lvl="6"/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└─▶ 1,500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자짜리 거대 단락 발견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! </a:t>
            </a:r>
          </a:p>
          <a:p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		     │ </a:t>
            </a:r>
          </a:p>
          <a:p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[2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단계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다음 가위 가동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 ────────────┴──▶ 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 거대 단락만 가져와서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'\n'(</a:t>
            </a:r>
            <a:r>
              <a:rPr lang="ko-KR" altLang="en-US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줄바꿈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기준으로 다시 쪼갬 </a:t>
            </a:r>
            <a:endParaRPr lang="en-US" altLang="ko-KR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8"/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│ </a:t>
            </a:r>
            <a:endParaRPr lang="en-US" altLang="ko-KR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8"/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├─▶ 이제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1,000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자 이하가 됨 ──▶ 통과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! </a:t>
            </a:r>
          </a:p>
          <a:p>
            <a:pPr lvl="8"/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└─▶ 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그래도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1,200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자짜리 줄 발견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! ──▶ '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공백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띄어쓰기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)'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으로 또 쪼갬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!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42669A-B35A-2A00-C20A-0A565058A55F}"/>
              </a:ext>
            </a:extLst>
          </p:cNvPr>
          <p:cNvSpPr txBox="1"/>
          <p:nvPr/>
        </p:nvSpPr>
        <p:spPr>
          <a:xfrm>
            <a:off x="561672" y="1248422"/>
            <a:ext cx="11068655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RecursiveCharacterTextSplitter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분할기는 무작정 가위질을 하지 않고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인간이 글을 읽는 단위를 고려하여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최대한 의미가 통하는 덩어리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유지하며 재귀적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단계적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으로 아래와 같이 안전하게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잘라줌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FD76BF-CD36-909D-E978-CD9FF32B9E87}"/>
              </a:ext>
            </a:extLst>
          </p:cNvPr>
          <p:cNvSpPr txBox="1"/>
          <p:nvPr/>
        </p:nvSpPr>
        <p:spPr>
          <a:xfrm>
            <a:off x="628650" y="4272409"/>
            <a:ext cx="11268075" cy="423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메타데이터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(Metadata)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텍스트를 아무리 잘게 쪼개도 원본의 출처와 위치를 찾는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 네비게이션 꼬리표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AA800D-6A32-A57C-52FD-67A1AE2EA5C4}"/>
              </a:ext>
            </a:extLst>
          </p:cNvPr>
          <p:cNvSpPr txBox="1"/>
          <p:nvPr/>
        </p:nvSpPr>
        <p:spPr>
          <a:xfrm>
            <a:off x="2766407" y="4746610"/>
            <a:ext cx="7658100" cy="705642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in range(5): # 864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  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Document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print(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f"Document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{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 metadata: {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splitted_docs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].metadata}")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E94E3D-8975-8772-9C78-A47A7C4CB7D9}"/>
              </a:ext>
            </a:extLst>
          </p:cNvPr>
          <p:cNvSpPr txBox="1"/>
          <p:nvPr/>
        </p:nvSpPr>
        <p:spPr>
          <a:xfrm>
            <a:off x="2766407" y="5452252"/>
            <a:ext cx="4282093" cy="116955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Document 0 metadata: {'source': './test.txt'} Document 1 metadata: {'source': './test.txt'} Document 2 metadata: {'source': './test.txt'} Document 3 metadata: {'source': './test.txt'} Document 4 metadata: {'source': './test.txt'}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6E459BD-6C5B-C97E-3CEA-D16BACE56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07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27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9493006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B73FF-AAFE-527E-BAC9-4E68AE047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AAC3C16-5355-24BF-217A-D8985CCD3D3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LLM-Based Embeddings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DF5E29-AB53-8B63-6C3C-6C3A8D5AC840}"/>
              </a:ext>
            </a:extLst>
          </p:cNvPr>
          <p:cNvSpPr txBox="1"/>
          <p:nvPr/>
        </p:nvSpPr>
        <p:spPr>
          <a:xfrm>
            <a:off x="619125" y="1481991"/>
            <a:ext cx="6096000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단계: 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Generating Text Embeddings</a:t>
            </a:r>
            <a:r>
              <a:rPr lang="ko-KR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978E78-C955-BE92-5C0A-F325975087A6}"/>
              </a:ext>
            </a:extLst>
          </p:cNvPr>
          <p:cNvSpPr txBox="1"/>
          <p:nvPr/>
        </p:nvSpPr>
        <p:spPr>
          <a:xfrm>
            <a:off x="1781176" y="2113577"/>
            <a:ext cx="9048232" cy="3744615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langchain_community.embeddings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import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HuggingFaceEmbeddings</a:t>
            </a:r>
            <a:endParaRPr lang="en-US" altLang="ko-KR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b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인터넷 너머의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Groq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이나 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OpenAI 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서버를 전혀 부르지 않고 </a:t>
            </a:r>
            <a:endParaRPr lang="en-US" altLang="ko-KR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Colab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메모리에 이 </a:t>
            </a:r>
            <a:r>
              <a:rPr lang="ko-KR" altLang="en-US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임베딩를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직접 </a:t>
            </a:r>
            <a:r>
              <a:rPr lang="ko-KR" altLang="en-US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다운로드받아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설치하는 명령어</a:t>
            </a:r>
            <a:endParaRPr lang="en-US" altLang="ko-KR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endParaRPr lang="ko-KR" altLang="en-US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embed_model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HuggingFaceEmbeddings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model_name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="all-MiniLM-L6-v2")</a:t>
            </a:r>
          </a:p>
          <a:p>
            <a:pPr>
              <a:lnSpc>
                <a:spcPts val="1575"/>
              </a:lnSpc>
              <a:buNone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embeddings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embed_model.embed_documents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([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"Hi there!",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"Oh, hello!",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"What's your name?",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"My friends call me World",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"Hello World!"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])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print(embeddings)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0C99521D-A018-C649-20AF-EF92AC53E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07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28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7178065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EE74C-F6AF-0FFF-02C0-065BB714C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4EF9347-1C5A-215B-828D-012466499AA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LLM-Based Embeddings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665088-6AF0-9054-3062-EC384D0230FF}"/>
              </a:ext>
            </a:extLst>
          </p:cNvPr>
          <p:cNvSpPr txBox="1"/>
          <p:nvPr/>
        </p:nvSpPr>
        <p:spPr>
          <a:xfrm>
            <a:off x="619125" y="1481991"/>
            <a:ext cx="6096000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ko-KR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단계: 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Storing Embeddings in a Vector Store</a:t>
            </a:r>
            <a:r>
              <a:rPr lang="ko-KR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50336E8-FDAF-78D3-69F7-76E8EDDED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1989752"/>
            <a:ext cx="7712108" cy="13717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D3B2F3-0C31-2E6C-E69A-1D079B523DCA}"/>
              </a:ext>
            </a:extLst>
          </p:cNvPr>
          <p:cNvSpPr txBox="1"/>
          <p:nvPr/>
        </p:nvSpPr>
        <p:spPr>
          <a:xfrm>
            <a:off x="619125" y="3670655"/>
            <a:ext cx="11029950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백엔드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개발자들에게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Pinecone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Milvus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같은 최신 전문 벡터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비싸게 도입할 필요가 없으며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가장 친숙한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PostgreSQL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데이터베이스에 플러그인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pgvector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하나만 켜면 벡터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변신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F2FE64-4976-2781-44ED-6BE72BCDDE82}"/>
              </a:ext>
            </a:extLst>
          </p:cNvPr>
          <p:cNvSpPr txBox="1"/>
          <p:nvPr/>
        </p:nvSpPr>
        <p:spPr>
          <a:xfrm>
            <a:off x="1122296" y="5788190"/>
            <a:ext cx="6450079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Colab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환경에서 클라우드 </a:t>
            </a:r>
            <a:r>
              <a:rPr lang="en-US" altLang="ko-KR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vector </a:t>
            </a:r>
            <a:r>
              <a:rPr lang="en-US" altLang="ko-KR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 저장하기</a:t>
            </a:r>
          </a:p>
        </p:txBody>
      </p:sp>
      <p:pic>
        <p:nvPicPr>
          <p:cNvPr id="11" name="그래픽 10" descr="웹 디자인">
            <a:extLst>
              <a:ext uri="{FF2B5EF4-FFF2-40B4-BE49-F238E27FC236}">
                <a16:creationId xmlns:a16="http://schemas.microsoft.com/office/drawing/2014/main" id="{FF4D50AC-E78E-C767-94A7-93D1D3787E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8709" y="5686662"/>
            <a:ext cx="543335" cy="5433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2087CF1-5C36-1787-787C-1970D6972574}"/>
              </a:ext>
            </a:extLst>
          </p:cNvPr>
          <p:cNvSpPr txBox="1"/>
          <p:nvPr/>
        </p:nvSpPr>
        <p:spPr>
          <a:xfrm>
            <a:off x="1112519" y="4955866"/>
            <a:ext cx="6450331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Colab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환경에서 직접 </a:t>
            </a:r>
            <a:r>
              <a:rPr lang="en-US" altLang="ko-KR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postgres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vector </a:t>
            </a:r>
            <a:r>
              <a:rPr lang="en-US" altLang="ko-KR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 저장하기</a:t>
            </a:r>
          </a:p>
        </p:txBody>
      </p:sp>
      <p:pic>
        <p:nvPicPr>
          <p:cNvPr id="13" name="그래픽 12" descr="웹 디자인">
            <a:extLst>
              <a:ext uri="{FF2B5EF4-FFF2-40B4-BE49-F238E27FC236}">
                <a16:creationId xmlns:a16="http://schemas.microsoft.com/office/drawing/2014/main" id="{0A0F9956-16EA-3725-FC30-CB7DEA41B1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8932" y="4854338"/>
            <a:ext cx="543335" cy="54333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FFF4F43-5573-2F0B-D471-654F61007B3A}"/>
              </a:ext>
            </a:extLst>
          </p:cNvPr>
          <p:cNvSpPr txBox="1"/>
          <p:nvPr/>
        </p:nvSpPr>
        <p:spPr>
          <a:xfrm>
            <a:off x="7686675" y="5806284"/>
            <a:ext cx="12668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claude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03170FAB-0B3C-5799-94FD-DA87024C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07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29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5914596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CDCAF-F2C4-81B5-0B3B-08603E206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Simple RAG">
            <a:extLst>
              <a:ext uri="{FF2B5EF4-FFF2-40B4-BE49-F238E27FC236}">
                <a16:creationId xmlns:a16="http://schemas.microsoft.com/office/drawing/2014/main" id="{31CD1155-AAC9-5F70-8CA2-AF2EF1027E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025" y="2046836"/>
            <a:ext cx="11038683" cy="4073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CB7FA75D-5D50-0308-C9A0-C7189492E36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Summary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8E7A39-10E4-97D1-58B4-87B7EE0A627B}"/>
              </a:ext>
            </a:extLst>
          </p:cNvPr>
          <p:cNvSpPr txBox="1"/>
          <p:nvPr/>
        </p:nvSpPr>
        <p:spPr>
          <a:xfrm>
            <a:off x="685025" y="3806506"/>
            <a:ext cx="3100949" cy="95410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Load (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 불러오기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Split (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텍스트 분할하기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Embed (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의미를 숫자로 바꾸기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Store (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창고에 저장하기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8E432C-288A-2CAC-90C0-0EC6692B0880}"/>
              </a:ext>
            </a:extLst>
          </p:cNvPr>
          <p:cNvSpPr txBox="1"/>
          <p:nvPr/>
        </p:nvSpPr>
        <p:spPr>
          <a:xfrm>
            <a:off x="6833016" y="3806506"/>
            <a:ext cx="4082024" cy="95410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prstDash val="sysDot"/>
          </a:ln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5"/>
            </a:pP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Question (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사용자의 질문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</a:p>
          <a:p>
            <a:pPr marL="342900" indent="-342900">
              <a:buFont typeface="+mj-lt"/>
              <a:buAutoNum type="arabicPeriod" startAt="5"/>
            </a:pP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RETRIEVE (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벡터 검색 단계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</a:p>
          <a:p>
            <a:pPr marL="342900" indent="-342900">
              <a:buFont typeface="+mj-lt"/>
              <a:buAutoNum type="arabicPeriod" startAt="5"/>
            </a:pP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PROMPT (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컨텍스트 결합 및 프롬프트 생성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</a:p>
          <a:p>
            <a:pPr marL="342900" indent="-342900">
              <a:buFont typeface="+mj-lt"/>
              <a:buAutoNum type="arabicPeriod" startAt="5"/>
            </a:pP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LLM &amp; Answer (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생성 및 답변 전달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C55E38-32AA-9217-506B-2C703A3E28E3}"/>
              </a:ext>
            </a:extLst>
          </p:cNvPr>
          <p:cNvSpPr txBox="1"/>
          <p:nvPr/>
        </p:nvSpPr>
        <p:spPr>
          <a:xfrm>
            <a:off x="600659" y="1462963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RAG-Architectures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BEAB149-30BC-2AB8-6DCD-37BBF59E1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07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30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576160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EC939-9714-3429-9980-6732A21A6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8FAAE74-6C6B-9245-BEA1-7F52DF1B4AA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RAG STEP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1. Data Indexing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002052-A2F4-9839-D58F-E585521FDDD2}"/>
              </a:ext>
            </a:extLst>
          </p:cNvPr>
          <p:cNvSpPr txBox="1"/>
          <p:nvPr/>
        </p:nvSpPr>
        <p:spPr>
          <a:xfrm>
            <a:off x="608284" y="1353850"/>
            <a:ext cx="11021741" cy="487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Load (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데이터 불러오기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) 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다양한 형태의 원본 데이터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(TXT, PDF,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웹페이지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노션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시스템이 이해할 수 있는 공통 규격인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Document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객체로 변환하는 단계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TextLoader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Split (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텍스트 분할하기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) 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거대한 문서를 작은 조각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(Chunk)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으로 잘게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쪼깨는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단계로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모델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(LLM)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한 번에 읽을 수 있는 글자 수 제한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(Context Window)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초과하거나 불필요한 비용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(Token)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축소하는　단계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RecursiveCharacterTextSplitter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Embed (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의미를 숫자로 바꾸기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) 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쪼갠 글자 조각들을 컴퓨터가 연산할 수 있는 방향성 숫자 배열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(Numeric Vector)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변환하면 이 숫자들이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진짜 의미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(Context)'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가지게 되어 유사도 검색이 가능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HuggingFaceEmbeddings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모델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(all-MiniLM-L6-v2)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으로 글자 조각들을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384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차원 수자로 변환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Store (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창고에 저장하기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변환된 글자 조각들과 그에 대응하는 숫자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벡터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들을 나중에 언제든 꺼내 쓸 수 있도록 벡터 저장소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VectorStore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인덱싱하여 안전하게 보관하는 단계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클라우드에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documents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테이블을 만들고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SupabaseVectorStore.from_documents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(...)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DC9B217-326B-59C7-30AC-53A3E263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07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31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2734569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F842C-9CAC-38E6-8FD9-D5DA947DE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243947F-3B13-B412-B1A4-2AFBF67B6C1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RAG STEP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1. Data Indexing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1266" name="Picture 2" descr="index_diagram">
            <a:extLst>
              <a:ext uri="{FF2B5EF4-FFF2-40B4-BE49-F238E27FC236}">
                <a16:creationId xmlns:a16="http://schemas.microsoft.com/office/drawing/2014/main" id="{5AC6592C-BD82-0D32-9BB4-24792A5FD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1982280"/>
            <a:ext cx="8743950" cy="4397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0B795B2-462B-1D70-F75C-F6A7974637BE}"/>
              </a:ext>
            </a:extLst>
          </p:cNvPr>
          <p:cNvSpPr txBox="1"/>
          <p:nvPr/>
        </p:nvSpPr>
        <p:spPr>
          <a:xfrm>
            <a:off x="543648" y="1520410"/>
            <a:ext cx="4224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RAG</a:t>
            </a:r>
            <a:r>
              <a:rPr lang="en-US" altLang="ko-KR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(Retrieval Augmented Generation)</a:t>
            </a:r>
            <a:endParaRPr lang="ko-KR" altLang="en-US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0B488459-E7EC-2E9A-07FA-4BEE57E0C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07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32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7100878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18721-1D54-F2C3-9D0C-19D25E4DE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8CCF26C-27E2-34A5-0A8D-96C10E06D99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RAG </a:t>
            </a: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</a:rPr>
              <a:t>Step 2.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Data Retrieval &amp; Generation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116C9C-E112-9017-C824-57FDABBD88D1}"/>
              </a:ext>
            </a:extLst>
          </p:cNvPr>
          <p:cNvSpPr txBox="1"/>
          <p:nvPr/>
        </p:nvSpPr>
        <p:spPr>
          <a:xfrm>
            <a:off x="608284" y="1353850"/>
            <a:ext cx="11021741" cy="4994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Question (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사용자의 질문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사용자가 서비스에 질문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"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랭체인이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뭔가요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?")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RETRIEVE (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벡터 검색 단계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질문을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모델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(all-MiniLM-L6-v2)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통해 숫자로 바꾼 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Vector DB(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pgvector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저장된 수많은 문서 조각 중 가장 유사도가 높은 핵심 조각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파란색으로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하이라이트된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칸들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만 돋보기로 빠르게 찾아냄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(Retrieve)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PROMPT (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컨텍스트 결합 및 프롬프트 생성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 질문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(Question)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Vector DB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에서 끄집어낸 참고 문서 조각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(Retrieve)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위아래 화살표를 통해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PROMPT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라는 하나의 주머니로 합쳐지는 단계로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에게 무작정 답을 달라고 하는 게 아니라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다음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참고 문서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바탕으로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사용자의 질문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솔직하게 답해줘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라는 형태의 완성된 지시서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프롬프트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조립하는 단계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LLM &amp; Answer (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생성 및 답변 전달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조립된 프롬프트가 대형 언어 모델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(LLM,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Groq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/Llama3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전달하면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은 자신이 아는 지식으로 소설을 쓰는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환각 현상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대신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주어지는 참고 문서를 기반으로 정확하고 정제된 최종 답변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(Answer)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작성하여 사용자에게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Generate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FB6EDEA-367A-6D96-DBF3-A3AE03FFE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07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33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0209693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574E4-5B38-625B-D78F-F70F559CD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2F9FC71-E2BD-5A5C-7CCF-D928284288C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RAG </a:t>
            </a: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</a:rPr>
              <a:t>Step 2.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Data Retrieval &amp; Generation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1268" name="Picture 4" descr="retrieval_diagram">
            <a:extLst>
              <a:ext uri="{FF2B5EF4-FFF2-40B4-BE49-F238E27FC236}">
                <a16:creationId xmlns:a16="http://schemas.microsoft.com/office/drawing/2014/main" id="{A9CB697F-86C4-E9CB-25B3-0303A1737A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299" y="2129628"/>
            <a:ext cx="8277226" cy="4246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AC66DF-E377-DCF9-5FCC-231B680E30FA}"/>
              </a:ext>
            </a:extLst>
          </p:cNvPr>
          <p:cNvSpPr txBox="1"/>
          <p:nvPr/>
        </p:nvSpPr>
        <p:spPr>
          <a:xfrm>
            <a:off x="638175" y="1228636"/>
            <a:ext cx="10858500" cy="79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만약 여러분 회사의 방대한 모든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규정집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(Huge Quantity)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에게 참고하라고 한다면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매번 수천 페이지를 복사해서 붙여 넣으실 건가요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불가능하겠죠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그래서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정답 조각 고르기 기술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필요합니다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.“</a:t>
            </a:r>
            <a:endParaRPr lang="ko-KR" altLang="en-US" sz="1600" dirty="0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43E12384-7C5B-1487-B1A3-95485D64B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07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34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0084908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ECA4C-CC8C-D144-7D64-BDE9F82CB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D7D5F8-B881-C5B3-0369-D2FFD6B9C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Mongo</a:t>
            </a:r>
            <a:r>
              <a:rPr lang="ko-KR" altLang="en-US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53045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004DF-8890-FB55-22E0-1E6D990C8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0AC5760-F2BC-D894-5ED0-014C66BE0EF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MongoDB vs. RDBMS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6C401979-8A86-EC88-C237-FE2FF2368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07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36</a:t>
            </a:fld>
            <a:endParaRPr lang="en-US" sz="1400" b="1" dirty="0"/>
          </a:p>
        </p:txBody>
      </p:sp>
      <p:pic>
        <p:nvPicPr>
          <p:cNvPr id="1026" name="Picture 2" descr="mongoDB에 대하여">
            <a:extLst>
              <a:ext uri="{FF2B5EF4-FFF2-40B4-BE49-F238E27FC236}">
                <a16:creationId xmlns:a16="http://schemas.microsoft.com/office/drawing/2014/main" id="{D2C4BFA8-296B-715F-7857-DB8CF95C6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2424" y="2181224"/>
            <a:ext cx="6443663" cy="429577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utoShape 4" descr="MongoDB vs Relational Database">
            <a:extLst>
              <a:ext uri="{FF2B5EF4-FFF2-40B4-BE49-F238E27FC236}">
                <a16:creationId xmlns:a16="http://schemas.microsoft.com/office/drawing/2014/main" id="{76BF07E9-4DFB-2214-FD03-5DA59159AC6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C3E8CBD-896A-FCFE-A12A-DFE0C37AD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88" y="1371599"/>
            <a:ext cx="2770238" cy="252791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792287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A4331-4E98-F817-2DF2-298120FBE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5E447E5-C75A-891F-FCB6-9B28D2400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635" y="2333625"/>
            <a:ext cx="8712795" cy="422495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0CB0D656-3459-226A-DEE5-6FA5F413C4A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</a:rPr>
              <a:t>Step 1.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Cluste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0 Free 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계정 생성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9A8B1AFF-06C0-D651-908D-DF7EF948D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07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37</a:t>
            </a:fld>
            <a:endParaRPr lang="en-US" sz="1400" b="1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F2F5E51-FA45-F91A-8698-79BF1A9A5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70" y="1378128"/>
            <a:ext cx="6439458" cy="153937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236900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12E37-61B6-A3B1-9835-8BA00ACFE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4BA29E0-35A1-2386-EE10-DD9EE240748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</a:rPr>
              <a:t>Step 2. </a:t>
            </a: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</a:rPr>
              <a:t>로컬에서 연결할 </a:t>
            </a:r>
            <a:r>
              <a:rPr lang="en-US" altLang="ko-KR" sz="28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</a:rPr>
              <a:t>확인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2E8B872-367B-7EC5-F107-5720F4AB4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07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38</a:t>
            </a:fld>
            <a:endParaRPr lang="en-US" sz="14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D7C328A-73D3-DE14-6912-50910D2A4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826" y="1478040"/>
            <a:ext cx="8967300" cy="46367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9C76D057-4526-2874-D974-9EA6EF61897C}"/>
              </a:ext>
            </a:extLst>
          </p:cNvPr>
          <p:cNvSpPr/>
          <p:nvPr/>
        </p:nvSpPr>
        <p:spPr>
          <a:xfrm>
            <a:off x="3209926" y="2666999"/>
            <a:ext cx="571500" cy="33337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563B121-9D19-9DD7-7088-7AB5369FBAC9}"/>
              </a:ext>
            </a:extLst>
          </p:cNvPr>
          <p:cNvSpPr/>
          <p:nvPr/>
        </p:nvSpPr>
        <p:spPr>
          <a:xfrm>
            <a:off x="742950" y="2409825"/>
            <a:ext cx="1704975" cy="2667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36239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8B791-3E61-0C54-DD20-2C5BAFD4B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8C5A3EF-6741-1122-85C2-00C13067383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</a:rPr>
              <a:t>Step 2. </a:t>
            </a: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</a:rPr>
              <a:t>로컬에서 연결할 </a:t>
            </a:r>
            <a:r>
              <a:rPr lang="en-US" altLang="ko-KR" sz="28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</a:rPr>
              <a:t>확인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0554591E-8CCD-2B65-C1F2-FFC1C9F7E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07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39</a:t>
            </a:fld>
            <a:endParaRPr lang="en-US" sz="1400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3E5A94F-C094-593A-51B8-FD711D14F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13" y="1396238"/>
            <a:ext cx="4752539" cy="49797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8D1B53B-DE15-BE81-4F08-E28625AB2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4187" y="1396238"/>
            <a:ext cx="4536850" cy="497977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C4D7246-F24B-AA99-4519-C71AC07B7164}"/>
              </a:ext>
            </a:extLst>
          </p:cNvPr>
          <p:cNvSpPr/>
          <p:nvPr/>
        </p:nvSpPr>
        <p:spPr>
          <a:xfrm>
            <a:off x="668413" y="2543174"/>
            <a:ext cx="4846562" cy="6000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B2CF6D5-3F50-E3E7-DF09-3806223BFBD7}"/>
              </a:ext>
            </a:extLst>
          </p:cNvPr>
          <p:cNvSpPr/>
          <p:nvPr/>
        </p:nvSpPr>
        <p:spPr>
          <a:xfrm>
            <a:off x="5971415" y="4686299"/>
            <a:ext cx="4857991" cy="3714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설명선: 굽은 선 10">
            <a:extLst>
              <a:ext uri="{FF2B5EF4-FFF2-40B4-BE49-F238E27FC236}">
                <a16:creationId xmlns:a16="http://schemas.microsoft.com/office/drawing/2014/main" id="{419F74B0-BFA2-0A0D-B8E2-D2B009760601}"/>
              </a:ext>
            </a:extLst>
          </p:cNvPr>
          <p:cNvSpPr/>
          <p:nvPr/>
        </p:nvSpPr>
        <p:spPr>
          <a:xfrm>
            <a:off x="7620000" y="5205591"/>
            <a:ext cx="4114800" cy="1042809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9689"/>
              <a:gd name="adj6" fmla="val -22721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python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코드에서 접속할 </a:t>
            </a:r>
            <a:r>
              <a:rPr lang="en-US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로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사용자 계정과 암호는 이대로 놔두고 코드에서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설정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 algn="ctr"/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MONGO_URI = "</a:t>
            </a:r>
            <a:r>
              <a:rPr lang="en-US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mongodb+srv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://ancestorcho30:1024@cluster0.bbz7on7.mongodb.net/?</a:t>
            </a:r>
            <a:r>
              <a:rPr lang="en-US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retryWrites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true&amp;w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majority&amp;appName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=Cluster0"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47015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7FEC2-21F9-7E64-517A-41C42F7D8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24F049A-644A-BAE4-12AD-CB05C4F1CB1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</a:rPr>
              <a:t>Step 3. </a:t>
            </a: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</a:rPr>
              <a:t>로컬에서 연결할 </a:t>
            </a:r>
            <a:r>
              <a:rPr lang="en-US" altLang="ko-KR" sz="28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</a:rPr>
              <a:t>DB </a:t>
            </a: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</a:rPr>
              <a:t>접속</a:t>
            </a: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</a:rPr>
              <a:t>계정 및 암호 생성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7488D36-93EE-DD96-2FD9-DE2C687ED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07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40</a:t>
            </a:fld>
            <a:endParaRPr lang="en-US" sz="14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91A2EA9-916D-5951-4060-769B68426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435" y="1759973"/>
            <a:ext cx="8784415" cy="47169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5DBEE64-E997-6249-D777-3DF81DA64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2406" y="2075762"/>
            <a:ext cx="7299444" cy="169979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B1B073F6-C494-2892-E8C5-39904C091B1F}"/>
              </a:ext>
            </a:extLst>
          </p:cNvPr>
          <p:cNvSpPr/>
          <p:nvPr/>
        </p:nvSpPr>
        <p:spPr>
          <a:xfrm>
            <a:off x="1973339" y="6004541"/>
            <a:ext cx="1855712" cy="2343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14D477B-5A39-4330-B8C8-2A994DDCD437}"/>
              </a:ext>
            </a:extLst>
          </p:cNvPr>
          <p:cNvSpPr/>
          <p:nvPr/>
        </p:nvSpPr>
        <p:spPr>
          <a:xfrm>
            <a:off x="9376465" y="2691326"/>
            <a:ext cx="1855712" cy="2343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6E3655-902D-BB73-2D74-1165908629D7}"/>
              </a:ext>
            </a:extLst>
          </p:cNvPr>
          <p:cNvSpPr txBox="1"/>
          <p:nvPr/>
        </p:nvSpPr>
        <p:spPr>
          <a:xfrm>
            <a:off x="6367955" y="4054971"/>
            <a:ext cx="4857991" cy="1077218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MONGO_URI = "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mongodb+srv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://ancestorcho30:1024@cluster0.bbz7on7.mongodb.net/?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retryWrites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true&amp;w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majority&amp;appName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=Cluster0"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D7668CF-079F-AFB6-FD61-D0BF33AC121E}"/>
              </a:ext>
            </a:extLst>
          </p:cNvPr>
          <p:cNvSpPr/>
          <p:nvPr/>
        </p:nvSpPr>
        <p:spPr>
          <a:xfrm>
            <a:off x="7962900" y="4339698"/>
            <a:ext cx="1847850" cy="2894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8F22055-6D01-D41B-0AEA-CA6A9AD75553}"/>
              </a:ext>
            </a:extLst>
          </p:cNvPr>
          <p:cNvSpPr/>
          <p:nvPr/>
        </p:nvSpPr>
        <p:spPr>
          <a:xfrm>
            <a:off x="4791555" y="3335049"/>
            <a:ext cx="1855712" cy="2343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16082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9D7D1-3DA2-EB37-1EFE-60293AC1E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6B0FB59-FBC8-0A93-221A-40F9D57AD62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</a:rPr>
              <a:t>Step 4. </a:t>
            </a: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</a:rPr>
              <a:t>고정</a:t>
            </a:r>
            <a:r>
              <a:rPr lang="en-US" altLang="ko-KR" sz="2800" dirty="0">
                <a:latin typeface="D2Coding" panose="020B0609020101020101" pitchFamily="49" charset="-127"/>
                <a:ea typeface="D2Coding" panose="020B0609020101020101" pitchFamily="49" charset="-127"/>
              </a:rPr>
              <a:t> IP</a:t>
            </a:r>
            <a:r>
              <a:rPr lang="ko-KR" altLang="en-US" sz="2800" dirty="0">
                <a:latin typeface="D2Coding" panose="020B0609020101020101" pitchFamily="49" charset="-127"/>
                <a:ea typeface="D2Coding" panose="020B0609020101020101" pitchFamily="49" charset="-127"/>
              </a:rPr>
              <a:t> 생성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00578510-32A1-4AD7-CFBD-F865A5F33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07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41</a:t>
            </a:fld>
            <a:endParaRPr lang="en-US" sz="14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4A89CA8-73B5-D7D1-BB9D-7318026AA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435" y="1759973"/>
            <a:ext cx="8784415" cy="47169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B4582BB-6B5B-B895-BF55-1D551D4D1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0007" y="2106823"/>
            <a:ext cx="7361368" cy="17467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8694AD70-3E36-CFCB-C7F1-55D2F7219315}"/>
              </a:ext>
            </a:extLst>
          </p:cNvPr>
          <p:cNvSpPr/>
          <p:nvPr/>
        </p:nvSpPr>
        <p:spPr>
          <a:xfrm>
            <a:off x="1973339" y="6004541"/>
            <a:ext cx="1855712" cy="2343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10DF467-8824-2193-CC27-05461F957CEA}"/>
              </a:ext>
            </a:extLst>
          </p:cNvPr>
          <p:cNvSpPr/>
          <p:nvPr/>
        </p:nvSpPr>
        <p:spPr>
          <a:xfrm>
            <a:off x="9370234" y="2691103"/>
            <a:ext cx="1855712" cy="2343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D634284-9CA2-85E7-7FE9-F885D010DCCE}"/>
              </a:ext>
            </a:extLst>
          </p:cNvPr>
          <p:cNvSpPr/>
          <p:nvPr/>
        </p:nvSpPr>
        <p:spPr>
          <a:xfrm>
            <a:off x="4743930" y="3556939"/>
            <a:ext cx="1855712" cy="2343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설명선: 굽은 선 10">
            <a:extLst>
              <a:ext uri="{FF2B5EF4-FFF2-40B4-BE49-F238E27FC236}">
                <a16:creationId xmlns:a16="http://schemas.microsoft.com/office/drawing/2014/main" id="{19BE90E5-BE07-3359-A66F-031948433148}"/>
              </a:ext>
            </a:extLst>
          </p:cNvPr>
          <p:cNvSpPr/>
          <p:nvPr/>
        </p:nvSpPr>
        <p:spPr>
          <a:xfrm>
            <a:off x="7320691" y="4200439"/>
            <a:ext cx="4395059" cy="36512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03674"/>
              <a:gd name="adj6" fmla="val -29665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고정 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IP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주소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(0.0.0.0/0)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을 만들어서 접속</a:t>
            </a:r>
          </a:p>
        </p:txBody>
      </p:sp>
      <p:sp>
        <p:nvSpPr>
          <p:cNvPr id="12" name="설명선: 굽은 선 11">
            <a:extLst>
              <a:ext uri="{FF2B5EF4-FFF2-40B4-BE49-F238E27FC236}">
                <a16:creationId xmlns:a16="http://schemas.microsoft.com/office/drawing/2014/main" id="{6BECAC80-1972-380F-5851-306DC93CCD55}"/>
              </a:ext>
            </a:extLst>
          </p:cNvPr>
          <p:cNvSpPr/>
          <p:nvPr/>
        </p:nvSpPr>
        <p:spPr>
          <a:xfrm>
            <a:off x="6380567" y="2364100"/>
            <a:ext cx="3286125" cy="3920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76500"/>
              <a:gd name="adj6" fmla="val -36522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로컬 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Host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유동 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IP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주소</a:t>
            </a:r>
          </a:p>
        </p:txBody>
      </p:sp>
    </p:spTree>
    <p:extLst>
      <p:ext uri="{BB962C8B-B14F-4D97-AF65-F5344CB8AC3E}">
        <p14:creationId xmlns:p14="http://schemas.microsoft.com/office/powerpoint/2010/main" val="906988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DE0CF-154F-3C47-AF7F-A13CE96DF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33766BF-0536-E590-7032-124A7A5175E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Colab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&amp; MongoDB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3906DEC-B0AB-259F-983E-2B5E3D6D1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07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42</a:t>
            </a:fld>
            <a:endParaRPr lang="en-US" sz="1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89A6DA-7B77-9555-B31D-D64CC447B6B5}"/>
              </a:ext>
            </a:extLst>
          </p:cNvPr>
          <p:cNvSpPr txBox="1"/>
          <p:nvPr/>
        </p:nvSpPr>
        <p:spPr>
          <a:xfrm>
            <a:off x="667268" y="1384918"/>
            <a:ext cx="11058525" cy="5047536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 datetime import datetime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certifi</a:t>
            </a: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 faker import Faker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pymongo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MongoClient</a:t>
            </a: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----------------------------------------------------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2. MongoDB Atlas 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연결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----------------------------------------------------</a:t>
            </a:r>
            <a:endParaRPr lang="ko-KR" altLang="en-US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MONGO_URI = "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mongodb+srv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://ancestorcho30:1024@cluster0.bbz7on7.mongodb.net/?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retryWrites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true&amp;w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majority&amp;appName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=Cluster0"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client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MongoClient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MONGO_URI,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tls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=True,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tlsCAFile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certifi.where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(),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serverSelectionTimeoutMS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=5000,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b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여기서 지정한 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company_db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'employees'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는 데이터가 들어갈 때 자동으로 생성됩니다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!</a:t>
            </a:r>
            <a:endParaRPr lang="ko-KR" altLang="en-US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client["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company_db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"]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collection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["employees"]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----------------------------------------------------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3. Faker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이용한 가상 데이터 생성 및 저장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----------------------------------------------------</a:t>
            </a:r>
            <a:endParaRPr lang="ko-KR" altLang="en-US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fake = Faker("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ko_KR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pPr>
              <a:buNone/>
            </a:pP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Faker.seed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(42)</a:t>
            </a:r>
          </a:p>
          <a:p>
            <a:pPr>
              <a:buNone/>
            </a:pP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documents_to_insert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[]</a:t>
            </a:r>
          </a:p>
        </p:txBody>
      </p:sp>
    </p:spTree>
    <p:extLst>
      <p:ext uri="{BB962C8B-B14F-4D97-AF65-F5344CB8AC3E}">
        <p14:creationId xmlns:p14="http://schemas.microsoft.com/office/powerpoint/2010/main" val="22768356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656C-C30F-E526-DC3F-0E4F02DE3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B5DAC8E-2520-DB86-AB74-6137C857D46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Colab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&amp; MongoDB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F5986C3E-9879-5D51-6A18-46EAF8402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07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43</a:t>
            </a:fld>
            <a:endParaRPr lang="en-US" sz="1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EEBF63-46C0-B74D-4350-07936399143C}"/>
              </a:ext>
            </a:extLst>
          </p:cNvPr>
          <p:cNvSpPr txBox="1"/>
          <p:nvPr/>
        </p:nvSpPr>
        <p:spPr>
          <a:xfrm>
            <a:off x="667268" y="1384918"/>
            <a:ext cx="11058525" cy="4832092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in range(1, 6):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doc = {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"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emp_id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":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"name": fake.name(),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"job":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fake.job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(),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"contact": {"email":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fake.email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(), "phone":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fake.phone_number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()},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"skills":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fake.words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nb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=3),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"salary":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fake.random_int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(min=3000, max=8000, step=100),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"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created_at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":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datetime.now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(),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}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documents_to_insert.append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(doc)</a:t>
            </a:r>
          </a:p>
          <a:p>
            <a:pPr>
              <a:buNone/>
            </a:pP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데이터 넣기 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 순간 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Collection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 자동으로 만들어집니다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result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collection.insert_many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documents_to_insert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print(f"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🎉 데이터베이스 재생성 및 데이터 저장 성공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! ({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len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result.inserted_ids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)}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 저장됨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)\n")</a:t>
            </a:r>
          </a:p>
          <a:p>
            <a:pPr>
              <a:buNone/>
            </a:pP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----------------------------------------------------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4. 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저장된 데이터 조회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----------------------------------------------------</a:t>
            </a:r>
            <a:endParaRPr lang="ko-KR" altLang="en-US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print("=== 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저장된 데이터 확인 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===")</a:t>
            </a:r>
            <a:endParaRPr lang="ko-KR" altLang="en-US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 doc in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collection.find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():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print(doc)</a:t>
            </a:r>
          </a:p>
        </p:txBody>
      </p:sp>
    </p:spTree>
    <p:extLst>
      <p:ext uri="{BB962C8B-B14F-4D97-AF65-F5344CB8AC3E}">
        <p14:creationId xmlns:p14="http://schemas.microsoft.com/office/powerpoint/2010/main" val="211564332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41861-5F46-8C80-C60F-B01BCA334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44B1DE3-E859-BEEC-6DB6-7AB2C39E509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Mock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MogoDB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5945522-C7DC-C6D1-C178-D41C5DF35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07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44</a:t>
            </a:fld>
            <a:endParaRPr lang="en-US" sz="1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85C5AA-CA1C-1607-52DE-FEEDD436B52B}"/>
              </a:ext>
            </a:extLst>
          </p:cNvPr>
          <p:cNvSpPr txBox="1"/>
          <p:nvPr/>
        </p:nvSpPr>
        <p:spPr>
          <a:xfrm>
            <a:off x="561976" y="1785960"/>
            <a:ext cx="11163300" cy="2031325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mongomock</a:t>
            </a: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----------------------------------------------------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2. Mock MongoDB 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클라이언트 연결 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네트워크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보안 에러 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100% 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없음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----------------------------------------------------</a:t>
            </a:r>
            <a:endParaRPr lang="ko-KR" altLang="en-US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client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mongomock.MongoClient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pPr>
              <a:buNone/>
            </a:pP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client["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company_db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"]</a:t>
            </a:r>
          </a:p>
          <a:p>
            <a:pPr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collection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["employees"]</a:t>
            </a:r>
          </a:p>
        </p:txBody>
      </p:sp>
    </p:spTree>
    <p:extLst>
      <p:ext uri="{BB962C8B-B14F-4D97-AF65-F5344CB8AC3E}">
        <p14:creationId xmlns:p14="http://schemas.microsoft.com/office/powerpoint/2010/main" val="3934461546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13413</TotalTime>
  <Words>4122</Words>
  <Application>Microsoft Office PowerPoint</Application>
  <PresentationFormat>와이드스크린</PresentationFormat>
  <Paragraphs>412</Paragraphs>
  <Slides>44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50" baseType="lpstr">
      <vt:lpstr>D2Coding</vt:lpstr>
      <vt:lpstr>맑은 고딕</vt:lpstr>
      <vt:lpstr>Batang</vt:lpstr>
      <vt:lpstr>Arial</vt:lpstr>
      <vt:lpstr>Wingdings</vt:lpstr>
      <vt:lpstr>WelcomeDoc</vt:lpstr>
      <vt:lpstr>CHAPERT 2 RAG Part I: Indexing Your Data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Mongo DB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197</cp:revision>
  <dcterms:created xsi:type="dcterms:W3CDTF">2026-04-06T01:00:39Z</dcterms:created>
  <dcterms:modified xsi:type="dcterms:W3CDTF">2026-10-23T13:24:59Z</dcterms:modified>
  <cp:version/>
</cp:coreProperties>
</file>