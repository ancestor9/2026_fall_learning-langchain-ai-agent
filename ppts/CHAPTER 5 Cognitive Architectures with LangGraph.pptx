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1136" r:id="rId3"/>
    <p:sldId id="1140" r:id="rId4"/>
    <p:sldId id="1156" r:id="rId5"/>
    <p:sldId id="1154" r:id="rId6"/>
    <p:sldId id="1160" r:id="rId7"/>
    <p:sldId id="1153" r:id="rId8"/>
    <p:sldId id="1145" r:id="rId9"/>
    <p:sldId id="1157" r:id="rId10"/>
    <p:sldId id="1158" r:id="rId11"/>
    <p:sldId id="1159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56"/>
            <p14:sldId id="1154"/>
            <p14:sldId id="1160"/>
            <p14:sldId id="1153"/>
            <p14:sldId id="1145"/>
            <p14:sldId id="1157"/>
            <p14:sldId id="1158"/>
            <p14:sldId id="115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108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7251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5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Cognitive</a:t>
            </a:r>
            <a:r>
              <a:rPr lang="en-US" altLang="ko-KR" sz="4400" dirty="0"/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Architectures with LangGraph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52FDCF-F1C1-47AA-CB84-900C5A46C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675" y="1940675"/>
            <a:ext cx="8401050" cy="2976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Cognitive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Architectures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LangGraph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#1: LLM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Call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#2: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Chain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#3: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Router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Summary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가벼운 쪽에 하트가 있고 무거운 쪽에 동전이 있습니다. 경제, 건강, 사랑 및 우선 순위의 개념. 3D 렌더링">
            <a:extLst>
              <a:ext uri="{FF2B5EF4-FFF2-40B4-BE49-F238E27FC236}">
                <a16:creationId xmlns:a16="http://schemas.microsoft.com/office/drawing/2014/main" id="{9CFC0E69-A362-252D-AB87-2AE85EEA9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613" y="3902987"/>
            <a:ext cx="3324225" cy="249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3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D0531-1D6B-93A4-9D4E-1FC114906481}"/>
              </a:ext>
            </a:extLst>
          </p:cNvPr>
          <p:cNvSpPr txBox="1"/>
          <p:nvPr/>
        </p:nvSpPr>
        <p:spPr>
          <a:xfrm>
            <a:off x="733425" y="1619935"/>
            <a:ext cx="4391025" cy="166808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Prompting techniques in Chapter 1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RAG in Chapters 2 and 3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Memory in Chapter 4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21BA6-4B8C-8AD4-D5EC-EF4524223B5E}"/>
              </a:ext>
            </a:extLst>
          </p:cNvPr>
          <p:cNvSpPr txBox="1"/>
          <p:nvPr/>
        </p:nvSpPr>
        <p:spPr>
          <a:xfrm>
            <a:off x="2500725" y="4318574"/>
            <a:ext cx="2328451" cy="83099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Agency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capacity to act autonomously)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4512D-A7E8-850B-98B4-67F94F55076E}"/>
              </a:ext>
            </a:extLst>
          </p:cNvPr>
          <p:cNvSpPr txBox="1"/>
          <p:nvPr/>
        </p:nvSpPr>
        <p:spPr>
          <a:xfrm>
            <a:off x="6753226" y="4955460"/>
            <a:ext cx="2743200" cy="80021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Reliability 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degree to which you can trust its outputs)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AEAA919-9A16-6262-C865-31D4B7BA6EDD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124450" y="2453977"/>
            <a:ext cx="21336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0F2419-FB0E-FDD6-C5FF-83E0A11E7A73}"/>
              </a:ext>
            </a:extLst>
          </p:cNvPr>
          <p:cNvSpPr txBox="1"/>
          <p:nvPr/>
        </p:nvSpPr>
        <p:spPr>
          <a:xfrm>
            <a:off x="7734300" y="1502430"/>
            <a:ext cx="3819525" cy="2353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i="1" dirty="0">
                <a:latin typeface="D2Coding" panose="020B0609020101020101" pitchFamily="49" charset="-127"/>
                <a:ea typeface="D2Coding" panose="020B0609020101020101" pitchFamily="49" charset="-127"/>
              </a:rPr>
              <a:t>The next question should be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b="1" i="1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How do we assemble these pieces into a coherent application that achieves the goal we set out to solve?</a:t>
            </a:r>
            <a:endParaRPr lang="ko-KR" altLang="en-US" sz="1600" b="1" i="1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4A7F358A-1EDB-BD14-B8FE-7B2AE5B8011B}"/>
              </a:ext>
            </a:extLst>
          </p:cNvPr>
          <p:cNvCxnSpPr>
            <a:cxnSpLocks/>
            <a:stCxn id="8" idx="2"/>
            <a:endCxn id="9" idx="2"/>
          </p:cNvCxnSpPr>
          <p:nvPr/>
        </p:nvCxnSpPr>
        <p:spPr>
          <a:xfrm rot="16200000" flipH="1">
            <a:off x="5591834" y="3222687"/>
            <a:ext cx="606108" cy="4459875"/>
          </a:xfrm>
          <a:prstGeom prst="bentConnector3">
            <a:avLst>
              <a:gd name="adj1" fmla="val 13771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8B55-7F48-A924-81F4-B3AD2CC59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0C808E-75DF-549A-2F25-78C42E98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4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66BBE9C-F446-77BC-B90F-D401E3A6D0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Cognitive Architecture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A2A4F-D6EF-5DEE-1486-764B3B058739}"/>
              </a:ext>
            </a:extLst>
          </p:cNvPr>
          <p:cNvSpPr txBox="1"/>
          <p:nvPr/>
        </p:nvSpPr>
        <p:spPr>
          <a:xfrm>
            <a:off x="571499" y="1248422"/>
            <a:ext cx="11039476" cy="4786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애플리케이션의 자율성 정도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(The degree of autonomy)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애플리케이션의 동작 중 얼마 만큼이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코드가 아닌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의해 결정되는 정도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Have an LLM decide the output of a step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특정 단계의 출력물을 결정하도록 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이메일 답장 초안 작성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Have an LLM decide the next step to take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다음으로 취할 동작을 결정하도록 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 이메일에 대해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보관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], 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답장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], 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검토 대상 표시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사전 정의된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작업 중 하나를 선택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Have an LLM decide what steps are available to take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수행 가능한 작업의 종류 자체를 결정하도록 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개발자가 애플리케이션에 미리 프로그래밍해 두지 않은 동적 작업을 실행할 수 있도록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직접 코드를 작성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0FEA8-5DC3-650D-CCA9-4562FCDDF01A}"/>
              </a:ext>
            </a:extLst>
          </p:cNvPr>
          <p:cNvSpPr txBox="1"/>
          <p:nvPr/>
        </p:nvSpPr>
        <p:spPr>
          <a:xfrm>
            <a:off x="9225373" y="327995"/>
            <a:ext cx="2328451" cy="83099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Agency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capacity to act autonomously)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375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771F-314A-0BB1-69A6-3D37BDFF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F3CC0-C46D-73EA-1B41-4BC18BF1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5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1A305E-0099-9CF9-F10E-9F193679891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Cognitive Architecture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3E75B5-A814-2766-14FA-E61F73CDE5B7}"/>
              </a:ext>
            </a:extLst>
          </p:cNvPr>
          <p:cNvSpPr txBox="1"/>
          <p:nvPr/>
        </p:nvSpPr>
        <p:spPr>
          <a:xfrm>
            <a:off x="576262" y="1286522"/>
            <a:ext cx="1103947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분류 기준 (자율성 스펙트럼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_the degree of autonomy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시스템 제어권을 개발자가 쥐고 있는지,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주도하는지 단계별로 구분함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‘단계(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)’의 구체적 예시: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 (검색 증강 생성): 외부 데이터베이스에서 관련 문서를 가져오는 작업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thought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단계별로 생각하도록 유도하는 프롬프트 호출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F205B-EA3E-3E7A-00FE-B03B9FE4692E}"/>
              </a:ext>
            </a:extLst>
          </p:cNvPr>
          <p:cNvSpPr txBox="1"/>
          <p:nvPr/>
        </p:nvSpPr>
        <p:spPr>
          <a:xfrm>
            <a:off x="9225373" y="327995"/>
            <a:ext cx="2328451" cy="83099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Agency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capacity to act autonomously)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445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B373C-E534-D23F-6F67-E61E3112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308DD3-7DCA-BE3D-369C-B6CAE3AB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6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A1EFBD1-7CAE-B015-FBB4-DC4124A0FDC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자율성 스펙트럼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_the degree of autonomy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6A7EC-276F-20A2-76DB-E5AE2A5FBBD7}"/>
              </a:ext>
            </a:extLst>
          </p:cNvPr>
          <p:cNvSpPr txBox="1"/>
          <p:nvPr/>
        </p:nvSpPr>
        <p:spPr>
          <a:xfrm>
            <a:off x="576262" y="1210322"/>
            <a:ext cx="11039476" cy="125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시스템 제어권을 개발자가 쥐고 있는지,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주도하는지 단계별로 자율성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스펙트럼을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구분함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시스템의 통제권을 얼마나 맡길 것인가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기준으로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시스템을 분류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개발자가 아닌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스스로 판단해서 다음 행동을 결정하고 도구까지 실행하면 자율성이 높음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2AD49E-11D5-0985-189A-5CCB05A6C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2831285"/>
            <a:ext cx="4315613" cy="28163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8D0EF1-1A9F-C1DE-041F-708F77812A4B}"/>
              </a:ext>
            </a:extLst>
          </p:cNvPr>
          <p:cNvSpPr txBox="1"/>
          <p:nvPr/>
        </p:nvSpPr>
        <p:spPr>
          <a:xfrm>
            <a:off x="4976812" y="2796570"/>
            <a:ext cx="6934200" cy="22799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 Agent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주체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조율자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]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├── [ MCP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연결 표준 규격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] ──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외부 서비스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/DB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연결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└── [ Tools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도구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기능 모음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] : Skills.md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├── 1. Function Calling (JSON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기반 규격화된 호출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현재 표준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├── 2.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ReAct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/ Zero-shot Prompting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문자열 기반 텍스트 파싱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├── 3. Code Interpreter / Dynamic Code Execution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실시간 코드 작성 및 실행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├── 4.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Toolformer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/ API In-line Token Triggering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토큰 단위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API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자동 호출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└── 5. GUI / Computer Use Agent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화면 시각 요소 직접 제어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11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2E7C5-3E23-B436-1692-8DC23B53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B1DA200-D1BD-8957-2555-D8648F8A36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Cognitive Architectures for LLM applications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06435-15A3-2E50-2AD1-222D3ED224DD}"/>
              </a:ext>
            </a:extLst>
          </p:cNvPr>
          <p:cNvSpPr txBox="1"/>
          <p:nvPr/>
        </p:nvSpPr>
        <p:spPr>
          <a:xfrm>
            <a:off x="581025" y="1216252"/>
            <a:ext cx="1101090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You will learn how to build this essential memory system using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LangChain’s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built-in modules or LangGraph to make this development process easier.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7405FC8C-396E-2835-6D8E-C606AD06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7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F716F53-E78A-48BE-A2D3-A8375BDBD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703" y="2272457"/>
            <a:ext cx="7618472" cy="420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62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5245-9EDB-46A3-1F2A-4501E08E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8DB553A-0412-FD51-E0DB-FBD53447F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Cognitive Architectures for LLM applications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492467-A6D9-B1D6-2B60-1DB5E190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8</a:t>
            </a:fld>
            <a:endParaRPr lang="en-US" b="1" dirty="0">
              <a:latin typeface="Tw Cen MT" panose="020B0602020104020603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965D8AB-DCA1-9CC6-9C92-F8A2897F4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995448"/>
              </p:ext>
            </p:extLst>
          </p:nvPr>
        </p:nvGraphicFramePr>
        <p:xfrm>
          <a:off x="625475" y="1834351"/>
          <a:ext cx="10941050" cy="424260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885494">
                  <a:extLst>
                    <a:ext uri="{9D8B030D-6E8A-4147-A177-3AD203B41FA5}">
                      <a16:colId xmlns:a16="http://schemas.microsoft.com/office/drawing/2014/main" val="1659456078"/>
                    </a:ext>
                  </a:extLst>
                </a:gridCol>
                <a:gridCol w="992636">
                  <a:extLst>
                    <a:ext uri="{9D8B030D-6E8A-4147-A177-3AD203B41FA5}">
                      <a16:colId xmlns:a16="http://schemas.microsoft.com/office/drawing/2014/main" val="1642650757"/>
                    </a:ext>
                  </a:extLst>
                </a:gridCol>
                <a:gridCol w="3979996">
                  <a:extLst>
                    <a:ext uri="{9D8B030D-6E8A-4147-A177-3AD203B41FA5}">
                      <a16:colId xmlns:a16="http://schemas.microsoft.com/office/drawing/2014/main" val="400265915"/>
                    </a:ext>
                  </a:extLst>
                </a:gridCol>
                <a:gridCol w="5082924">
                  <a:extLst>
                    <a:ext uri="{9D8B030D-6E8A-4147-A177-3AD203B41FA5}">
                      <a16:colId xmlns:a16="http://schemas.microsoft.com/office/drawing/2014/main" val="2141218956"/>
                    </a:ext>
                  </a:extLst>
                </a:gridCol>
              </a:tblGrid>
              <a:tr h="2911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단계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아키텍처</a:t>
                      </a:r>
                    </a:p>
                  </a:txBody>
                  <a:tcPr marL="7193" marR="7193" marT="4795" marB="479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핵심 특징</a:t>
                      </a:r>
                    </a:p>
                  </a:txBody>
                  <a:tcPr marL="7193" marR="7193" marT="4795" marB="479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대표 예시 및 실행 흐름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52977836"/>
                  </a:ext>
                </a:extLst>
              </a:tr>
              <a:tr h="8485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 0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Code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을 전혀 활용하지 않는 단계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개발자가 전통적인 방식으로 작성한 일반적인 소프트웨어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기존의 일반 프로그램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12153460"/>
                  </a:ext>
                </a:extLst>
              </a:tr>
              <a:tr h="8485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 1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call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회의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호출만 수행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큰 애플리케이션 내에서 특정 단일 작업을 처리할 때 주로 활용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텍스트 번역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문서 요약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19235010"/>
                  </a:ext>
                </a:extLst>
              </a:tr>
              <a:tr h="112718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 2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Chain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미리 정해진 순서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(Sequence)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 따라 여러 번의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호출을 정적으로 연결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개발자가 실행 순서를 완전히 통제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Text-to-SQL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애플리케이션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1: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사용자 자연어 입력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+ DB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설명 ➔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SQL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쿼리 생성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2: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생성된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SQL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쿼리 ➔ 비기술자용 </a:t>
                      </a:r>
                      <a:r>
                        <a:rPr lang="ko-KR" altLang="en-US" sz="1400" b="1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설명글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작성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사용자가 맞게 생성됐는지 검토용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79688595"/>
                  </a:ext>
                </a:extLst>
              </a:tr>
              <a:tr h="112718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 3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Router</a:t>
                      </a:r>
                    </a:p>
                  </a:txBody>
                  <a:tcPr marL="7193" marR="7193" marT="4795" marB="479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 조건에 따라 다음 이동 경로를 결정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정해진 선택지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사전 정의된 단계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 최선의 경로를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 선택하여 분기</a:t>
                      </a:r>
                    </a:p>
                  </a:txBody>
                  <a:tcPr marL="7193" marR="7193" marT="4795" marB="479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다중 인덱스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RAG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시스템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1: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질문 분석 후 적절한 문서 인덱스 선택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검색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(Retrieval):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선택된 인덱스에서 관련 문서 추출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2: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질문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+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추출 문서 ➔ 최종 답변 생성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063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651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35A1-83DE-ADC0-2ADF-A6D68CEA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C17D2B-6B1B-6DEC-3128-A8AAB055F66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Architecture #1: LLM Call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73B3B27-B657-AB4A-7F1C-CE726A9E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9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11C2B4-90E0-3693-6684-55141AF3C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787" y="2200047"/>
            <a:ext cx="2511616" cy="36716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9D05AA-DFBF-60B8-A74D-1EE2EC038008}"/>
              </a:ext>
            </a:extLst>
          </p:cNvPr>
          <p:cNvSpPr txBox="1"/>
          <p:nvPr/>
        </p:nvSpPr>
        <p:spPr>
          <a:xfrm>
            <a:off x="5055604" y="2566398"/>
            <a:ext cx="5086350" cy="15010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(Notion)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요약 및 번역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쿼리 생성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정해진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대상 사용자에 따라 답변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70E77-0ED3-DE4D-FFAA-7CAFC32C0562}"/>
              </a:ext>
            </a:extLst>
          </p:cNvPr>
          <p:cNvSpPr txBox="1"/>
          <p:nvPr/>
        </p:nvSpPr>
        <p:spPr>
          <a:xfrm>
            <a:off x="5051793" y="2197066"/>
            <a:ext cx="5103495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Call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LLM을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한 번만 호출</a:t>
            </a:r>
          </a:p>
        </p:txBody>
      </p:sp>
    </p:spTree>
    <p:extLst>
      <p:ext uri="{BB962C8B-B14F-4D97-AF65-F5344CB8AC3E}">
        <p14:creationId xmlns:p14="http://schemas.microsoft.com/office/powerpoint/2010/main" val="410771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A533-72B2-EF6D-6238-026B9D67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29008F-B6B9-EC20-092E-4C2A51F4DD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Architecture #2: Chain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CD3F4E9-EF2D-B274-E5DA-7B48FA05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10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5B1EBE-2826-8603-F1F9-0E0E988B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930" y="2573623"/>
            <a:ext cx="2248752" cy="36561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9F9566-4C01-7D2E-D410-70150E5DA57D}"/>
              </a:ext>
            </a:extLst>
          </p:cNvPr>
          <p:cNvSpPr txBox="1"/>
          <p:nvPr/>
        </p:nvSpPr>
        <p:spPr>
          <a:xfrm>
            <a:off x="547385" y="1248422"/>
            <a:ext cx="1108770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애플리케이션이 실행될 때마다 입력 값과 결과는 달라지지만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여러 번의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호출을 순차적으로 활용하여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쿼리를 생성하여 더욱 정교한 애플리케이션을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만듬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5D10ED-7BC9-93A8-2B7C-04A310FE411B}"/>
              </a:ext>
            </a:extLst>
          </p:cNvPr>
          <p:cNvSpPr txBox="1"/>
          <p:nvPr/>
        </p:nvSpPr>
        <p:spPr>
          <a:xfrm>
            <a:off x="5049455" y="2530375"/>
            <a:ext cx="6094070" cy="37564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Chain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여러 LLM 호출을 순서대로 연결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2F366-AF3B-EA2F-A205-DD2CEF7AFE83}"/>
              </a:ext>
            </a:extLst>
          </p:cNvPr>
          <p:cNvSpPr txBox="1"/>
          <p:nvPr/>
        </p:nvSpPr>
        <p:spPr>
          <a:xfrm>
            <a:off x="5049457" y="2906024"/>
            <a:ext cx="6094068" cy="516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자연어 질문 →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 →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설명이라는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92823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5467-B24E-9742-3014-379C5C267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FB1E4DA-0E0C-D244-7792-1997B7C0F96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Architecture #3: Router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DF9DCA4-D471-B1E9-A5CC-0080E4E7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11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EECA5-1502-1478-CDFC-E7F012261DDE}"/>
              </a:ext>
            </a:extLst>
          </p:cNvPr>
          <p:cNvSpPr txBox="1"/>
          <p:nvPr/>
        </p:nvSpPr>
        <p:spPr>
          <a:xfrm>
            <a:off x="600074" y="1248422"/>
            <a:ext cx="1096327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체인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(Chain)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아키텍처가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단계가 몇 개든 상관없이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항상 정적인 순서대로 단계를 실행하는 반면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라우터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(Router)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아키텍처는 미리 정의된 특정 단계들 중에서 최적의 단계를 선택하는 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활용하는 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B239E-067E-62BD-89CB-B5A09558BA45}"/>
              </a:ext>
            </a:extLst>
          </p:cNvPr>
          <p:cNvSpPr txBox="1"/>
          <p:nvPr/>
        </p:nvSpPr>
        <p:spPr>
          <a:xfrm>
            <a:off x="585785" y="2585742"/>
            <a:ext cx="5205180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router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대한 업데이트(앞서 설명한 메모리 기법을 사용하여 대화를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이어감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)와 함께, 사용자의 질문에 대해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선택한 도메인(이 경우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insurance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)을 반환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pick_retriever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함수: 이전 단계의 LLM 호출에서 식별된 도메인을 바탕으로 실행할 다음 노드의 이름을 반환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retrieve_insurance_faqs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노드: 해당 인덱스에서 관련 문서 집합을 반환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판단에 따라 왼쪽 경로를 택함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generate_answer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노드: 추출된 문서들과 원래의 사용자 질문을 바탕으로 최종 답변을 생성하였으며, 이 답변은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키의 최종 업데이트와 함께) 상태(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저장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3FC95-BF9B-0825-6C6A-DCEE209D20F9}"/>
              </a:ext>
            </a:extLst>
          </p:cNvPr>
          <p:cNvSpPr txBox="1"/>
          <p:nvPr/>
        </p:nvSpPr>
        <p:spPr>
          <a:xfrm>
            <a:off x="585785" y="2244984"/>
            <a:ext cx="520518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Router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경로를 정하고, 그에 따라 분기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600A6C-F86E-80A7-23F4-6A9706647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65" y="2264034"/>
            <a:ext cx="6148267" cy="38611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045973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17804</TotalTime>
  <Words>905</Words>
  <Application>Microsoft Office PowerPoint</Application>
  <PresentationFormat>와이드스크린</PresentationFormat>
  <Paragraphs>120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D2Coding</vt:lpstr>
      <vt:lpstr>맑은 고딕</vt:lpstr>
      <vt:lpstr>바탕</vt:lpstr>
      <vt:lpstr>Arial</vt:lpstr>
      <vt:lpstr>Tw Cen MT</vt:lpstr>
      <vt:lpstr>Wingdings</vt:lpstr>
      <vt:lpstr>WelcomeDoc</vt:lpstr>
      <vt:lpstr>CHAPTER 5 Cognitive Architectures with LangGraph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236</cp:revision>
  <dcterms:created xsi:type="dcterms:W3CDTF">2026-04-06T01:00:39Z</dcterms:created>
  <dcterms:modified xsi:type="dcterms:W3CDTF">2026-10-03T12:09:31Z</dcterms:modified>
  <cp:version/>
</cp:coreProperties>
</file>