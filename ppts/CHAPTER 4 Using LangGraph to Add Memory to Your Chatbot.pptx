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1136" r:id="rId3"/>
    <p:sldId id="1140" r:id="rId4"/>
    <p:sldId id="1153" r:id="rId5"/>
    <p:sldId id="1145" r:id="rId6"/>
    <p:sldId id="1157" r:id="rId7"/>
    <p:sldId id="1154" r:id="rId8"/>
    <p:sldId id="1155" r:id="rId9"/>
    <p:sldId id="1158" r:id="rId10"/>
    <p:sldId id="1156" r:id="rId11"/>
    <p:sldId id="1159" r:id="rId12"/>
    <p:sldId id="1160" r:id="rId13"/>
    <p:sldId id="1161" r:id="rId14"/>
    <p:sldId id="1163" r:id="rId1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0"/>
            <p14:sldId id="1153"/>
            <p14:sldId id="1145"/>
            <p14:sldId id="1157"/>
            <p14:sldId id="1154"/>
            <p14:sldId id="1155"/>
            <p14:sldId id="1158"/>
            <p14:sldId id="1156"/>
            <p14:sldId id="1159"/>
            <p14:sldId id="1160"/>
            <p14:sldId id="1161"/>
            <p14:sldId id="1163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2026-10-02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2026-10-02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2026-10-02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2026-10-02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ikidocs.net/261584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87820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CHAPTER 4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Using LangGraph to Add Memory to Your Chatbot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7A9C4-19F2-2125-A082-AD5BF7876A6B}"/>
              </a:ext>
            </a:extLst>
          </p:cNvPr>
          <p:cNvSpPr txBox="1"/>
          <p:nvPr/>
        </p:nvSpPr>
        <p:spPr>
          <a:xfrm>
            <a:off x="2152650" y="1700921"/>
            <a:ext cx="8858250" cy="4620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Using LangGraph to Add Memory to Your Chatbot .....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Building a Chatbot Memory System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Introducing LangGraph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Creating a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StateGraph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Adding Memory to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StateGraph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Modifying Chat History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Trimming Messages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Filtering Messages</a:t>
            </a: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Merging Consecutive Messages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AADB-16FD-D031-093A-078B9B45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13C64-8E36-4C85-8182-010E8425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3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F27C86-F5A7-56AC-6B7D-6AB573A8361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Motivation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E27A3-7BCD-B963-0B8B-1E167166F732}"/>
              </a:ext>
            </a:extLst>
          </p:cNvPr>
          <p:cNvSpPr txBox="1"/>
          <p:nvPr/>
        </p:nvSpPr>
        <p:spPr>
          <a:xfrm>
            <a:off x="609600" y="1248422"/>
            <a:ext cx="10972800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챗봇이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과거 대화와 맥락을 기억하며 유저와 실제로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주고받는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(back and forth)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나누게 만드는 방법은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무엇일까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즉 개발자가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애플리케이션에 주고받는 채팅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기억력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활성화하려면 어떤 핵심 원리의 구현이 필요할까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4267A-39C9-9345-D0B9-29222EFC2877}"/>
              </a:ext>
            </a:extLst>
          </p:cNvPr>
          <p:cNvSpPr txBox="1"/>
          <p:nvPr/>
        </p:nvSpPr>
        <p:spPr>
          <a:xfrm>
            <a:off x="1238249" y="2876239"/>
            <a:ext cx="9938803" cy="30074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상태 관리 </a:t>
            </a:r>
            <a:r>
              <a:rPr lang="en-US" altLang="ko-KR" sz="16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(State)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대화가 오가는 동안 누적되는 메시지 목록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(list of messages)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하나의 거대한 상태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(State)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객체로 정의하고 새로운 질문과 답변이 오갈 때마다 이 상태에 메시지가 계속 추가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(Append)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하여야 하고</a:t>
            </a:r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체크포인터</a:t>
            </a:r>
            <a:r>
              <a:rPr lang="ko-KR" altLang="en-US" sz="16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Checkpointer</a:t>
            </a:r>
            <a:r>
              <a:rPr lang="en-US" altLang="ko-KR" sz="16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대화가 한 턴 끝날 때마다 현재의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상태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대화 기록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)'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데이터베이스나 메모리에 자동으로 저장하는 내장 기능이 필요함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68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2E7C5-3E23-B436-1692-8DC23B53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B1DA200-D1BD-8957-2555-D8648F8A36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8A8ABC0-11D4-26E7-7F87-9C9C8C7C1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58" y="2830209"/>
            <a:ext cx="7829867" cy="27486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F06435-15A3-2E50-2AD1-222D3ED224DD}"/>
              </a:ext>
            </a:extLst>
          </p:cNvPr>
          <p:cNvSpPr txBox="1"/>
          <p:nvPr/>
        </p:nvSpPr>
        <p:spPr>
          <a:xfrm>
            <a:off x="581025" y="1216252"/>
            <a:ext cx="11010900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You will learn how to build this essential memory system using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LangChain’s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built-in modules or LangGraph to make this development process easier.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14DCD-3337-C215-6C48-2B70848BD150}"/>
              </a:ext>
            </a:extLst>
          </p:cNvPr>
          <p:cNvSpPr txBox="1"/>
          <p:nvPr/>
        </p:nvSpPr>
        <p:spPr>
          <a:xfrm>
            <a:off x="3305175" y="3001115"/>
            <a:ext cx="6381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RAG </a:t>
            </a:r>
            <a:endParaRPr lang="ko-KR" altLang="en-US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09C2CF-33C2-219E-9BE1-3134E890DAD7}"/>
              </a:ext>
            </a:extLst>
          </p:cNvPr>
          <p:cNvSpPr txBox="1"/>
          <p:nvPr/>
        </p:nvSpPr>
        <p:spPr>
          <a:xfrm>
            <a:off x="4676775" y="2320868"/>
            <a:ext cx="4905375" cy="465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LLMs(Large language models) are stateless.</a:t>
            </a: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7405FC8C-396E-2835-6D8E-C606AD06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4</a:t>
            </a:fld>
            <a:endParaRPr lang="en-US" b="1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662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5245-9EDB-46A3-1F2A-4501E08E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8DB553A-0412-FD51-E0DB-FBD53447FA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Introducing LangGraph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492467-A6D9-B1D6-2B60-1DB5E190B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5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461AE-E07B-9517-A770-DFCD398CBBF9}"/>
              </a:ext>
            </a:extLst>
          </p:cNvPr>
          <p:cNvSpPr txBox="1"/>
          <p:nvPr/>
        </p:nvSpPr>
        <p:spPr>
          <a:xfrm>
            <a:off x="485170" y="1248422"/>
            <a:ext cx="11040080" cy="4671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말을 그럴싸하게 지어내고 계획을 짜는 데는 천재적이지만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어제 일어난 일이나 아주 구체적인 최신 팩트를 정확히 알지는 못함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기억력과 최신 정보의 한계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방금 동면에서 깨어난 끝 말 이어가기 끝판 왕 아인슈타인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애플리케이션도 여러 도구와 컴포넌트를 조합할 때 강력해지는 시너지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(Pairing up):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LLM +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검색 엔진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(Tool Augmentation / RAG)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모르면 구글이나 검색 엔진에서 먼저 검색해 보고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 결과를 토대로 답변해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!"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라고 지시하는 구조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(Perplexity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Arc Search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같은 혁신적인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서비스의 기반 기술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LLM +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또 다른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/>
              <a:t>Multi-Agent / Role Prompting)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하나의 거대한 프롬프트로 모든 걸 해결하는 게 아니라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기획 담당 프롬프트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코드 작성 담당 프롬프트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검토 담당 프롬프트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따로 두어 서로 대화하게 만드는 구조</a:t>
            </a:r>
          </a:p>
        </p:txBody>
      </p:sp>
    </p:spTree>
    <p:extLst>
      <p:ext uri="{BB962C8B-B14F-4D97-AF65-F5344CB8AC3E}">
        <p14:creationId xmlns:p14="http://schemas.microsoft.com/office/powerpoint/2010/main" val="143265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9B754-A86B-9302-40E1-DBA877F9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EC01257-AA33-E3AA-DCE4-263DA74B508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Introducing LangGraph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2FC2FD2-9578-245A-F33A-E71F1E38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6</a:t>
            </a:fld>
            <a:endParaRPr lang="en-US" b="1" dirty="0">
              <a:latin typeface="Tw Cen MT" panose="020B06020201040206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9B1D79-ACE7-23CA-D1DA-9F5989571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333" y="2899357"/>
            <a:ext cx="7315834" cy="3467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설명선: 굽은 선 7">
            <a:extLst>
              <a:ext uri="{FF2B5EF4-FFF2-40B4-BE49-F238E27FC236}">
                <a16:creationId xmlns:a16="http://schemas.microsoft.com/office/drawing/2014/main" id="{57A56424-C86F-FBDF-686F-0639D22A238A}"/>
              </a:ext>
            </a:extLst>
          </p:cNvPr>
          <p:cNvSpPr/>
          <p:nvPr/>
        </p:nvSpPr>
        <p:spPr>
          <a:xfrm>
            <a:off x="3767137" y="1626538"/>
            <a:ext cx="3324225" cy="72784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4106"/>
              <a:gd name="adj6" fmla="val -9418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 하나만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받아서 자체 지식으로 답변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(Output)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바로 생성</a:t>
            </a:r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E6DD066C-CFAC-3900-11C5-6842997F9441}"/>
              </a:ext>
            </a:extLst>
          </p:cNvPr>
          <p:cNvSpPr/>
          <p:nvPr/>
        </p:nvSpPr>
        <p:spPr>
          <a:xfrm>
            <a:off x="8048625" y="2207563"/>
            <a:ext cx="3414178" cy="101188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6852"/>
              <a:gd name="adj6" fmla="val -55036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 혼자 처리하지 않고, 검색 도구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　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Searcher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)라는 별도의 주체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　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Actor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/Tool)와 양방향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　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(LLM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：　</a:t>
            </a:r>
            <a:r>
              <a:rPr lang="ko-KR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Searcher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통신하며 협업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9273B3B-7926-13A0-62A0-7F4E00C14596}"/>
              </a:ext>
            </a:extLst>
          </p:cNvPr>
          <p:cNvCxnSpPr>
            <a:cxnSpLocks/>
          </p:cNvCxnSpPr>
          <p:nvPr/>
        </p:nvCxnSpPr>
        <p:spPr>
          <a:xfrm>
            <a:off x="4724400" y="2971800"/>
            <a:ext cx="0" cy="3067050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307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7D0D-E537-D054-4CF2-97F0C29A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72CC994-18B6-521F-52E2-665A08915A9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Agentic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Loop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44CB52A-C5B1-A81D-CD6B-59C30B46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7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868BD3-CCA5-2A92-9A49-7485B6219595}"/>
              </a:ext>
            </a:extLst>
          </p:cNvPr>
          <p:cNvSpPr txBox="1"/>
          <p:nvPr/>
        </p:nvSpPr>
        <p:spPr>
          <a:xfrm>
            <a:off x="6343650" y="2800350"/>
            <a:ext cx="5343525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단순한 LLM 모델 하나만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프롬프트(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ChatPromptTemplate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)를 결합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+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과거를 기억하도록 메모리(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ChatMessageHistory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빌딩 블록을 조합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+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엔진(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Engine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or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외부도구(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등과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레고 블록처럼 조합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1A8002C-5EA4-7CCF-E2E9-8E34B1A4B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9" y="2795348"/>
            <a:ext cx="5115242" cy="358066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F254F8C-E208-60F8-950F-45C20F49BAB5}"/>
              </a:ext>
            </a:extLst>
          </p:cNvPr>
          <p:cNvCxnSpPr/>
          <p:nvPr/>
        </p:nvCxnSpPr>
        <p:spPr>
          <a:xfrm>
            <a:off x="10382250" y="3048000"/>
            <a:ext cx="0" cy="4762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0E21899-A113-5DC8-7CF3-4C12C3A58489}"/>
              </a:ext>
            </a:extLst>
          </p:cNvPr>
          <p:cNvCxnSpPr/>
          <p:nvPr/>
        </p:nvCxnSpPr>
        <p:spPr>
          <a:xfrm>
            <a:off x="10382250" y="4000500"/>
            <a:ext cx="0" cy="4762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A384A1A-AB2D-ABA9-57D0-CD51914F64E0}"/>
              </a:ext>
            </a:extLst>
          </p:cNvPr>
          <p:cNvCxnSpPr/>
          <p:nvPr/>
        </p:nvCxnSpPr>
        <p:spPr>
          <a:xfrm>
            <a:off x="10382250" y="4857750"/>
            <a:ext cx="0" cy="4762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A12C1CA-7187-5AA3-3601-73ABA298D583}"/>
              </a:ext>
            </a:extLst>
          </p:cNvPr>
          <p:cNvSpPr txBox="1"/>
          <p:nvPr/>
        </p:nvSpPr>
        <p:spPr>
          <a:xfrm>
            <a:off x="590232" y="1210576"/>
            <a:ext cx="11268393" cy="1350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prompt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LLM(1): 질문 분석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스스로 답변할 수 없다고 판단하여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Searcher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(1)에 필요한 키워드로 검색 요청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Searcher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(1): 외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부에서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정보를 찾아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LLM에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전달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LLM(2): 전달받은 1차 검색 결과 "이 정보만으로는 부족하니 한 번 더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검색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판단하여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Searcher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(2)를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재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호출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Searcher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(2): 추가 정보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검색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다시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LLM에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제공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LLM(3): 수집된 전체 정보를 정리하여 최종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최종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답변을 생성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사용자에게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Output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반환 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3285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D801A-FA79-05CB-059E-E9FE20301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06EDCC2-73C9-0A6F-7727-A8B261B56FE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Introducing LangGraph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ED80E82-023F-F9E2-4855-68F9F9F85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8</a:t>
            </a:fld>
            <a:endParaRPr lang="en-US" b="1" dirty="0">
              <a:latin typeface="Tw Cen MT" panose="020B06020201040206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AFBE33-705B-45A2-DDCA-992130DBD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199" y="1565135"/>
            <a:ext cx="6934200" cy="49156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05E190-A5FA-C46D-C46A-D17A25D12493}"/>
              </a:ext>
            </a:extLst>
          </p:cNvPr>
          <p:cNvSpPr txBox="1"/>
          <p:nvPr/>
        </p:nvSpPr>
        <p:spPr>
          <a:xfrm>
            <a:off x="475644" y="1510676"/>
            <a:ext cx="4172555" cy="4260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LangGraph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이나 검색 엔진이 주인공이 아니라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모든 데이터를 중앙에서 관리하고 통제하는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State(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진정한 주인공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Stateful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대화의 모든 순간과 중간 데이터를 하나의 완벽한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상태 지도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(State)’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유지하여 실시간으로 추적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저장하고 제어하는 강력한 아키텍처를 의미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State, Nodes, Edges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구성된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Architecture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3960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E85E-6E21-7BD3-A1E0-46DA62D8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80E9FE8-D74A-C448-795A-40DB2A86AF0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Creating a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StateGraph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838031E-1D73-E072-2C78-7C4CDEFF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9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00465C-2F5B-2309-41EB-78D6B265D824}"/>
              </a:ext>
            </a:extLst>
          </p:cNvPr>
          <p:cNvSpPr txBox="1"/>
          <p:nvPr/>
        </p:nvSpPr>
        <p:spPr>
          <a:xfrm>
            <a:off x="560302" y="1390650"/>
            <a:ext cx="50064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LangGraph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가이드북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-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에이전트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RAG with 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랭그래프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953D6-D2F1-5736-331C-E81893260F6C}"/>
              </a:ext>
            </a:extLst>
          </p:cNvPr>
          <p:cNvSpPr txBox="1"/>
          <p:nvPr/>
        </p:nvSpPr>
        <p:spPr>
          <a:xfrm>
            <a:off x="560302" y="1729204"/>
            <a:ext cx="11071396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LangGraph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대규모 언어 모델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(LLM)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기반으로 복잡한 워크플로우와 의사결정 프로세스를 구현하는 데 특화된 도구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4FAFD-4B46-AE6C-62EA-2FA2A3592270}"/>
              </a:ext>
            </a:extLst>
          </p:cNvPr>
          <p:cNvSpPr txBox="1"/>
          <p:nvPr/>
        </p:nvSpPr>
        <p:spPr>
          <a:xfrm>
            <a:off x="643398" y="2354445"/>
            <a:ext cx="10988300" cy="181588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typing import Annotated,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TypedDict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langgraph.graph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StateGraph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START, END,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600" dirty="0"/>
              <a:t>1. State </a:t>
            </a:r>
            <a:r>
              <a:rPr lang="ko-KR" altLang="en-US" sz="1600" dirty="0"/>
              <a:t>정의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State(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TypedDict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리듀서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)가 작동하므로, 기존 리스트를 덮어쓰지 않고 뒤에 추가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Annotated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E6A4EC-C9FB-C71A-13DD-14D4D2670BF8}"/>
              </a:ext>
            </a:extLst>
          </p:cNvPr>
          <p:cNvSpPr txBox="1"/>
          <p:nvPr/>
        </p:nvSpPr>
        <p:spPr>
          <a:xfrm>
            <a:off x="569827" y="4649733"/>
            <a:ext cx="9048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i="1" dirty="0">
                <a:latin typeface="D2Coding" panose="020B0609020101020101" pitchFamily="49" charset="-127"/>
                <a:ea typeface="D2Coding" panose="020B0609020101020101" pitchFamily="49" charset="-127"/>
              </a:rPr>
              <a:t>State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75FD4D-01B2-F18C-E1EF-B29C00351EA2}"/>
              </a:ext>
            </a:extLst>
          </p:cNvPr>
          <p:cNvSpPr txBox="1"/>
          <p:nvPr/>
        </p:nvSpPr>
        <p:spPr>
          <a:xfrm>
            <a:off x="1810222" y="4739271"/>
            <a:ext cx="8781577" cy="13519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메모장 이름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State class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메모장 안의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messages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 칸의 관리 규칙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(messages)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들어왔을 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기존 기록을 덮어쓰지 않고 차곡차곡 누적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(Append)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해 주는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리듀서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(Reducer)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함수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5C9D4B4-B49F-6E3D-2BB3-7727FDD28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098" y="4649733"/>
            <a:ext cx="519125" cy="5450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80339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3972E-AFEB-3B32-7A97-F0DD8682E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DA8EDE0-3973-73FC-B13E-8E9199C28DB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Creating a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StateGraph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DF47B77-8D9A-E003-BBDA-FE41B70A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10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FC8D80-9003-7A3D-AC44-C89FD16EAC36}"/>
              </a:ext>
            </a:extLst>
          </p:cNvPr>
          <p:cNvSpPr txBox="1"/>
          <p:nvPr/>
        </p:nvSpPr>
        <p:spPr>
          <a:xfrm>
            <a:off x="609599" y="1233231"/>
            <a:ext cx="10991851" cy="526297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400" dirty="0"/>
              <a:t>1. State </a:t>
            </a:r>
            <a:r>
              <a:rPr lang="ko-KR" altLang="en-US" sz="1400" dirty="0"/>
              <a:t>정의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TypedDict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Annotated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리듀서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그래프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빌더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StateGraph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ChatGroq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model_name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="llama-3.1-8b-instant",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temperature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=0)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노드 함수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1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chatbot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State):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Node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상태(State) 메모장에 누적된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꺼내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전달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answer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model.invoke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"])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{"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": [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answer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]}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노드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엣지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연결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add_node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chatbot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ko-KR" altLang="en-US" sz="1400" b="1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chatbot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add_edge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(START, 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chatbot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add_edge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chatbot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END)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5.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컴파일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app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compile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{"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": [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!")]}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chunk in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app.stream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input_data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print(chunk)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AD7E75C-9C54-2DBE-5F37-1B3C5ACBD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774" y="3031953"/>
            <a:ext cx="1400501" cy="212263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25D64EC-B539-49B7-A71A-C97E5FABDF00}"/>
              </a:ext>
            </a:extLst>
          </p:cNvPr>
          <p:cNvSpPr txBox="1"/>
          <p:nvPr/>
        </p:nvSpPr>
        <p:spPr>
          <a:xfrm>
            <a:off x="9021547" y="5242082"/>
            <a:ext cx="24829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Single turn chatbot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4F4987-16CF-9857-FBDF-53CFF912B92D}"/>
              </a:ext>
            </a:extLst>
          </p:cNvPr>
          <p:cNvSpPr txBox="1"/>
          <p:nvPr/>
        </p:nvSpPr>
        <p:spPr>
          <a:xfrm>
            <a:off x="6467475" y="3852249"/>
            <a:ext cx="29969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i="1" dirty="0">
                <a:latin typeface="D2Coding" panose="020B0609020101020101" pitchFamily="49" charset="-127"/>
                <a:ea typeface="D2Coding" panose="020B0609020101020101" pitchFamily="49" charset="-127"/>
              </a:rPr>
              <a:t>Node = chatbot(state: State)</a:t>
            </a:r>
            <a:endParaRPr lang="ko-KR" altLang="en-US" sz="1600" b="1" i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7FD638-5BBA-56E0-6F96-AEE813CC1713}"/>
              </a:ext>
            </a:extLst>
          </p:cNvPr>
          <p:cNvSpPr/>
          <p:nvPr/>
        </p:nvSpPr>
        <p:spPr>
          <a:xfrm>
            <a:off x="389920" y="4190803"/>
            <a:ext cx="3801080" cy="1051279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F12B43-BB66-5D42-1DA3-7F9E5D28D5DF}"/>
              </a:ext>
            </a:extLst>
          </p:cNvPr>
          <p:cNvSpPr/>
          <p:nvPr/>
        </p:nvSpPr>
        <p:spPr>
          <a:xfrm>
            <a:off x="6461942" y="2903360"/>
            <a:ext cx="4910907" cy="2721409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8B864F46-DD58-EDD8-F43E-F1E60263F938}"/>
              </a:ext>
            </a:extLst>
          </p:cNvPr>
          <p:cNvCxnSpPr>
            <a:endCxn id="5" idx="1"/>
          </p:cNvCxnSpPr>
          <p:nvPr/>
        </p:nvCxnSpPr>
        <p:spPr>
          <a:xfrm flipV="1">
            <a:off x="4276725" y="4264065"/>
            <a:ext cx="2185217" cy="393660"/>
          </a:xfrm>
          <a:prstGeom prst="bentConnector3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EA670A-0E13-C261-DA06-C297D3E0BF51}"/>
              </a:ext>
            </a:extLst>
          </p:cNvPr>
          <p:cNvSpPr/>
          <p:nvPr/>
        </p:nvSpPr>
        <p:spPr>
          <a:xfrm>
            <a:off x="389920" y="2329542"/>
            <a:ext cx="3801080" cy="232683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9F48886-19D4-92E9-43B0-BB366B0076B9}"/>
              </a:ext>
            </a:extLst>
          </p:cNvPr>
          <p:cNvSpPr/>
          <p:nvPr/>
        </p:nvSpPr>
        <p:spPr>
          <a:xfrm>
            <a:off x="389920" y="5520121"/>
            <a:ext cx="3801080" cy="232683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2805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3A1AC-D16A-B3C1-BB8A-75F2300F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52629CE-8485-34E9-CC59-EF91857AE6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Adding Memory to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StateGraph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5DB68DE-1970-16AA-79B0-4BD6F149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11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EA6403-6544-EA69-0B9D-54426068E463}"/>
              </a:ext>
            </a:extLst>
          </p:cNvPr>
          <p:cNvSpPr txBox="1"/>
          <p:nvPr/>
        </p:nvSpPr>
        <p:spPr>
          <a:xfrm>
            <a:off x="566435" y="1335804"/>
            <a:ext cx="11059130" cy="4117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체크포인터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Checkpointer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하드디스크: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규칙을 통해 State 메모장에 대화를 적었지만 프로그램이 꺼지면 메모장도 날아가 버림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체크포인터는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 메모장 내용을 데이터베이스(DB)에 안전하게 저장해 두는 저장소 어댑터 역할을 하게 되어 사용자가 나중에 다시 접속해도 이전 대화를 기억할 수 있음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(memory persistence)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용도에 맞는 3가지 어댑터 지원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인메모리: 컴퓨터 램(RAM)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임시로 저장하는 방식 (테스트용, 끄면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지워짐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SQLite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내 컴퓨터 파일로 저장하는 방식 (가벼운 로컬 앱 개발용)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Postgres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실제 서비스 운영 환경에서 대용량 데이터를 안전하게 저장하는 방식 (실전 서버용)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7925BB-0F2A-5B8F-07BA-D51F9C36A4AD}"/>
              </a:ext>
            </a:extLst>
          </p:cNvPr>
          <p:cNvSpPr txBox="1"/>
          <p:nvPr/>
        </p:nvSpPr>
        <p:spPr>
          <a:xfrm>
            <a:off x="1438274" y="3046301"/>
            <a:ext cx="7153275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MemorySaver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= DB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입출력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상태 복원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작업 자동화 모듈 </a:t>
            </a:r>
          </a:p>
        </p:txBody>
      </p:sp>
    </p:spTree>
    <p:extLst>
      <p:ext uri="{BB962C8B-B14F-4D97-AF65-F5344CB8AC3E}">
        <p14:creationId xmlns:p14="http://schemas.microsoft.com/office/powerpoint/2010/main" val="2628688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339C-63D5-5C9A-DA7D-C243CCFA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7EC7FCA-1B7E-BF58-4609-E5189C079C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Building a Chatbot Memory System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D4A994B-D9B7-2E2B-44F4-20BBC4A5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12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0156A-1FCF-546E-E022-8E99A383F2A5}"/>
              </a:ext>
            </a:extLst>
          </p:cNvPr>
          <p:cNvSpPr txBox="1"/>
          <p:nvPr/>
        </p:nvSpPr>
        <p:spPr>
          <a:xfrm>
            <a:off x="609599" y="1328481"/>
            <a:ext cx="10991851" cy="427809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langgraph.checkpoint.memory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MemorySaver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Add persistence with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MemorySaver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graph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workflow.compile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checkpointer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MemorySaver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Configure thread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thread1 = {“configurable”: {“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thread_id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”: “1”}}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Run with persistence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result_1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graph.invoke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({“messages”: [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(“hi, my name is Jack!”)]}, thread1)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print(result_1)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result_2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graph.invoke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({"messages": [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("what is my name?")]}, thread1)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print(result_2)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Get state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graph.get_state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(thread1))</a:t>
            </a:r>
          </a:p>
        </p:txBody>
      </p:sp>
    </p:spTree>
    <p:extLst>
      <p:ext uri="{BB962C8B-B14F-4D97-AF65-F5344CB8AC3E}">
        <p14:creationId xmlns:p14="http://schemas.microsoft.com/office/powerpoint/2010/main" val="599100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AC1F1-D9AC-E509-4C22-685FFC907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E29F78E-7939-F985-397A-7E680D57DE0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Modifying Chat History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0E5E7E9-8102-58B0-8A11-A20AC37F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13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A7F0C-275A-C36F-233E-35E09A048EAA}"/>
              </a:ext>
            </a:extLst>
          </p:cNvPr>
          <p:cNvSpPr txBox="1"/>
          <p:nvPr/>
        </p:nvSpPr>
        <p:spPr>
          <a:xfrm>
            <a:off x="1685925" y="4519130"/>
            <a:ext cx="9848850" cy="15010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Trimming Messages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컨텍스트 한도를 넘지 않게 최신 메시지 위주로 자르기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Filtering Messages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필요한 메시지 타입(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등)만 쏙 뼈대만 추리기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Merging Consecutive Messages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연속으로 들어온 같은 타입의 메시지를 하나로 깔끔하게 뭉치기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62D85-C69D-209A-CCCD-2E71B9E4ADA6}"/>
              </a:ext>
            </a:extLst>
          </p:cNvPr>
          <p:cNvSpPr txBox="1"/>
          <p:nvPr/>
        </p:nvSpPr>
        <p:spPr>
          <a:xfrm>
            <a:off x="647700" y="1546007"/>
            <a:ext cx="10896600" cy="19011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프롬프트로 받을 수 있는 토큰의 최대 개수가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제한된 컨텍스트 윈도우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(context window)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때문에 모델에 전달되는 최종 프롬프트는 해당 한계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각 모델마다 다름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초과해서는 안 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이를 해결하기 위해 메시지 잘라내기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(Trim Messages),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 요약하기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(Summarize Messages), RAG/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저장소를 활용하여 관련 있는 정보만 추출하는 방법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70D04455-5313-141E-9D59-5BE9F8D88F2E}"/>
              </a:ext>
            </a:extLst>
          </p:cNvPr>
          <p:cNvCxnSpPr>
            <a:cxnSpLocks/>
            <a:stCxn id="6" idx="1"/>
            <a:endCxn id="4" idx="1"/>
          </p:cNvCxnSpPr>
          <p:nvPr/>
        </p:nvCxnSpPr>
        <p:spPr>
          <a:xfrm rot="10800000" flipH="1" flipV="1">
            <a:off x="647699" y="2496588"/>
            <a:ext cx="1038225" cy="2773068"/>
          </a:xfrm>
          <a:prstGeom prst="bentConnector3">
            <a:avLst>
              <a:gd name="adj1" fmla="val -2201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077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FAAE-921F-7301-A437-D4BF52A64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DD854D0-4E9B-9B75-66A0-574DEBCECFF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Summary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16CAF76-5658-8BB6-B292-3D42C18BD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14</a:t>
            </a:fld>
            <a:endParaRPr lang="en-US" b="1" dirty="0">
              <a:latin typeface="Tw Cen MT" panose="020B06020201040206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BF1ED-D821-DCF6-C3B7-5C1C0CB72A20}"/>
              </a:ext>
            </a:extLst>
          </p:cNvPr>
          <p:cNvSpPr txBox="1"/>
          <p:nvPr/>
        </p:nvSpPr>
        <p:spPr>
          <a:xfrm>
            <a:off x="700086" y="2279720"/>
            <a:ext cx="11091863" cy="3009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State &amp; 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Node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chatbot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그래프의 일꾼인 노드(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)와 메모장인 State, 그리고 메모가 쌓이게 돕는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add_messages의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개념 이해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지속성 및 스레드 (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MemorySaver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thread_id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DB연결을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자동화하는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체크포인터와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사용자별 대화방을 독립적으로 격리해 주는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thread_id의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역할을 이해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메모리 최적화 기법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trim_messages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f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ilter_messages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merge_message_runs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363A0-74EA-1D39-0768-C82525B58C01}"/>
              </a:ext>
            </a:extLst>
          </p:cNvPr>
          <p:cNvSpPr txBox="1"/>
          <p:nvPr/>
        </p:nvSpPr>
        <p:spPr>
          <a:xfrm>
            <a:off x="581024" y="1334185"/>
            <a:ext cx="10982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텍스트로 대화만 주고받는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수동적인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단계를 이해하고 실습 완료</a:t>
            </a:r>
          </a:p>
        </p:txBody>
      </p:sp>
    </p:spTree>
    <p:extLst>
      <p:ext uri="{BB962C8B-B14F-4D97-AF65-F5344CB8AC3E}">
        <p14:creationId xmlns:p14="http://schemas.microsoft.com/office/powerpoint/2010/main" val="806590529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15907</TotalTime>
  <Words>1323</Words>
  <Application>Microsoft Office PowerPoint</Application>
  <PresentationFormat>와이드스크린</PresentationFormat>
  <Paragraphs>157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D2Coding</vt:lpstr>
      <vt:lpstr>맑은 고딕</vt:lpstr>
      <vt:lpstr>바탕</vt:lpstr>
      <vt:lpstr>Arial</vt:lpstr>
      <vt:lpstr>Tw Cen MT</vt:lpstr>
      <vt:lpstr>Wingdings</vt:lpstr>
      <vt:lpstr>WelcomeDoc</vt:lpstr>
      <vt:lpstr>CHAPTER 4 Using LangGraph to Add Memory to Your Chatbot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224</cp:revision>
  <dcterms:created xsi:type="dcterms:W3CDTF">2026-04-06T01:00:39Z</dcterms:created>
  <dcterms:modified xsi:type="dcterms:W3CDTF">2026-10-02T14:36:42Z</dcterms:modified>
  <cp:version/>
</cp:coreProperties>
</file>