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24"/>
  </p:notesMasterIdLst>
  <p:handoutMasterIdLst>
    <p:handoutMasterId r:id="rId25"/>
  </p:handoutMasterIdLst>
  <p:sldIdLst>
    <p:sldId id="256" r:id="rId2"/>
    <p:sldId id="1138" r:id="rId3"/>
    <p:sldId id="1178" r:id="rId4"/>
    <p:sldId id="1179" r:id="rId5"/>
    <p:sldId id="1175" r:id="rId6"/>
    <p:sldId id="1174" r:id="rId7"/>
    <p:sldId id="1134" r:id="rId8"/>
    <p:sldId id="1136" r:id="rId9"/>
    <p:sldId id="1177" r:id="rId10"/>
    <p:sldId id="1176" r:id="rId11"/>
    <p:sldId id="1180" r:id="rId12"/>
    <p:sldId id="1161" r:id="rId13"/>
    <p:sldId id="1181" r:id="rId14"/>
    <p:sldId id="1182" r:id="rId15"/>
    <p:sldId id="1183" r:id="rId16"/>
    <p:sldId id="1184" r:id="rId17"/>
    <p:sldId id="1185" r:id="rId18"/>
    <p:sldId id="1186" r:id="rId19"/>
    <p:sldId id="1190" r:id="rId20"/>
    <p:sldId id="1187" r:id="rId21"/>
    <p:sldId id="1188" r:id="rId22"/>
    <p:sldId id="1189" r:id="rId23"/>
  </p:sldIdLst>
  <p:sldSz cx="12192000" cy="6858000"/>
  <p:notesSz cx="6858000" cy="9144000"/>
  <p:defaultTextStyle>
    <a:defPPr rtl="0">
      <a:defRPr lang="ko-K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감사합니다." id="{E75E278A-FF0E-49A4-B170-79828D63BBAD}">
          <p14:sldIdLst>
            <p14:sldId id="256"/>
          </p14:sldIdLst>
        </p14:section>
        <p14:section name="디자인, 모핑, 주석 달기, 공동 작업, 입력하세요" id="{B9B51309-D148-4332-87C2-07BE32FBCA3B}">
          <p14:sldIdLst>
            <p14:sldId id="1138"/>
            <p14:sldId id="1178"/>
            <p14:sldId id="1179"/>
            <p14:sldId id="1175"/>
            <p14:sldId id="1174"/>
            <p14:sldId id="1134"/>
            <p14:sldId id="1136"/>
            <p14:sldId id="1177"/>
            <p14:sldId id="1176"/>
            <p14:sldId id="1180"/>
            <p14:sldId id="1161"/>
            <p14:sldId id="1181"/>
            <p14:sldId id="1182"/>
            <p14:sldId id="1183"/>
            <p14:sldId id="1184"/>
            <p14:sldId id="1185"/>
            <p14:sldId id="1186"/>
            <p14:sldId id="1190"/>
            <p14:sldId id="1187"/>
            <p14:sldId id="1188"/>
            <p14:sldId id="1189"/>
          </p14:sldIdLst>
        </p14:section>
        <p14:section name="자세한 정보" id="{2CC34DB2-6590-42C0-AD4B-A04C6060184E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만든 이" initials="오전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6E3FF"/>
    <a:srgbClr val="D24726"/>
    <a:srgbClr val="FF9B45"/>
    <a:srgbClr val="DD462F"/>
    <a:srgbClr val="404040"/>
    <a:srgbClr val="F8CFB6"/>
    <a:srgbClr val="F8CAB6"/>
    <a:srgbClr val="923922"/>
    <a:srgbClr val="F5F5F5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13062" autoAdjust="0"/>
    <p:restoredTop sz="94297" autoAdjust="0"/>
  </p:normalViewPr>
  <p:slideViewPr>
    <p:cSldViewPr snapToGrid="0">
      <p:cViewPr varScale="1">
        <p:scale>
          <a:sx n="80" d="100"/>
          <a:sy n="80" d="100"/>
        </p:scale>
        <p:origin x="874" y="5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59582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75" d="100"/>
        <a:sy n="75" d="100"/>
      </p:scale>
      <p:origin x="0" y="0"/>
    </p:cViewPr>
  </p:sorterViewPr>
  <p:notesViewPr>
    <p:cSldViewPr snapToGrid="0">
      <p:cViewPr varScale="1">
        <p:scale>
          <a:sx n="104" d="100"/>
          <a:sy n="104" d="100"/>
        </p:scale>
        <p:origin x="4608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commentAuthors" Target="commentAuthor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424059DE-6CD5-4C59-8233-088CE5808E67}" type="datetime1">
              <a:rPr lang="ko-KR" altLang="en-US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2026-10-15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9C679768-A2FC-4D08-91F6-8DCE6C566B36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‹#›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3025516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noProof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43E1C3DD-4A19-441D-907C-380838DB51C4}" type="datetime1">
              <a:rPr lang="ko-KR" altLang="en-US" noProof="0" smtClean="0"/>
              <a:t>2026-10-15</a:t>
            </a:fld>
            <a:endParaRPr lang="ko-KR" altLang="en-US" noProof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ko-KR" altLang="en-US" noProof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ko-KR" altLang="en-US" noProof="0" dirty="0"/>
              <a:t>마스터 텍스트 스타일을 편집하려면 클릭하세요</a:t>
            </a:r>
            <a:r>
              <a:rPr lang="en-US" altLang="ko-KR" noProof="0" dirty="0"/>
              <a:t>.</a:t>
            </a:r>
          </a:p>
          <a:p>
            <a:pPr lvl="1" rtl="0"/>
            <a:r>
              <a:rPr lang="ko-KR" altLang="en-US" noProof="0" dirty="0"/>
              <a:t>둘째 수준</a:t>
            </a:r>
          </a:p>
          <a:p>
            <a:pPr lvl="2" rtl="0"/>
            <a:r>
              <a:rPr lang="ko-KR" altLang="en-US" noProof="0" dirty="0"/>
              <a:t>셋째 수준</a:t>
            </a:r>
          </a:p>
          <a:p>
            <a:pPr lvl="3" rtl="0"/>
            <a:r>
              <a:rPr lang="ko-KR" altLang="en-US" noProof="0" dirty="0"/>
              <a:t>넷째 수준</a:t>
            </a:r>
          </a:p>
          <a:p>
            <a:pPr lvl="4" rtl="0"/>
            <a:r>
              <a:rPr lang="ko-KR" altLang="en-US" noProof="0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noProof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DF61EA0F-A667-4B49-8422-0062BC55E249}" type="slidenum">
              <a:rPr lang="en-US" altLang="ko-KR" noProof="0" smtClean="0"/>
              <a:pPr/>
              <a:t>‹#›</a:t>
            </a:fld>
            <a:endParaRPr lang="ko-KR" altLang="en-US" noProof="0"/>
          </a:p>
        </p:txBody>
      </p:sp>
    </p:spTree>
    <p:extLst>
      <p:ext uri="{BB962C8B-B14F-4D97-AF65-F5344CB8AC3E}">
        <p14:creationId xmlns:p14="http://schemas.microsoft.com/office/powerpoint/2010/main" val="338191029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11769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2C0C4D-8E9A-FAED-7CFB-A2BE5DC9FE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81080FD-F89C-5809-FE07-F91E0E96C3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E6D1F87-70DC-AE68-F626-366CBA364E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14C7F0D-A827-6C65-5FBB-687C2302AEA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74396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A04285-A33B-A36F-0082-9FF5329D3D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DB6BFC8-6BA6-F707-1E37-58EBC01E6A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593A03B-D60C-E412-404C-8DF1EDAEDD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7A52AE6-1882-8C43-4724-70B3D93930F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12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2514344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3BF583-97C7-712D-4F67-7E2BA6AE15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6526F85-967D-F049-A515-628979BE60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BC3D518-4B24-26D8-056D-50C89E08DF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D820FDB-F143-B61A-2468-FCD3C20F2D8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18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146944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284487-DBD0-9C5C-3C0F-38C023D7C4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8CCDB84-2593-2717-186B-F13A3D2712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8C5ECA1-28F6-9A6D-50BC-7BF3C68211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B34BA6D-3ED2-472D-12D0-2CA5CCC8C1C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21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6179365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0768CE-886B-D4E2-0AF5-E701276013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E42D8DE-D214-D6D3-A763-47799AD2C0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AC8FE79-3982-3262-57FD-AB38DA4BC1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24B68D8-3EB9-F51B-F145-D8E9F5052B7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22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578604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 userDrawn="1"/>
        </p:nvSpPr>
        <p:spPr bwMode="blackWhite">
          <a:xfrm>
            <a:off x="254950" y="262784"/>
            <a:ext cx="11682101" cy="633243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17185494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12" name="직선 연결선(S) 11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제목 3"/>
          <p:cNvSpPr>
            <a:spLocks noGrp="1"/>
          </p:cNvSpPr>
          <p:nvPr>
            <p:ph type="title"/>
          </p:nvPr>
        </p:nvSpPr>
        <p:spPr>
          <a:xfrm>
            <a:off x="521207" y="448056"/>
            <a:ext cx="6877119" cy="640080"/>
          </a:xfrm>
        </p:spPr>
        <p:txBody>
          <a:bodyPr rtlCol="0" anchor="b" anchorCtr="0">
            <a:normAutofit/>
          </a:bodyPr>
          <a:lstStyle>
            <a:lvl1pPr>
              <a:defRPr sz="280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quarter" idx="10" hasCustomPrompt="1"/>
          </p:nvPr>
        </p:nvSpPr>
        <p:spPr>
          <a:xfrm>
            <a:off x="539496" y="1435608"/>
            <a:ext cx="44165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 lang="en-US" sz="12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marL="0" lvl="0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  <a:p>
            <a:pPr marL="0" lvl="1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둘째 수준</a:t>
            </a:r>
          </a:p>
          <a:p>
            <a:pPr marL="0" lvl="2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셋째 수준</a:t>
            </a:r>
          </a:p>
          <a:p>
            <a:pPr marL="0" lvl="3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넷째 수준</a:t>
            </a:r>
          </a:p>
          <a:p>
            <a:pPr marL="0" lvl="4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다섯째 수준</a:t>
            </a:r>
          </a:p>
        </p:txBody>
      </p:sp>
      <p:sp>
        <p:nvSpPr>
          <p:cNvPr id="6" name="날짜 개체 틀 3"/>
          <p:cNvSpPr>
            <a:spLocks noGrp="1"/>
          </p:cNvSpPr>
          <p:nvPr>
            <p:ph type="dt" sz="half" idx="2"/>
          </p:nvPr>
        </p:nvSpPr>
        <p:spPr>
          <a:xfrm>
            <a:off x="53949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990475B5-67CA-4281-BDCA-DA943C3C8EB3}" type="datetime1">
              <a:rPr lang="ko-KR" altLang="en-US" noProof="0" smtClean="0"/>
              <a:t>2026-10-15</a:t>
            </a:fld>
            <a:endParaRPr lang="ko-KR" altLang="en-US" noProof="0"/>
          </a:p>
        </p:txBody>
      </p:sp>
      <p:sp>
        <p:nvSpPr>
          <p:cNvPr id="7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648200" y="62039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noProof="0"/>
          </a:p>
        </p:txBody>
      </p:sp>
      <p:sp>
        <p:nvSpPr>
          <p:cNvPr id="8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37192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9860EDB8-5305-433F-BE41-D7A86D811DB3}" type="slidenum">
              <a:rPr lang="en-US" altLang="ko-KR" noProof="0" smtClean="0"/>
              <a:pPr/>
              <a:t>‹#›</a:t>
            </a:fld>
            <a:endParaRPr lang="ko-KR" altLang="en-US" noProof="0"/>
          </a:p>
        </p:txBody>
      </p:sp>
    </p:spTree>
    <p:extLst>
      <p:ext uri="{BB962C8B-B14F-4D97-AF65-F5344CB8AC3E}">
        <p14:creationId xmlns:p14="http://schemas.microsoft.com/office/powerpoint/2010/main" val="21858365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 userDrawn="1"/>
        </p:nvSpPr>
        <p:spPr>
          <a:xfrm>
            <a:off x="254951" y="262784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직사각형 9"/>
          <p:cNvSpPr/>
          <p:nvPr userDrawn="1"/>
        </p:nvSpPr>
        <p:spPr bwMode="blackWhite">
          <a:xfrm>
            <a:off x="254950" y="262784"/>
            <a:ext cx="11682101" cy="207264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21208" y="1536192"/>
            <a:ext cx="6876288" cy="640080"/>
          </a:xfrm>
        </p:spPr>
        <p:txBody>
          <a:bodyPr rtlCol="0">
            <a:normAutofit/>
          </a:bodyPr>
          <a:lstStyle>
            <a:lvl1pPr>
              <a:defRPr sz="36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</a:p>
        </p:txBody>
      </p:sp>
      <p:sp>
        <p:nvSpPr>
          <p:cNvPr id="7" name="내용 개체 틀 6"/>
          <p:cNvSpPr>
            <a:spLocks noGrp="1"/>
          </p:cNvSpPr>
          <p:nvPr>
            <p:ph sz="quarter" idx="13" hasCustomPrompt="1"/>
          </p:nvPr>
        </p:nvSpPr>
        <p:spPr>
          <a:xfrm>
            <a:off x="539496" y="2560320"/>
            <a:ext cx="94457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24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marL="0" lvl="0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  <a:p>
            <a:pPr marL="0" lvl="1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둘째 수준</a:t>
            </a:r>
          </a:p>
          <a:p>
            <a:pPr marL="0" lvl="2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셋째 수준</a:t>
            </a:r>
          </a:p>
          <a:p>
            <a:pPr marL="0" lvl="3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넷째 수준</a:t>
            </a:r>
          </a:p>
          <a:p>
            <a:pPr marL="0" lvl="4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13356555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2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913795" y="139083"/>
            <a:ext cx="10353762" cy="766439"/>
          </a:xfrm>
        </p:spPr>
        <p:txBody>
          <a:bodyPr rtlCol="0">
            <a:normAutofit/>
          </a:bodyPr>
          <a:lstStyle>
            <a:lvl1pPr>
              <a:defRPr sz="3200">
                <a:latin typeface="Batang" panose="02030600000101010101" pitchFamily="18" charset="-127"/>
                <a:ea typeface="Batang" panose="02030600000101010101" pitchFamily="18" charset="-127"/>
              </a:defRPr>
            </a:lvl1pPr>
          </a:lstStyle>
          <a:p>
            <a:pPr rtl="0"/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913795" y="1127464"/>
            <a:ext cx="10353762" cy="4663735"/>
          </a:xfrm>
        </p:spPr>
        <p:txBody>
          <a:bodyPr rtlCol="0"/>
          <a:lstStyle>
            <a:lvl1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1pPr>
            <a:lvl2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2pPr>
            <a:lvl3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3pPr>
            <a:lvl4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4pPr>
            <a:lvl5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5pPr>
          </a:lstStyle>
          <a:p>
            <a:pPr lvl="0" rtl="0"/>
            <a:r>
              <a:rPr lang="ko-KR" altLang="en-US" dirty="0"/>
              <a:t>마스터 텍스트 스타일을 편집하려면 클릭</a:t>
            </a:r>
          </a:p>
          <a:p>
            <a:pPr lvl="1" rtl="0"/>
            <a:r>
              <a:rPr lang="ko-KR" altLang="en-US" dirty="0"/>
              <a:t>두 번째 수준</a:t>
            </a:r>
          </a:p>
          <a:p>
            <a:pPr lvl="2" rtl="0"/>
            <a:r>
              <a:rPr lang="ko-KR" altLang="en-US" dirty="0"/>
              <a:t>세 번째 수준</a:t>
            </a:r>
          </a:p>
          <a:p>
            <a:pPr lvl="3" rtl="0"/>
            <a:r>
              <a:rPr lang="ko-KR" altLang="en-US" dirty="0"/>
              <a:t>네 번째 수준</a:t>
            </a:r>
          </a:p>
          <a:p>
            <a:pPr lvl="4" rtl="0"/>
            <a:r>
              <a:rPr lang="ko-KR" altLang="en-US" dirty="0"/>
              <a:t>다섯 번째 수준</a:t>
            </a:r>
            <a:endParaRPr lang="en-US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B4745536-17E2-EEF7-D107-B4146DE2141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5924" y="6365874"/>
            <a:ext cx="355393" cy="393576"/>
          </a:xfrm>
          <a:prstGeom prst="rect">
            <a:avLst/>
          </a:prstGeom>
        </p:spPr>
      </p:pic>
      <p:sp>
        <p:nvSpPr>
          <p:cNvPr id="4" name="Date Placeholder 4">
            <a:extLst>
              <a:ext uri="{FF2B5EF4-FFF2-40B4-BE49-F238E27FC236}">
                <a16:creationId xmlns:a16="http://schemas.microsoft.com/office/drawing/2014/main" id="{3AC7079E-4A2B-916C-C464-65DEFE43418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78737" y="6198235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smtClean="0"/>
              <a:t>10/15/2026</a:t>
            </a:fld>
            <a:endParaRPr lang="en-US" dirty="0"/>
          </a:p>
        </p:txBody>
      </p:sp>
      <p:sp>
        <p:nvSpPr>
          <p:cNvPr id="5" name="Footer Placeholder 5">
            <a:extLst>
              <a:ext uri="{FF2B5EF4-FFF2-40B4-BE49-F238E27FC236}">
                <a16:creationId xmlns:a16="http://schemas.microsoft.com/office/drawing/2014/main" id="{A9D00E07-4D48-7C0C-4DF1-A39D6E8BB9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13774" y="6198235"/>
            <a:ext cx="6672887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6">
            <a:extLst>
              <a:ext uri="{FF2B5EF4-FFF2-40B4-BE49-F238E27FC236}">
                <a16:creationId xmlns:a16="http://schemas.microsoft.com/office/drawing/2014/main" id="{1DFF8BFD-50B2-6671-09A6-3F6A70B599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198235"/>
            <a:ext cx="764215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30270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521208" y="448056"/>
            <a:ext cx="6876288" cy="64008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/>
          <a:p>
            <a:pPr rtl="0"/>
            <a:r>
              <a:rPr lang="ko-KR" altLang="en-US" noProof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39496" y="1435608"/>
            <a:ext cx="4416552" cy="39776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  <a:p>
            <a:pPr lvl="1" rtl="0"/>
            <a:r>
              <a:rPr lang="ko-KR" altLang="en-US" noProof="0"/>
              <a:t>둘째 수준</a:t>
            </a:r>
          </a:p>
          <a:p>
            <a:pPr lvl="2" rtl="0"/>
            <a:r>
              <a:rPr lang="ko-KR" altLang="en-US" noProof="0"/>
              <a:t>셋째 수준</a:t>
            </a:r>
          </a:p>
          <a:p>
            <a:pPr lvl="3" rtl="0"/>
            <a:r>
              <a:rPr lang="ko-KR" altLang="en-US" noProof="0"/>
              <a:t>넷째 수준</a:t>
            </a:r>
          </a:p>
          <a:p>
            <a:pPr lvl="4" rtl="0"/>
            <a:r>
              <a:rPr lang="ko-KR" altLang="en-US" noProof="0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53949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C655C81E-72E7-4D05-94B5-F45B321A525D}" type="datetime1">
              <a:rPr lang="ko-KR" altLang="en-US" noProof="0" smtClean="0"/>
              <a:t>2026-10-15</a:t>
            </a:fld>
            <a:endParaRPr lang="ko-KR" altLang="en-US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648200" y="62039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375904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9860EDB8-5305-433F-BE41-D7A86D811DB3}" type="slidenum">
              <a:rPr lang="en-US" altLang="ko-KR" noProof="0" smtClean="0"/>
              <a:pPr/>
              <a:t>‹#›</a:t>
            </a:fld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8" name="직선 연결선(S) 7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6754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5" r:id="rId4"/>
  </p:sldLayoutIdLst>
  <p:hf hdr="0" ftr="0" dt="0"/>
  <p:txStyles>
    <p:titleStyle>
      <a:lvl1pPr algn="l" defTabSz="914400" rtl="0" eaLnBrk="1" latinLnBrk="1" hangingPunct="1">
        <a:spcBef>
          <a:spcPct val="0"/>
        </a:spcBef>
        <a:buNone/>
        <a:defRPr sz="28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j-cs"/>
        </a:defRPr>
      </a:lvl1pPr>
    </p:titleStyle>
    <p:bodyStyle>
      <a:lvl1pPr marL="0" indent="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Tx/>
        <a:buNone/>
        <a:defRPr lang="en-US" sz="1200" kern="1200" dirty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1pPr>
      <a:lvl2pPr marL="2286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2pPr>
      <a:lvl3pPr marL="6858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3pPr>
      <a:lvl4pPr marL="11430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4pPr>
      <a:lvl5pPr marL="16002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5pPr>
      <a:lvl6pPr marL="20574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6pPr>
      <a:lvl7pPr marL="25146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7pPr>
      <a:lvl8pPr marL="29718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8pPr>
      <a:lvl9pPr marL="3429000" indent="-228600" algn="l" defTabSz="914400" rtl="0" eaLnBrk="1" latinLnBrk="1" hangingPunct="1">
        <a:lnSpc>
          <a:spcPct val="90000"/>
        </a:lnSpc>
        <a:spcBef>
          <a:spcPct val="30000"/>
        </a:spcBef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amatria.in/blog/transformer-models-an-introduction-and-catalog-2d1e9039f376/" TargetMode="Externa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medium.com/@lmpo/a-brief-history-of-ai-with-deep-learning-26f7948bc87b" TargetMode="Externa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amatria.in/blog/transformer-models-an-introduction-and-catalog-2d1e9039f376/" TargetMode="Externa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ncestor9/mathematics-for-machine-learning/blob/main/scripts/Introduction_to_deep_learning.ipynb" TargetMode="External"/><Relationship Id="rId2" Type="http://schemas.openxmlformats.org/officeDocument/2006/relationships/hyperlink" Target="https://github.com/ancestor9/mathematics-for-machine-learning/blob/main/scripts/Introduction_to_Machine_learning.ipynb" TargetMode="Externa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hyperlink" Target="https://jakevdp.github.io/PythonDataScienceHandbook/03.10-working-with-strings.html" TargetMode="Externa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hyperlink" Target="https://www.langchain.com/" TargetMode="Externa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ncestor9/2026_Fall_Learning-Langchain-AI-Agent/blob/main/excercise/Agent.ipynb" TargetMode="External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Relationship Id="rId4" Type="http://schemas.openxmlformats.org/officeDocument/2006/relationships/hyperlink" Target="https://github.com/ancestor9/2026_Fall_Learning-Langchain-AI-Agent/blob/main/excercise/Langchain_rag_geminiAPI.ipynb" TargetMode="Externa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ncestor9/2026_Fall_Learning-Langchain-AI-Agent/blob/main/CH1_LLM_Fundamentals%20with%20LangChain.ipynb" TargetMode="External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streamlit.io/playground" TargetMode="External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838199" y="1164324"/>
            <a:ext cx="10934701" cy="2387600"/>
          </a:xfrm>
        </p:spPr>
        <p:txBody>
          <a:bodyPr rtlCol="0" anchor="ctr" anchorCtr="0">
            <a:normAutofit/>
          </a:bodyPr>
          <a:lstStyle/>
          <a:p>
            <a:r>
              <a:rPr lang="en-US" altLang="ko-KR" sz="4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CHAPERT 1</a:t>
            </a:r>
            <a:br>
              <a:rPr lang="en-US" altLang="ko-KR" sz="4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4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LLM Fundamentals with </a:t>
            </a:r>
            <a:r>
              <a:rPr lang="en-US" altLang="ko-KR" sz="44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LangChain</a:t>
            </a:r>
            <a:endParaRPr lang="ko-KR" altLang="en-US" sz="44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5" name="부제목 2">
            <a:extLst>
              <a:ext uri="{FF2B5EF4-FFF2-40B4-BE49-F238E27FC236}">
                <a16:creationId xmlns:a16="http://schemas.microsoft.com/office/drawing/2014/main" id="{D2A693FF-597D-D05E-69BD-7CA96D17F1CD}"/>
              </a:ext>
            </a:extLst>
          </p:cNvPr>
          <p:cNvSpPr txBox="1">
            <a:spLocks/>
          </p:cNvSpPr>
          <p:nvPr/>
        </p:nvSpPr>
        <p:spPr>
          <a:xfrm>
            <a:off x="855620" y="4555883"/>
            <a:ext cx="9582736" cy="1137793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0" indent="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Tx/>
              <a:buNone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228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685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11430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16002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  <a:lvl6pPr marL="20574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14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71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29000" indent="-228600" algn="l" defTabSz="914400" rtl="0" eaLnBrk="1" latinLnBrk="1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2026 Fall</a:t>
            </a:r>
          </a:p>
          <a:p>
            <a:r>
              <a:rPr lang="ko-KR" altLang="en-US" sz="24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조상구교수</a:t>
            </a:r>
            <a:endParaRPr lang="en-US" altLang="ko-KR" sz="24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718077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3667BA-883A-F760-A852-4808949811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C25E88B-6D21-127E-3DF6-DC200AC374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80761" y="299420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z="1400" b="1" smtClean="0"/>
              <a:pPr/>
              <a:t>2</a:t>
            </a:fld>
            <a:endParaRPr lang="en-US" sz="1400" b="1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60151A18-B816-E6A4-DE0E-617FB6906B40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Contents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8F3E3F8-C9F6-B196-98B4-3CC4BD8CE8BE}"/>
              </a:ext>
            </a:extLst>
          </p:cNvPr>
          <p:cNvSpPr txBox="1"/>
          <p:nvPr/>
        </p:nvSpPr>
        <p:spPr>
          <a:xfrm>
            <a:off x="542406" y="1743722"/>
            <a:ext cx="11173949" cy="38931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Deep Learning Timeline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Vectorized String Operations : Text Mining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NLP(Natural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Language Processing) :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자연어 처리</a:t>
            </a:r>
            <a:endParaRPr lang="en-US" altLang="ko-KR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LLM(Large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Language Model) :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대규모 언어 모델</a:t>
            </a:r>
            <a:endParaRPr lang="en-US" altLang="ko-KR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altLang="ko-KR" dirty="0" err="1">
                <a:latin typeface="D2Coding" panose="020B0609020101020101" pitchFamily="49" charset="-127"/>
                <a:ea typeface="D2Coding" panose="020B0609020101020101" pitchFamily="49" charset="-127"/>
              </a:rPr>
              <a:t>Langchain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en-US" altLang="ko-KR" dirty="0" err="1">
                <a:latin typeface="D2Coding" panose="020B0609020101020101" pitchFamily="49" charset="-127"/>
                <a:ea typeface="D2Coding" panose="020B0609020101020101" pitchFamily="49" charset="-127"/>
              </a:rPr>
              <a:t>Langraph</a:t>
            </a:r>
            <a:endParaRPr lang="en-US" altLang="ko-KR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Runnable 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Agent</a:t>
            </a:r>
            <a:endParaRPr lang="ko-KR" altLang="en-US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389863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6E28E7-AAB1-D1BF-03A7-16AAA32698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CA860F2-3F34-1F9C-1465-731E6503C2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199" y="1164324"/>
            <a:ext cx="10934701" cy="2387600"/>
          </a:xfrm>
        </p:spPr>
        <p:txBody>
          <a:bodyPr rtlCol="0" anchor="ctr" anchorCtr="0">
            <a:normAutofit/>
          </a:bodyPr>
          <a:lstStyle/>
          <a:p>
            <a:r>
              <a:rPr lang="en-US" altLang="ko-KR" sz="4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Getting started</a:t>
            </a:r>
            <a:endParaRPr lang="ko-KR" altLang="en-US" sz="44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069183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FBF582-995D-B077-3821-89957D8935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7369C495-9356-EFB9-DC93-FF7872C542C0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Venn Diagram of AI</a:t>
            </a: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1BA49B87-2E35-58F0-6854-5FF4FBAC5925}"/>
              </a:ext>
            </a:extLst>
          </p:cNvPr>
          <p:cNvSpPr txBox="1">
            <a:spLocks/>
          </p:cNvSpPr>
          <p:nvPr/>
        </p:nvSpPr>
        <p:spPr>
          <a:xfrm>
            <a:off x="11162487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sz="1400" b="1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pPr/>
              <a:t>4</a:t>
            </a:fld>
            <a:endParaRPr lang="en-US" sz="14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E9454C6-F9DD-D015-71DC-D886442C47CA}"/>
              </a:ext>
            </a:extLst>
          </p:cNvPr>
          <p:cNvSpPr txBox="1"/>
          <p:nvPr/>
        </p:nvSpPr>
        <p:spPr>
          <a:xfrm>
            <a:off x="3152775" y="6376017"/>
            <a:ext cx="622935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100" dirty="0">
                <a:latin typeface="D2Coding" panose="020B0609020101020101" pitchFamily="49" charset="-127"/>
                <a:ea typeface="D2Coding" panose="020B0609020101020101" pitchFamily="49" charset="-127"/>
                <a:hlinkClick r:id="rId2"/>
              </a:rPr>
              <a:t>https://amatria.in/blog/transformer-models-an-introduction-and-catalog-2d1e9039f376/</a:t>
            </a:r>
            <a:r>
              <a:rPr lang="ko-KR" altLang="en-US" sz="11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F0E5F57A-FC14-BB84-406C-D8B3D215AD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05732" y="1569082"/>
            <a:ext cx="7980535" cy="4486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669474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EDD023-F53F-4650-32C3-A3E47D1EA0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E934A0B4-204C-4B04-D099-3709214F69B3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endParaRPr lang="en-US" altLang="ko-KR" sz="2800" b="1" cap="none" dirty="0">
              <a:latin typeface="Lora" pitchFamily="2" charset="0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AED0D691-F47A-D83B-C436-9C2EAD0BC1FC}"/>
              </a:ext>
            </a:extLst>
          </p:cNvPr>
          <p:cNvSpPr txBox="1">
            <a:spLocks/>
          </p:cNvSpPr>
          <p:nvPr/>
        </p:nvSpPr>
        <p:spPr>
          <a:xfrm>
            <a:off x="625201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latin typeface="D2Coding" panose="020B0609020101020101" pitchFamily="49" charset="-127"/>
                <a:ea typeface="D2Coding" panose="020B0609020101020101" pitchFamily="49" charset="-127"/>
              </a:rPr>
              <a:t>Big Data Types</a:t>
            </a:r>
          </a:p>
        </p:txBody>
      </p:sp>
      <p:sp>
        <p:nvSpPr>
          <p:cNvPr id="5" name="슬라이드 번호 개체 틀 3">
            <a:extLst>
              <a:ext uri="{FF2B5EF4-FFF2-40B4-BE49-F238E27FC236}">
                <a16:creationId xmlns:a16="http://schemas.microsoft.com/office/drawing/2014/main" id="{FE7551DB-678E-55B6-47B0-FF64EAD7CC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62487" y="299420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z="1400" b="1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pPr/>
              <a:t>5</a:t>
            </a:fld>
            <a:endParaRPr lang="en-US" sz="14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BCE28EDC-9514-15E5-27CD-514E3D4CFC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6689" y="1425249"/>
            <a:ext cx="10412921" cy="42302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EAD85EE5-FB41-26A0-6C99-96C3A555A9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8403" y="1681334"/>
            <a:ext cx="10371207" cy="28102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7406B33B-3DF6-570D-A649-AAFACA4945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8402" y="1425249"/>
            <a:ext cx="10495381" cy="44509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>
            <a:extLst>
              <a:ext uri="{FF2B5EF4-FFF2-40B4-BE49-F238E27FC236}">
                <a16:creationId xmlns:a16="http://schemas.microsoft.com/office/drawing/2014/main" id="{F25C6496-A99B-8125-F439-9659D19EC1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8402" y="1443106"/>
            <a:ext cx="10495381" cy="19665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>
            <a:extLst>
              <a:ext uri="{FF2B5EF4-FFF2-40B4-BE49-F238E27FC236}">
                <a16:creationId xmlns:a16="http://schemas.microsoft.com/office/drawing/2014/main" id="{177571E4-3E84-D0D4-9ECF-87118AB6C1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8401" y="3409625"/>
            <a:ext cx="10495381" cy="30652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113193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F8F1B5-3293-2582-E79C-68BA83E5EE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8250D206-0CCD-0BDF-2BFE-C27CAAA21742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endParaRPr lang="en-US" altLang="ko-KR" sz="2800" b="1" cap="none" dirty="0">
              <a:latin typeface="Lora" pitchFamily="2" charset="0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B83E9A3F-7661-A1B5-BEEC-C07088F84745}"/>
              </a:ext>
            </a:extLst>
          </p:cNvPr>
          <p:cNvSpPr txBox="1">
            <a:spLocks/>
          </p:cNvSpPr>
          <p:nvPr/>
        </p:nvSpPr>
        <p:spPr>
          <a:xfrm>
            <a:off x="625201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latin typeface="D2Coding" panose="020B0609020101020101" pitchFamily="49" charset="-127"/>
                <a:ea typeface="D2Coding" panose="020B0609020101020101" pitchFamily="49" charset="-127"/>
              </a:rPr>
              <a:t>Deep Learning Timeline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864AA592-70D7-412D-FBA1-303BD4944C1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2350" y="1296152"/>
            <a:ext cx="10747649" cy="501944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80D09BA-6E17-7800-CA71-C1179CD5B4DC}"/>
              </a:ext>
            </a:extLst>
          </p:cNvPr>
          <p:cNvSpPr txBox="1"/>
          <p:nvPr/>
        </p:nvSpPr>
        <p:spPr>
          <a:xfrm>
            <a:off x="672826" y="6361342"/>
            <a:ext cx="326243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A-brief-history-of-ai-with-deep-learning</a:t>
            </a:r>
            <a:endParaRPr lang="ko-KR" altLang="en-US" sz="12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5" name="슬라이드 번호 개체 틀 3">
            <a:extLst>
              <a:ext uri="{FF2B5EF4-FFF2-40B4-BE49-F238E27FC236}">
                <a16:creationId xmlns:a16="http://schemas.microsoft.com/office/drawing/2014/main" id="{AD5BCE8C-DE81-A0E1-0670-31CF7BCDDD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62487" y="299420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z="1400" b="1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pPr/>
              <a:t>6</a:t>
            </a:fld>
            <a:endParaRPr lang="en-US" sz="14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367035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E81080-7482-4F78-0B32-9350845B42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DBF09144-883D-B590-22EC-22EF91228308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A brief history of NLP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2D14866-6BB3-0E3B-7E2E-4EC742E3B86E}"/>
              </a:ext>
            </a:extLst>
          </p:cNvPr>
          <p:cNvSpPr txBox="1"/>
          <p:nvPr/>
        </p:nvSpPr>
        <p:spPr>
          <a:xfrm>
            <a:off x="568960" y="1478012"/>
            <a:ext cx="11186160" cy="27321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1980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년대 후반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~ 1990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년대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lang="ko-KR" altLang="en-US" dirty="0" err="1">
                <a:latin typeface="D2Coding" panose="020B0609020101020101" pitchFamily="49" charset="-127"/>
                <a:ea typeface="D2Coding" panose="020B0609020101020101" pitchFamily="49" charset="-127"/>
              </a:rPr>
              <a:t>머신러닝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 및 통계학의 도입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데이터 중심 선회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: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데이터에서 규칙을 자동 추출하자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는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머신러닝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접근법을 취하기 시작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통계 모델의 지배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: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의사결정나무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로지스틱 회귀 등 통계적 모델이 주류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2010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년대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lang="ko-KR" altLang="en-US" dirty="0" err="1">
                <a:latin typeface="D2Coding" panose="020B0609020101020101" pitchFamily="49" charset="-127"/>
                <a:ea typeface="D2Coding" panose="020B0609020101020101" pitchFamily="49" charset="-127"/>
              </a:rPr>
              <a:t>딥러닝과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LSTM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의 등장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신경망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LSTM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은 이전 통계 모델보다 훨씬 뛰어난 문맥 이해도를 보여주었으나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문장이 조금만 길어져도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여러 단락 등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앞 내용을 잊어버리는 한계가 있었고 병렬 연산이 불가능해 학습 속도가 매우 느림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31F31756-78E0-AA2D-572F-B2871DBFED50}"/>
              </a:ext>
            </a:extLst>
          </p:cNvPr>
          <p:cNvSpPr txBox="1">
            <a:spLocks/>
          </p:cNvSpPr>
          <p:nvPr/>
        </p:nvSpPr>
        <p:spPr>
          <a:xfrm>
            <a:off x="11162487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sz="1400" b="1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pPr/>
              <a:t>7</a:t>
            </a:fld>
            <a:endParaRPr lang="en-US" sz="14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09035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E7E1F9-333C-ABDF-A6E4-EC294224FC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43FEC1E1-D4CF-BEB2-D53C-A629B2751476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A brief history of NLP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9BFA4CF-0B1D-8AD2-79E4-E48E5C7BA7CF}"/>
              </a:ext>
            </a:extLst>
          </p:cNvPr>
          <p:cNvSpPr txBox="1"/>
          <p:nvPr/>
        </p:nvSpPr>
        <p:spPr>
          <a:xfrm>
            <a:off x="568960" y="1478012"/>
            <a:ext cx="11186160" cy="416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2010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년대 후반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~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현재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트랜스포머 혁명과 대형 언어 모델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(LLM)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트랜스포머 아키텍처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(2017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년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):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긴 문맥을 왜곡 없이 기억하면서도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대규모 병렬 연산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(GPU/CPU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활용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이 가능하여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LSTM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의 확장성 한계를 완벽히 해결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거대 생성형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AI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시대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: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트랜스포머를 기반으로 인터넷 전체의 텍스트 데이터를 학습시키고 수천만 달러의 비용을 투입한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ChatGPT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등의 거대 언어 모델이 탄생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LLM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의 본질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: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이 모델들은 인간과 같은 실제 지능을 가졌기보다는 단순한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'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다음 단어 맞히기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(Next-word prediction)'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라는 통계적 패턴 인식을 극대화한 결과물이며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이 단순한 메커니즘에서 유창하고 복잡한 언어 능력이 발현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BD48C704-DBD9-6458-3BAC-861029B38371}"/>
              </a:ext>
            </a:extLst>
          </p:cNvPr>
          <p:cNvSpPr txBox="1">
            <a:spLocks/>
          </p:cNvSpPr>
          <p:nvPr/>
        </p:nvSpPr>
        <p:spPr>
          <a:xfrm>
            <a:off x="11162487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sz="1400" b="1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pPr/>
              <a:t>8</a:t>
            </a:fld>
            <a:endParaRPr lang="en-US" sz="14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4327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E87EFF-5A00-FBF1-5D65-D64C6EE76B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48532BC0-E8A1-E9D6-7E99-829F4947E071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A brief history of LLM</a:t>
            </a: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85361BBF-D211-A6F9-113F-C00B034B2192}"/>
              </a:ext>
            </a:extLst>
          </p:cNvPr>
          <p:cNvSpPr txBox="1">
            <a:spLocks/>
          </p:cNvSpPr>
          <p:nvPr/>
        </p:nvSpPr>
        <p:spPr>
          <a:xfrm>
            <a:off x="11162487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sz="1400" b="1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pPr/>
              <a:t>9</a:t>
            </a:fld>
            <a:endParaRPr lang="en-US" sz="14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396FA654-C579-BA82-6F56-16AAF74724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6775" y="1546476"/>
            <a:ext cx="9962632" cy="4829541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74E1CF2-3226-A746-8880-4FABE2AD64BB}"/>
              </a:ext>
            </a:extLst>
          </p:cNvPr>
          <p:cNvSpPr txBox="1"/>
          <p:nvPr/>
        </p:nvSpPr>
        <p:spPr>
          <a:xfrm>
            <a:off x="790575" y="6376017"/>
            <a:ext cx="622935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100" dirty="0">
                <a:latin typeface="D2Coding" panose="020B0609020101020101" pitchFamily="49" charset="-127"/>
                <a:ea typeface="D2Coding" panose="020B0609020101020101" pitchFamily="49" charset="-127"/>
                <a:hlinkClick r:id="rId3"/>
              </a:rPr>
              <a:t>https://amatria.in/blog/transformer-models-an-introduction-and-catalog-2d1e9039f376/</a:t>
            </a:r>
            <a:r>
              <a:rPr lang="ko-KR" altLang="en-US" sz="11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5383645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2FA781-0F92-C284-09BC-BBEB566715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3C91BC12-CE9B-3635-AB6A-9534F0804763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endParaRPr lang="en-US" altLang="ko-KR" sz="2800" b="1" cap="none" dirty="0">
              <a:latin typeface="Lora" pitchFamily="2" charset="0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E3B7F88E-6C64-73AD-BD66-85ED67548608}"/>
              </a:ext>
            </a:extLst>
          </p:cNvPr>
          <p:cNvSpPr txBox="1">
            <a:spLocks/>
          </p:cNvSpPr>
          <p:nvPr/>
        </p:nvSpPr>
        <p:spPr>
          <a:xfrm>
            <a:off x="625201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latin typeface="D2Coding" panose="020B0609020101020101" pitchFamily="49" charset="-127"/>
                <a:ea typeface="D2Coding" panose="020B0609020101020101" pitchFamily="49" charset="-127"/>
              </a:rPr>
              <a:t>Understanding</a:t>
            </a:r>
            <a:r>
              <a:rPr lang="ko-KR" altLang="en-US" sz="2800" cap="none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2800" cap="none" dirty="0">
                <a:latin typeface="D2Coding" panose="020B0609020101020101" pitchFamily="49" charset="-127"/>
                <a:ea typeface="D2Coding" panose="020B0609020101020101" pitchFamily="49" charset="-127"/>
              </a:rPr>
              <a:t>Machine Learning</a:t>
            </a:r>
          </a:p>
        </p:txBody>
      </p:sp>
      <p:sp>
        <p:nvSpPr>
          <p:cNvPr id="5" name="슬라이드 번호 개체 틀 3">
            <a:extLst>
              <a:ext uri="{FF2B5EF4-FFF2-40B4-BE49-F238E27FC236}">
                <a16:creationId xmlns:a16="http://schemas.microsoft.com/office/drawing/2014/main" id="{8591E7B5-A2B1-5F59-678B-C9D350D43E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62487" y="299420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z="1400" b="1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pPr/>
              <a:t>10</a:t>
            </a:fld>
            <a:endParaRPr lang="en-US" sz="14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B267278-33B7-0F28-22AA-9713D26D9B1D}"/>
              </a:ext>
            </a:extLst>
          </p:cNvPr>
          <p:cNvSpPr txBox="1"/>
          <p:nvPr/>
        </p:nvSpPr>
        <p:spPr>
          <a:xfrm>
            <a:off x="1749150" y="1985639"/>
            <a:ext cx="9852299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  <a:hlinkClick r:id="rId2"/>
              </a:rPr>
              <a:t>Introduction_to_Machine_learning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(Mandatory)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  <a:hlinkClick r:id="rId3"/>
              </a:rPr>
              <a:t>Introduction_to_deep_learning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(Optional)</a:t>
            </a: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F72AA4F-6372-FC3A-6174-69BEC3EBBA1F}"/>
              </a:ext>
            </a:extLst>
          </p:cNvPr>
          <p:cNvSpPr txBox="1"/>
          <p:nvPr/>
        </p:nvSpPr>
        <p:spPr>
          <a:xfrm>
            <a:off x="625200" y="1219200"/>
            <a:ext cx="10976249" cy="465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다양한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ML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을 이해하기 위해 </a:t>
            </a:r>
            <a:r>
              <a:rPr lang="en-US" altLang="ko-KR" dirty="0" err="1">
                <a:latin typeface="D2Coding" panose="020B0609020101020101" pitchFamily="49" charset="-127"/>
                <a:ea typeface="D2Coding" panose="020B0609020101020101" pitchFamily="49" charset="-127"/>
                <a:hlinkClick r:id="rId2"/>
              </a:rPr>
              <a:t>Introduction_to_Machine_learning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코드를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run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endParaRPr lang="en-US" altLang="ko-KR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575115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EEADE8-3EE6-8AEA-9249-2001DD6789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8CC33D67-3D74-4492-EAF9-628C85EB8B61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endParaRPr lang="en-US" altLang="ko-KR" sz="2800" b="1" cap="none" dirty="0">
              <a:latin typeface="Lora" pitchFamily="2" charset="0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FF864F58-0517-04AC-22B0-0286F5CAD92E}"/>
              </a:ext>
            </a:extLst>
          </p:cNvPr>
          <p:cNvSpPr txBox="1">
            <a:spLocks/>
          </p:cNvSpPr>
          <p:nvPr/>
        </p:nvSpPr>
        <p:spPr>
          <a:xfrm>
            <a:off x="625201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latin typeface="D2Coding" panose="020B0609020101020101" pitchFamily="49" charset="-127"/>
                <a:ea typeface="D2Coding" panose="020B0609020101020101" pitchFamily="49" charset="-127"/>
              </a:rPr>
              <a:t>Vectorized String Operations</a:t>
            </a:r>
          </a:p>
        </p:txBody>
      </p:sp>
      <p:sp>
        <p:nvSpPr>
          <p:cNvPr id="5" name="슬라이드 번호 개체 틀 3">
            <a:extLst>
              <a:ext uri="{FF2B5EF4-FFF2-40B4-BE49-F238E27FC236}">
                <a16:creationId xmlns:a16="http://schemas.microsoft.com/office/drawing/2014/main" id="{195AF9BF-BBF8-E943-7C15-1CE508F40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62487" y="299420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z="1400" b="1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pPr/>
              <a:t>11</a:t>
            </a:fld>
            <a:endParaRPr lang="en-US" sz="14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4B11877-1E98-76D9-B942-16A5D0345D76}"/>
              </a:ext>
            </a:extLst>
          </p:cNvPr>
          <p:cNvSpPr txBox="1"/>
          <p:nvPr/>
        </p:nvSpPr>
        <p:spPr>
          <a:xfrm>
            <a:off x="625200" y="1219200"/>
            <a:ext cx="10976249" cy="8808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Data science handbook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제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3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장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8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절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  <a:hlinkClick r:id="rId2"/>
              </a:rPr>
              <a:t>03.10-working-with-strings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의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Example: Recipe Database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를 실습하여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A simple recipe recommender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서비스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(application)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를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완성하라</a:t>
            </a:r>
            <a:endParaRPr lang="en-US" altLang="ko-KR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5122" name="Picture 2" descr="fruit salad on gray bowls">
            <a:extLst>
              <a:ext uri="{FF2B5EF4-FFF2-40B4-BE49-F238E27FC236}">
                <a16:creationId xmlns:a16="http://schemas.microsoft.com/office/drawing/2014/main" id="{6F399546-DBA6-9C9E-1524-4EF172094E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4125" y="2805357"/>
            <a:ext cx="5143500" cy="342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340027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4ECA4C-CC8C-D144-7D64-BDE9F82CB4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DD7D5F8-B881-C5B3-0369-D2FFD6B9C2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199" y="1164324"/>
            <a:ext cx="10934701" cy="2387600"/>
          </a:xfrm>
        </p:spPr>
        <p:txBody>
          <a:bodyPr rtlCol="0" anchor="ctr" anchorCtr="0">
            <a:normAutofit/>
          </a:bodyPr>
          <a:lstStyle/>
          <a:p>
            <a:r>
              <a:rPr lang="en-US" altLang="ko-KR" sz="44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Langchain</a:t>
            </a:r>
            <a:endParaRPr lang="ko-KR" altLang="en-US" sz="44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853045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A04DA5-A488-3EBE-C860-B0757A7F9E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4B17C6DD-6836-99CA-5CA3-FF29A6D23E09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endParaRPr lang="en-US" altLang="ko-KR" sz="2800" b="1" cap="none" dirty="0">
              <a:latin typeface="Lora" pitchFamily="2" charset="0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2DA1BCFC-7FE3-0208-6FE2-B7D2922607F8}"/>
              </a:ext>
            </a:extLst>
          </p:cNvPr>
          <p:cNvSpPr txBox="1">
            <a:spLocks/>
          </p:cNvSpPr>
          <p:nvPr/>
        </p:nvSpPr>
        <p:spPr>
          <a:xfrm>
            <a:off x="625201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 err="1">
                <a:latin typeface="D2Coding" panose="020B0609020101020101" pitchFamily="49" charset="-127"/>
                <a:ea typeface="D2Coding" panose="020B0609020101020101" pitchFamily="49" charset="-127"/>
              </a:rPr>
              <a:t>Langchain</a:t>
            </a:r>
            <a:endParaRPr lang="en-US" altLang="ko-KR" sz="2800" cap="none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5" name="슬라이드 번호 개체 틀 3">
            <a:extLst>
              <a:ext uri="{FF2B5EF4-FFF2-40B4-BE49-F238E27FC236}">
                <a16:creationId xmlns:a16="http://schemas.microsoft.com/office/drawing/2014/main" id="{C4665E68-2B88-8C2C-522E-944C69171B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62487" y="299420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z="1400" b="1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pPr/>
              <a:t>13</a:t>
            </a:fld>
            <a:endParaRPr lang="en-US" sz="14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E21042C-DA28-4D09-67D2-E48526FA4B0A}"/>
              </a:ext>
            </a:extLst>
          </p:cNvPr>
          <p:cNvSpPr txBox="1"/>
          <p:nvPr/>
        </p:nvSpPr>
        <p:spPr>
          <a:xfrm>
            <a:off x="625200" y="1219200"/>
            <a:ext cx="10976249" cy="4629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대규모 언어 모델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(LLM)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을 활용한 애플리케이션 개발에 특화된 오픈소스 프레임워크</a:t>
            </a:r>
            <a:endParaRPr lang="en-US" altLang="ko-KR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A7015DD-326C-DFAD-E042-B384491F1AC0}"/>
              </a:ext>
            </a:extLst>
          </p:cNvPr>
          <p:cNvSpPr txBox="1"/>
          <p:nvPr/>
        </p:nvSpPr>
        <p:spPr>
          <a:xfrm>
            <a:off x="625200" y="5778755"/>
            <a:ext cx="6096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hlinkClick r:id="rId2"/>
              </a:rPr>
              <a:t>https://www.langchain.com/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FEDB633C-CB54-C8FC-115A-03548843284A}"/>
              </a:ext>
            </a:extLst>
          </p:cNvPr>
          <p:cNvGrpSpPr/>
          <p:nvPr/>
        </p:nvGrpSpPr>
        <p:grpSpPr>
          <a:xfrm>
            <a:off x="625200" y="1985638"/>
            <a:ext cx="11166751" cy="3796038"/>
            <a:chOff x="625200" y="1985638"/>
            <a:chExt cx="11166751" cy="3796038"/>
          </a:xfrm>
        </p:grpSpPr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F095F30D-488C-4731-7328-5AF8841FA3F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956177" y="1985638"/>
              <a:ext cx="4835774" cy="3793117"/>
            </a:xfrm>
            <a:prstGeom prst="rect">
              <a:avLst/>
            </a:prstGeom>
          </p:spPr>
        </p:pic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id="{7FA97CDD-674B-C5D3-759B-AFBE42AFF5E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25200" y="1985640"/>
              <a:ext cx="6542656" cy="3796036"/>
            </a:xfrm>
            <a:prstGeom prst="rect">
              <a:avLst/>
            </a:prstGeom>
          </p:spPr>
        </p:pic>
      </p:grpSp>
      <p:sp>
        <p:nvSpPr>
          <p:cNvPr id="6" name="직사각형 5">
            <a:extLst>
              <a:ext uri="{FF2B5EF4-FFF2-40B4-BE49-F238E27FC236}">
                <a16:creationId xmlns:a16="http://schemas.microsoft.com/office/drawing/2014/main" id="{F6561769-EF49-C161-B897-A92C6C9B2BB8}"/>
              </a:ext>
            </a:extLst>
          </p:cNvPr>
          <p:cNvSpPr/>
          <p:nvPr/>
        </p:nvSpPr>
        <p:spPr>
          <a:xfrm>
            <a:off x="3810000" y="5403468"/>
            <a:ext cx="981075" cy="307777"/>
          </a:xfrm>
          <a:prstGeom prst="rect">
            <a:avLst/>
          </a:prstGeom>
          <a:noFill/>
          <a:ln w="28575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34522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D3355D-8BF3-0277-3AE4-7CE74E8F9A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E2200DEA-9EDD-3F1D-CE6B-92A78A0F1745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endParaRPr lang="en-US" altLang="ko-KR" sz="2800" b="1" cap="none" dirty="0">
              <a:latin typeface="Lora" pitchFamily="2" charset="0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21278074-A716-70CB-49E5-90BF0F37C1C3}"/>
              </a:ext>
            </a:extLst>
          </p:cNvPr>
          <p:cNvSpPr txBox="1">
            <a:spLocks/>
          </p:cNvSpPr>
          <p:nvPr/>
        </p:nvSpPr>
        <p:spPr>
          <a:xfrm>
            <a:off x="625201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latin typeface="D2Coding" panose="020B0609020101020101" pitchFamily="49" charset="-127"/>
                <a:ea typeface="D2Coding" panose="020B0609020101020101" pitchFamily="49" charset="-127"/>
              </a:rPr>
              <a:t>Build agents faster</a:t>
            </a:r>
          </a:p>
        </p:txBody>
      </p:sp>
      <p:sp>
        <p:nvSpPr>
          <p:cNvPr id="5" name="슬라이드 번호 개체 틀 3">
            <a:extLst>
              <a:ext uri="{FF2B5EF4-FFF2-40B4-BE49-F238E27FC236}">
                <a16:creationId xmlns:a16="http://schemas.microsoft.com/office/drawing/2014/main" id="{0921E103-FD04-B422-1498-74B19A897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62487" y="299420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z="1400" b="1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pPr/>
              <a:t>14</a:t>
            </a:fld>
            <a:endParaRPr lang="en-US" sz="14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1036489-4A70-6C4B-2B7C-265698D9738D}"/>
              </a:ext>
            </a:extLst>
          </p:cNvPr>
          <p:cNvSpPr txBox="1"/>
          <p:nvPr/>
        </p:nvSpPr>
        <p:spPr>
          <a:xfrm>
            <a:off x="625200" y="1219200"/>
            <a:ext cx="10976249" cy="4629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대규모 언어 모델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(LLM)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을 활용한 애플리케이션 개발에 특화된 오픈소스 프레임워크</a:t>
            </a:r>
            <a:endParaRPr lang="en-US" altLang="ko-KR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028F66F2-A019-3BBD-AFC4-258B1899FB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3142" y="1911232"/>
            <a:ext cx="9625552" cy="4464785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208EF025-AB88-CC64-60A9-9B12DCE1D679}"/>
              </a:ext>
            </a:extLst>
          </p:cNvPr>
          <p:cNvSpPr/>
          <p:nvPr/>
        </p:nvSpPr>
        <p:spPr>
          <a:xfrm>
            <a:off x="3033252" y="5865585"/>
            <a:ext cx="1076632" cy="377899"/>
          </a:xfrm>
          <a:prstGeom prst="rect">
            <a:avLst/>
          </a:prstGeom>
          <a:noFill/>
          <a:ln w="28575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720805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1ECB04-7065-321D-9B03-E885AA1126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>
            <a:extLst>
              <a:ext uri="{FF2B5EF4-FFF2-40B4-BE49-F238E27FC236}">
                <a16:creationId xmlns:a16="http://schemas.microsoft.com/office/drawing/2014/main" id="{099E2024-AE38-150E-3028-16AFC26AD2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3019" y="2634257"/>
            <a:ext cx="7683058" cy="3302322"/>
          </a:xfrm>
          <a:prstGeom prst="rect">
            <a:avLst/>
          </a:prstGeom>
        </p:spPr>
      </p:pic>
      <p:sp>
        <p:nvSpPr>
          <p:cNvPr id="3" name="제목 1">
            <a:extLst>
              <a:ext uri="{FF2B5EF4-FFF2-40B4-BE49-F238E27FC236}">
                <a16:creationId xmlns:a16="http://schemas.microsoft.com/office/drawing/2014/main" id="{367C1ECC-7694-1E45-FFB0-9ABE4993AB08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endParaRPr lang="en-US" altLang="ko-KR" sz="2800" b="1" cap="none" dirty="0">
              <a:latin typeface="Lora" pitchFamily="2" charset="0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7B836DA1-1417-ABE4-26E2-3068E6D65B1C}"/>
              </a:ext>
            </a:extLst>
          </p:cNvPr>
          <p:cNvSpPr txBox="1">
            <a:spLocks/>
          </p:cNvSpPr>
          <p:nvPr/>
        </p:nvSpPr>
        <p:spPr>
          <a:xfrm>
            <a:off x="625201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latin typeface="D2Coding" panose="020B0609020101020101" pitchFamily="49" charset="-127"/>
                <a:ea typeface="D2Coding" panose="020B0609020101020101" pitchFamily="49" charset="-127"/>
              </a:rPr>
              <a:t>Agent</a:t>
            </a:r>
          </a:p>
        </p:txBody>
      </p:sp>
      <p:sp>
        <p:nvSpPr>
          <p:cNvPr id="5" name="슬라이드 번호 개체 틀 3">
            <a:extLst>
              <a:ext uri="{FF2B5EF4-FFF2-40B4-BE49-F238E27FC236}">
                <a16:creationId xmlns:a16="http://schemas.microsoft.com/office/drawing/2014/main" id="{69A41B47-AC25-F8B2-D5F7-010ED2B0EA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62487" y="299420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z="1400" b="1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pPr/>
              <a:t>15</a:t>
            </a:fld>
            <a:endParaRPr lang="en-US" sz="14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5066D4F-F266-E31F-652D-4C84D06EFDE4}"/>
              </a:ext>
            </a:extLst>
          </p:cNvPr>
          <p:cNvSpPr txBox="1"/>
          <p:nvPr/>
        </p:nvSpPr>
        <p:spPr>
          <a:xfrm>
            <a:off x="625200" y="1219200"/>
            <a:ext cx="10976249" cy="1162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Agent = Model + Harness. 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LangChain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provides 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create_agent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: a minimal, highly configurable harness. The harness is everything around the model loop: the prompt, the tools, and any middleware that shapes behavior. 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F737FDEF-CE1D-5476-88DC-2B64441E50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4949" y="3118915"/>
            <a:ext cx="4484032" cy="3517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132314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910F30-5251-6989-6A8D-903E36D57C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5A3123B3-387F-8B90-D3CC-F831E8859A2A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endParaRPr lang="en-US" altLang="ko-KR" sz="2800" b="1" cap="none" dirty="0">
              <a:latin typeface="Lora" pitchFamily="2" charset="0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282B0BD2-E787-13D1-7CEA-DC7989DC07F0}"/>
              </a:ext>
            </a:extLst>
          </p:cNvPr>
          <p:cNvSpPr txBox="1">
            <a:spLocks/>
          </p:cNvSpPr>
          <p:nvPr/>
        </p:nvSpPr>
        <p:spPr>
          <a:xfrm>
            <a:off x="625201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latin typeface="D2Coding" panose="020B0609020101020101" pitchFamily="49" charset="-127"/>
                <a:ea typeface="D2Coding" panose="020B0609020101020101" pitchFamily="49" charset="-127"/>
              </a:rPr>
              <a:t>Introduction to </a:t>
            </a:r>
            <a:r>
              <a:rPr lang="en-US" altLang="ko-KR" sz="2800" cap="none" dirty="0" err="1">
                <a:latin typeface="D2Coding" panose="020B0609020101020101" pitchFamily="49" charset="-127"/>
                <a:ea typeface="D2Coding" panose="020B0609020101020101" pitchFamily="49" charset="-127"/>
              </a:rPr>
              <a:t>Langchain</a:t>
            </a:r>
            <a:r>
              <a:rPr lang="en-US" altLang="ko-KR" sz="2800" cap="none" dirty="0">
                <a:latin typeface="D2Coding" panose="020B0609020101020101" pitchFamily="49" charset="-127"/>
                <a:ea typeface="D2Coding" panose="020B0609020101020101" pitchFamily="49" charset="-127"/>
              </a:rPr>
              <a:t> with Agent &amp; RAG</a:t>
            </a:r>
          </a:p>
        </p:txBody>
      </p:sp>
      <p:sp>
        <p:nvSpPr>
          <p:cNvPr id="5" name="슬라이드 번호 개체 틀 3">
            <a:extLst>
              <a:ext uri="{FF2B5EF4-FFF2-40B4-BE49-F238E27FC236}">
                <a16:creationId xmlns:a16="http://schemas.microsoft.com/office/drawing/2014/main" id="{44F3DD4F-7268-CA1A-92DB-591028E212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62487" y="299420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z="1400" b="1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pPr/>
              <a:t>16</a:t>
            </a:fld>
            <a:endParaRPr lang="en-US" sz="14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3B01678B-0413-AC28-CE1B-739932044E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4467" y="3285873"/>
            <a:ext cx="7743065" cy="163828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A264351-EEC4-4B29-CA07-06ADD3001F74}"/>
              </a:ext>
            </a:extLst>
          </p:cNvPr>
          <p:cNvSpPr txBox="1"/>
          <p:nvPr/>
        </p:nvSpPr>
        <p:spPr>
          <a:xfrm>
            <a:off x="597661" y="1248422"/>
            <a:ext cx="10941598" cy="120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 err="1">
                <a:latin typeface="D2Coding" panose="020B0609020101020101" pitchFamily="49" charset="-127"/>
                <a:ea typeface="D2Coding" panose="020B0609020101020101" pitchFamily="49" charset="-127"/>
              </a:rPr>
              <a:t>Langchain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을 사용하여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agent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와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RAG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를 실습하고 이해하자</a:t>
            </a:r>
            <a:endParaRPr lang="en-US" altLang="ko-KR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  <a:hlinkClick r:id="rId3"/>
              </a:rPr>
              <a:t>Agent.ipynb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  <a:hlinkClick r:id="rId4"/>
              </a:rPr>
              <a:t>Langchain_rag_geminiAPI</a:t>
            </a: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4922662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9488B0-400C-E229-E258-5E8A745044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93BC72C1-8F8B-BCD1-1512-760B19BD2F60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endParaRPr lang="en-US" altLang="ko-KR" sz="2800" b="1" cap="none" dirty="0">
              <a:latin typeface="Lora" pitchFamily="2" charset="0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CC076143-D16D-C638-5908-95C3A9097020}"/>
              </a:ext>
            </a:extLst>
          </p:cNvPr>
          <p:cNvSpPr txBox="1">
            <a:spLocks/>
          </p:cNvSpPr>
          <p:nvPr/>
        </p:nvSpPr>
        <p:spPr>
          <a:xfrm>
            <a:off x="625201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latin typeface="D2Coding" panose="020B0609020101020101" pitchFamily="49" charset="-127"/>
                <a:ea typeface="D2Coding" panose="020B0609020101020101" pitchFamily="49" charset="-127"/>
              </a:rPr>
              <a:t>Dive into LLM Fundamentals with </a:t>
            </a:r>
            <a:r>
              <a:rPr lang="en-US" altLang="ko-KR" sz="2800" cap="none" dirty="0" err="1">
                <a:latin typeface="D2Coding" panose="020B0609020101020101" pitchFamily="49" charset="-127"/>
                <a:ea typeface="D2Coding" panose="020B0609020101020101" pitchFamily="49" charset="-127"/>
              </a:rPr>
              <a:t>LangChain</a:t>
            </a:r>
            <a:endParaRPr lang="en-US" altLang="ko-KR" sz="2800" cap="none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5" name="슬라이드 번호 개체 틀 3">
            <a:extLst>
              <a:ext uri="{FF2B5EF4-FFF2-40B4-BE49-F238E27FC236}">
                <a16:creationId xmlns:a16="http://schemas.microsoft.com/office/drawing/2014/main" id="{D59735E0-7504-7A8D-EF92-EEB2DEFE25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62487" y="299420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z="1400" b="1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pPr/>
              <a:t>17</a:t>
            </a:fld>
            <a:endParaRPr lang="en-US" sz="14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D8A98425-E80D-E2E4-D1C5-23D4BFA307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9275" y="1823523"/>
            <a:ext cx="8010085" cy="455249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5A0F647-5DCC-9369-B195-3DBD957974A3}"/>
              </a:ext>
            </a:extLst>
          </p:cNvPr>
          <p:cNvSpPr txBox="1"/>
          <p:nvPr/>
        </p:nvSpPr>
        <p:spPr>
          <a:xfrm>
            <a:off x="625201" y="1351306"/>
            <a:ext cx="80772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Click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  <a:hlinkClick r:id="rId3"/>
              </a:rPr>
              <a:t>CH1_LLM_Fundamentals with 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  <a:hlinkClick r:id="rId3"/>
              </a:rPr>
              <a:t>LangChain.ipynb</a:t>
            </a: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4463222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26AC63-80D2-80FB-8CC0-814D61C053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BA3E4AB-C965-FD93-800F-83BC62810B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199" y="1164324"/>
            <a:ext cx="10934701" cy="2387600"/>
          </a:xfrm>
        </p:spPr>
        <p:txBody>
          <a:bodyPr rtlCol="0" anchor="ctr" anchorCtr="0">
            <a:normAutofit/>
          </a:bodyPr>
          <a:lstStyle/>
          <a:p>
            <a:r>
              <a:rPr lang="en-US" altLang="ko-KR" sz="44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Streamlit</a:t>
            </a:r>
            <a:endParaRPr lang="ko-KR" altLang="en-US" sz="44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5009839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B61A5D-45D1-76DA-1582-BFFDE0959A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26305A66-687B-0880-E4A0-AA5A9279669E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endParaRPr lang="en-US" altLang="ko-KR" sz="2800" b="1" cap="none" dirty="0">
              <a:latin typeface="Lora" pitchFamily="2" charset="0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A30CF0C3-82F6-EBEB-B6A0-D1260D2BADA2}"/>
              </a:ext>
            </a:extLst>
          </p:cNvPr>
          <p:cNvSpPr txBox="1">
            <a:spLocks/>
          </p:cNvSpPr>
          <p:nvPr/>
        </p:nvSpPr>
        <p:spPr>
          <a:xfrm>
            <a:off x="625201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latin typeface="D2Coding" panose="020B0609020101020101" pitchFamily="49" charset="-127"/>
                <a:ea typeface="D2Coding" panose="020B0609020101020101" pitchFamily="49" charset="-127"/>
              </a:rPr>
              <a:t>Dive into </a:t>
            </a:r>
            <a:r>
              <a:rPr lang="en-US" altLang="ko-KR" sz="2800" cap="none" dirty="0" err="1">
                <a:latin typeface="D2Coding" panose="020B0609020101020101" pitchFamily="49" charset="-127"/>
                <a:ea typeface="D2Coding" panose="020B0609020101020101" pitchFamily="49" charset="-127"/>
              </a:rPr>
              <a:t>Streamlit</a:t>
            </a:r>
            <a:endParaRPr lang="en-US" altLang="ko-KR" sz="2800" cap="none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5" name="슬라이드 번호 개체 틀 3">
            <a:extLst>
              <a:ext uri="{FF2B5EF4-FFF2-40B4-BE49-F238E27FC236}">
                <a16:creationId xmlns:a16="http://schemas.microsoft.com/office/drawing/2014/main" id="{CC1A80A2-C271-7EC7-37D2-345111662E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62487" y="299420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z="1400" b="1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pPr/>
              <a:t>19</a:t>
            </a:fld>
            <a:endParaRPr lang="en-US" sz="14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44FF98F8-BFC2-6F3D-B8B1-5AF358FEF0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0364" y="1842839"/>
            <a:ext cx="5544324" cy="3553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809915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B4B695-C5A6-9AAF-EC0E-1B82FAA39A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7050D754-89EF-10CC-3E80-B153678EBC73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endParaRPr lang="en-US" altLang="ko-KR" sz="2800" b="1" cap="none" dirty="0">
              <a:latin typeface="Lora" pitchFamily="2" charset="0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49B1E185-1C34-4880-DB3B-32881A72E16F}"/>
              </a:ext>
            </a:extLst>
          </p:cNvPr>
          <p:cNvSpPr txBox="1">
            <a:spLocks/>
          </p:cNvSpPr>
          <p:nvPr/>
        </p:nvSpPr>
        <p:spPr>
          <a:xfrm>
            <a:off x="625201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latin typeface="D2Coding" panose="020B0609020101020101" pitchFamily="49" charset="-127"/>
                <a:ea typeface="D2Coding" panose="020B0609020101020101" pitchFamily="49" charset="-127"/>
              </a:rPr>
              <a:t>Dive into </a:t>
            </a:r>
            <a:r>
              <a:rPr lang="en-US" altLang="ko-KR" sz="2800" cap="none" dirty="0" err="1">
                <a:latin typeface="D2Coding" panose="020B0609020101020101" pitchFamily="49" charset="-127"/>
                <a:ea typeface="D2Coding" panose="020B0609020101020101" pitchFamily="49" charset="-127"/>
              </a:rPr>
              <a:t>Streamlit</a:t>
            </a:r>
            <a:endParaRPr lang="en-US" altLang="ko-KR" sz="2800" cap="none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5" name="슬라이드 번호 개체 틀 3">
            <a:extLst>
              <a:ext uri="{FF2B5EF4-FFF2-40B4-BE49-F238E27FC236}">
                <a16:creationId xmlns:a16="http://schemas.microsoft.com/office/drawing/2014/main" id="{D073BAF8-6B9C-38E4-EDDE-D59E653DBE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62487" y="299420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z="1400" b="1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pPr/>
              <a:t>20</a:t>
            </a:fld>
            <a:endParaRPr lang="en-US" sz="14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F1D0427C-FF59-99DB-C0A2-684B4ED9AC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0725" y="1401675"/>
            <a:ext cx="8677990" cy="4693857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5112DD95-F59E-AB5F-F5BC-682A63FC0A7B}"/>
              </a:ext>
            </a:extLst>
          </p:cNvPr>
          <p:cNvSpPr txBox="1"/>
          <p:nvPr/>
        </p:nvSpPr>
        <p:spPr>
          <a:xfrm>
            <a:off x="1990725" y="6222128"/>
            <a:ext cx="6096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hlinkClick r:id="rId3"/>
              </a:rPr>
              <a:t>https://streamlit.io/playground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18125571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6D15CC-4902-9022-0614-9D3ECB03D7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B80ED68-815F-6A96-7125-1FDFD5CA93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199" y="1164324"/>
            <a:ext cx="10934701" cy="2387600"/>
          </a:xfrm>
        </p:spPr>
        <p:txBody>
          <a:bodyPr rtlCol="0" anchor="ctr" anchorCtr="0">
            <a:normAutofit/>
          </a:bodyPr>
          <a:lstStyle/>
          <a:p>
            <a:r>
              <a:rPr lang="en-US" altLang="ko-KR" sz="44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Streamlit</a:t>
            </a:r>
            <a:endParaRPr lang="ko-KR" altLang="en-US" sz="44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8862772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10C06D-91AB-81CF-C256-100507EF69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068A0DE-3A3E-3FBF-A5FA-B56B5F0F09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199" y="1164324"/>
            <a:ext cx="10934701" cy="2387600"/>
          </a:xfrm>
        </p:spPr>
        <p:txBody>
          <a:bodyPr rtlCol="0" anchor="ctr" anchorCtr="0">
            <a:normAutofit/>
          </a:bodyPr>
          <a:lstStyle/>
          <a:p>
            <a:r>
              <a:rPr lang="en-US" altLang="ko-KR" sz="44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Streamlit</a:t>
            </a:r>
            <a:endParaRPr lang="ko-KR" altLang="en-US" sz="44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75292893"/>
      </p:ext>
    </p:extLst>
  </p:cSld>
  <p:clrMapOvr>
    <a:masterClrMapping/>
  </p:clrMapOvr>
</p:sld>
</file>

<file path=ppt/theme/theme1.xml><?xml version="1.0" encoding="utf-8"?>
<a:theme xmlns:a="http://schemas.openxmlformats.org/drawingml/2006/main" name="WelcomeDoc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Segoe UI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60957323_TF10001108_Win32.potx" id="{89E2DA47-811B-41FC-8101-7BA0FB62AE2C}" vid="{0AAAB8A4-2457-4279-BA92-56392840B1F0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{9FD8D820-F221-4C2D-97F8-71B66FDCF583}TF2989475c-5427-4edb-9ec1-00f4ce72165be756b0ce_win32-2ff1dad8fff0</Template>
  <TotalTime>13399</TotalTime>
  <Words>494</Words>
  <Application>Microsoft Office PowerPoint</Application>
  <PresentationFormat>와이드스크린</PresentationFormat>
  <Paragraphs>83</Paragraphs>
  <Slides>22</Slides>
  <Notes>6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22</vt:i4>
      </vt:variant>
    </vt:vector>
  </HeadingPairs>
  <TitlesOfParts>
    <vt:vector size="30" baseType="lpstr">
      <vt:lpstr>D2Coding</vt:lpstr>
      <vt:lpstr>맑은 고딕</vt:lpstr>
      <vt:lpstr>바탕</vt:lpstr>
      <vt:lpstr>Arial</vt:lpstr>
      <vt:lpstr>Lora</vt:lpstr>
      <vt:lpstr>Times New Roman</vt:lpstr>
      <vt:lpstr>Wingdings</vt:lpstr>
      <vt:lpstr>WelcomeDoc</vt:lpstr>
      <vt:lpstr>CHAPERT 1 LLM Fundamentals with LangChain</vt:lpstr>
      <vt:lpstr>PowerPoint 프레젠테이션</vt:lpstr>
      <vt:lpstr>Getting started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Langchain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Streamlit</vt:lpstr>
      <vt:lpstr>PowerPoint 프레젠테이션</vt:lpstr>
      <vt:lpstr>PowerPoint 프레젠테이션</vt:lpstr>
      <vt:lpstr>Streamlit</vt:lpstr>
      <vt:lpstr>Streamlit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조상구</dc:creator>
  <cp:keywords/>
  <cp:lastModifiedBy>Sanggoo Cho</cp:lastModifiedBy>
  <cp:revision>199</cp:revision>
  <dcterms:created xsi:type="dcterms:W3CDTF">2026-04-06T01:00:39Z</dcterms:created>
  <dcterms:modified xsi:type="dcterms:W3CDTF">2026-10-14T23:48:03Z</dcterms:modified>
  <cp:version/>
</cp:coreProperties>
</file>