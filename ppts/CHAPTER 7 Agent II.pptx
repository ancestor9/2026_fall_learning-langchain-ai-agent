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1136" r:id="rId3"/>
    <p:sldId id="1140" r:id="rId4"/>
    <p:sldId id="1141" r:id="rId5"/>
    <p:sldId id="1142" r:id="rId6"/>
    <p:sldId id="1143" r:id="rId7"/>
    <p:sldId id="1147" r:id="rId8"/>
    <p:sldId id="1146" r:id="rId9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0"/>
            <p14:sldId id="1141"/>
            <p14:sldId id="1142"/>
            <p14:sldId id="1143"/>
            <p14:sldId id="1147"/>
            <p14:sldId id="1146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2026-08-20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2026-08-20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2026-08-20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2026-08-20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7251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CHAPTER 7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Agent II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8ECA06-2FF9-E6E3-052C-37BEE3C24BCE}"/>
              </a:ext>
            </a:extLst>
          </p:cNvPr>
          <p:cNvSpPr txBox="1"/>
          <p:nvPr/>
        </p:nvSpPr>
        <p:spPr>
          <a:xfrm>
            <a:off x="2015614" y="1800907"/>
            <a:ext cx="9052436" cy="35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Reflection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Subgraphs in LangGraph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Calling a Subgraph Directly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Calling a Subgraph Directly with a Function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Multi-Agent Architectures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Supervisor Architecture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AADB-16FD-D031-093A-078B9B45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13C64-8E36-4C85-8182-010E8425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3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FF27C86-F5A7-56AC-6B7D-6AB573A8361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Introduction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99C983-3AE2-FB06-9FF3-84FA954B9DDD}"/>
              </a:ext>
            </a:extLst>
          </p:cNvPr>
          <p:cNvSpPr txBox="1"/>
          <p:nvPr/>
        </p:nvSpPr>
        <p:spPr>
          <a:xfrm>
            <a:off x="580103" y="1364872"/>
            <a:ext cx="10964802" cy="171181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6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장까지는 생각의 사슬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(Chain-of-Thought)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프롬프팅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도구 사용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(Tool Use),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그리고 루프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(Looping)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가 결합된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Agent LLM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54682-C7AD-225B-EF9A-55F8C5306C86}"/>
              </a:ext>
            </a:extLst>
          </p:cNvPr>
          <p:cNvSpPr txBox="1"/>
          <p:nvPr/>
        </p:nvSpPr>
        <p:spPr>
          <a:xfrm>
            <a:off x="5005921" y="1901669"/>
            <a:ext cx="60811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지시를 받음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어떻게 해결할지 단계별로 계획 수립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필요한 도구를 사용 (Tool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결과가 마음에 안 들거나 추가 작업 필요하면 다시 시도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Looping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완벽한 최종 정답을 완성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CA0F24-549B-EF8A-35F7-D49D06374502}"/>
              </a:ext>
            </a:extLst>
          </p:cNvPr>
          <p:cNvSpPr txBox="1"/>
          <p:nvPr/>
        </p:nvSpPr>
        <p:spPr>
          <a:xfrm>
            <a:off x="580103" y="4288005"/>
            <a:ext cx="10964802" cy="199349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성찰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(Reflection)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인간의 사고방식 패턴에서 착안한 기술로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앱이 지난 반복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(iteration)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과정에서 얻은 성찰 내용을 기억하는 능력과 함께 자신의 과거 출력물과 선택을 스스로 분석할 수 있는 기회를 제공하는 것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멀티 에이전트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(Multi-agent)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여러 개의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에이전트로 구성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웹 검색 에이전트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작성 에이전트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보안 검수 에이전트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화살표: 줄무늬가 있는 오른쪽 9">
            <a:extLst>
              <a:ext uri="{FF2B5EF4-FFF2-40B4-BE49-F238E27FC236}">
                <a16:creationId xmlns:a16="http://schemas.microsoft.com/office/drawing/2014/main" id="{4294F5F3-9AA5-E4FD-DCF3-C7832499662C}"/>
              </a:ext>
            </a:extLst>
          </p:cNvPr>
          <p:cNvSpPr/>
          <p:nvPr/>
        </p:nvSpPr>
        <p:spPr>
          <a:xfrm rot="5400000">
            <a:off x="5262562" y="2916078"/>
            <a:ext cx="723900" cy="1457324"/>
          </a:xfrm>
          <a:prstGeom prst="stripedRightArrow">
            <a:avLst>
              <a:gd name="adj1" fmla="val 69565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82EFC6-0059-C6D2-97DF-471E260DB526}"/>
              </a:ext>
            </a:extLst>
          </p:cNvPr>
          <p:cNvSpPr txBox="1"/>
          <p:nvPr/>
        </p:nvSpPr>
        <p:spPr>
          <a:xfrm>
            <a:off x="5114924" y="3383130"/>
            <a:ext cx="10191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고급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확장 </a:t>
            </a: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패턴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685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B2C74-24B3-F6FB-B8DB-8D3C84854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F32D23-EFFC-CF46-6F25-9AF0F8DD1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4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D8A2CCB-7D3D-8F4A-5ED1-BE78D9A36A0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Reflection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D9FA60-29FA-3421-B67E-1A3192A0B683}"/>
              </a:ext>
            </a:extLst>
          </p:cNvPr>
          <p:cNvSpPr txBox="1"/>
          <p:nvPr/>
        </p:nvSpPr>
        <p:spPr>
          <a:xfrm>
            <a:off x="589022" y="1210322"/>
            <a:ext cx="10964802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생성자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(Creator)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프롬프트와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수정자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(Reviser)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 사이에 하나의 루프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(Loop)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형성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즉 곱씹어 보면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(Reflection) System 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향상이 가능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75CC84F-D0E2-7108-BB47-983FC59FF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957" y="2274488"/>
            <a:ext cx="4042600" cy="38390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7847623-4FC4-310E-5EE2-DAA808EF245D}"/>
              </a:ext>
            </a:extLst>
          </p:cNvPr>
          <p:cNvSpPr txBox="1"/>
          <p:nvPr/>
        </p:nvSpPr>
        <p:spPr>
          <a:xfrm>
            <a:off x="1386334" y="6113554"/>
            <a:ext cx="43618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대니얼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카너먼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(Daniel Kahneman)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두 가지 사고 체계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(Dual-Process Theory)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AD549B-A879-1FFC-5CB0-C94E4E278CE3}"/>
              </a:ext>
            </a:extLst>
          </p:cNvPr>
          <p:cNvSpPr/>
          <p:nvPr/>
        </p:nvSpPr>
        <p:spPr>
          <a:xfrm>
            <a:off x="7153275" y="2681265"/>
            <a:ext cx="2343149" cy="5530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노드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(초안 작성 및 수정)  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722FF95-5549-37B5-A7C8-6556468C0DCA}"/>
              </a:ext>
            </a:extLst>
          </p:cNvPr>
          <p:cNvSpPr/>
          <p:nvPr/>
        </p:nvSpPr>
        <p:spPr>
          <a:xfrm>
            <a:off x="7153275" y="4952353"/>
            <a:ext cx="2343149" cy="5530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reflect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노드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(비판 및 개선안 작성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D6BB944F-D5BF-A716-F67E-E3B441DD606C}"/>
              </a:ext>
            </a:extLst>
          </p:cNvPr>
          <p:cNvCxnSpPr>
            <a:cxnSpLocks/>
            <a:stCxn id="17" idx="3"/>
            <a:endCxn id="16" idx="3"/>
          </p:cNvCxnSpPr>
          <p:nvPr/>
        </p:nvCxnSpPr>
        <p:spPr>
          <a:xfrm flipV="1">
            <a:off x="9496424" y="2957814"/>
            <a:ext cx="12700" cy="2271088"/>
          </a:xfrm>
          <a:prstGeom prst="bentConnector3">
            <a:avLst>
              <a:gd name="adj1" fmla="val 58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D226CFB-7E8B-2497-2699-0D0A6F1BAE1F}"/>
              </a:ext>
            </a:extLst>
          </p:cNvPr>
          <p:cNvSpPr txBox="1"/>
          <p:nvPr/>
        </p:nvSpPr>
        <p:spPr>
          <a:xfrm>
            <a:off x="9397445" y="3981311"/>
            <a:ext cx="1663699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Feedback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전달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3EEEABC-76E5-906A-97D3-4B7BB9486F1F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8324850" y="3234362"/>
            <a:ext cx="0" cy="1717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02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B4BC3-C7D9-3938-8E29-F22F89EBC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2D5A25-775A-FAC1-4BCB-2A1B53AC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5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A3DA2B5-BCCE-BE7C-DF16-F1FD52B1111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Reflection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CBC83F-2172-96F8-9F18-7B665B20A310}"/>
              </a:ext>
            </a:extLst>
          </p:cNvPr>
          <p:cNvSpPr txBox="1"/>
          <p:nvPr/>
        </p:nvSpPr>
        <p:spPr>
          <a:xfrm>
            <a:off x="580103" y="1231522"/>
            <a:ext cx="10964802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특히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Llama 3, ChatGPT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RLHF(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인간 피드백 기반 강화학습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과정에서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Human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 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 Human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 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턴 주고받기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(Turn-taking)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구조로 미세조정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(Fine-tuning)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되어 있기 때문에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reflect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노드가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속여 사용자가 작성한 에세이를 비판하고 있다고 믿게 만드는 방식이 핵심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4363D3-4E8A-9CD4-7BBF-E0CEF5B69DC7}"/>
              </a:ext>
            </a:extLst>
          </p:cNvPr>
          <p:cNvSpPr txBox="1"/>
          <p:nvPr/>
        </p:nvSpPr>
        <p:spPr>
          <a:xfrm>
            <a:off x="3914774" y="3138158"/>
            <a:ext cx="7772401" cy="289310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def reflect(state: State) -&gt; State: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메시지 타입을 서로 뒤바꾸는 맵핑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cls_map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AIMessage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AIMessage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첫 메시지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원래 질문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는 유지하고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이후 대화 내역의 역할을 반전시킴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translated = [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reflection_prompt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state["messages"][0]] + [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cls_map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msg.__class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__](content=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msg.content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for msg in state["messages"][1:]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]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answer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model.invoke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(translated)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생성된 피드백을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포장하여 반환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return {"messages": [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HumanMessage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(content=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answer.content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)]}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FBC095A-8968-B438-8FAC-AE349E849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37" y="3132394"/>
            <a:ext cx="2975725" cy="25603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D460FC6-CE68-8C7D-205F-6A0E6082BAF1}"/>
              </a:ext>
            </a:extLst>
          </p:cNvPr>
          <p:cNvSpPr txBox="1"/>
          <p:nvPr/>
        </p:nvSpPr>
        <p:spPr>
          <a:xfrm>
            <a:off x="798137" y="5692704"/>
            <a:ext cx="29757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The reflection architecture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6152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453A-6059-3262-2F09-94AED3D5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5F5A92-F3D1-2D53-87EE-54A5B352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6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F12E9A6-56EB-A22B-01A3-52682F6DB98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Subgraphs in LangGraph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3D53B3-BAEC-D9FC-9C0D-905EADF709CD}"/>
              </a:ext>
            </a:extLst>
          </p:cNvPr>
          <p:cNvSpPr txBox="1"/>
          <p:nvPr/>
        </p:nvSpPr>
        <p:spPr>
          <a:xfrm>
            <a:off x="6829425" y="664625"/>
            <a:ext cx="4715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Calling a Subgraph Directly</a:t>
            </a:r>
            <a:endParaRPr lang="ko-KR" alt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21A467-D5DC-B33E-DB17-686510A53BED}"/>
              </a:ext>
            </a:extLst>
          </p:cNvPr>
          <p:cNvSpPr txBox="1"/>
          <p:nvPr/>
        </p:nvSpPr>
        <p:spPr>
          <a:xfrm>
            <a:off x="580103" y="1364872"/>
            <a:ext cx="10964802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///////</a:t>
            </a:r>
          </a:p>
        </p:txBody>
      </p:sp>
    </p:spTree>
    <p:extLst>
      <p:ext uri="{BB962C8B-B14F-4D97-AF65-F5344CB8AC3E}">
        <p14:creationId xmlns:p14="http://schemas.microsoft.com/office/powerpoint/2010/main" val="56986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592A0-630C-6330-7E13-F83EA75B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B41FE1-F96C-2AF1-A681-8463B6E0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7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C05B63A-8A07-7FE1-0E60-8C0EA877E3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Subgraphs in LangGraph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83AF08-C761-6B03-C6D0-961DDD770495}"/>
              </a:ext>
            </a:extLst>
          </p:cNvPr>
          <p:cNvSpPr txBox="1"/>
          <p:nvPr/>
        </p:nvSpPr>
        <p:spPr>
          <a:xfrm>
            <a:off x="5657850" y="664625"/>
            <a:ext cx="58870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Calling a Subgraph Directly with a Function</a:t>
            </a:r>
          </a:p>
          <a:p>
            <a:pPr algn="r"/>
            <a:endParaRPr lang="ko-KR" alt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AA8BC4-487F-982C-0AF4-AB905DD8C649}"/>
              </a:ext>
            </a:extLst>
          </p:cNvPr>
          <p:cNvSpPr txBox="1"/>
          <p:nvPr/>
        </p:nvSpPr>
        <p:spPr>
          <a:xfrm>
            <a:off x="580103" y="1364872"/>
            <a:ext cx="10964802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///////</a:t>
            </a:r>
          </a:p>
        </p:txBody>
      </p:sp>
    </p:spTree>
    <p:extLst>
      <p:ext uri="{BB962C8B-B14F-4D97-AF65-F5344CB8AC3E}">
        <p14:creationId xmlns:p14="http://schemas.microsoft.com/office/powerpoint/2010/main" val="2745009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90CA7-7C61-0E97-1600-14B4BB1C6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6124DE-E9E7-B5AA-0551-539E34B3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7052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w Cen MT" panose="020B0602020104020603" pitchFamily="34" charset="0"/>
              </a:rPr>
              <a:pPr/>
              <a:t>8</a:t>
            </a:fld>
            <a:endParaRPr lang="en-US" sz="1400" b="1" dirty="0">
              <a:latin typeface="Tw Cen MT" panose="020B06020201040206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82E73E3-3913-7AB0-D29A-7B5E6417BE5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Multi-Agent Architectures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E0DEAF-CEB1-BE51-2231-0906D2707D31}"/>
              </a:ext>
            </a:extLst>
          </p:cNvPr>
          <p:cNvSpPr txBox="1"/>
          <p:nvPr/>
        </p:nvSpPr>
        <p:spPr>
          <a:xfrm>
            <a:off x="7944455" y="640901"/>
            <a:ext cx="3600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Supervisor Architecture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98F160-13DA-291B-B1CF-2617195E30B0}"/>
              </a:ext>
            </a:extLst>
          </p:cNvPr>
          <p:cNvSpPr txBox="1"/>
          <p:nvPr/>
        </p:nvSpPr>
        <p:spPr>
          <a:xfrm>
            <a:off x="580103" y="1364872"/>
            <a:ext cx="10964802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///////</a:t>
            </a:r>
          </a:p>
        </p:txBody>
      </p:sp>
    </p:spTree>
    <p:extLst>
      <p:ext uri="{BB962C8B-B14F-4D97-AF65-F5344CB8AC3E}">
        <p14:creationId xmlns:p14="http://schemas.microsoft.com/office/powerpoint/2010/main" val="1955051900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17265</TotalTime>
  <Words>432</Words>
  <Application>Microsoft Office PowerPoint</Application>
  <PresentationFormat>와이드스크린</PresentationFormat>
  <Paragraphs>65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D2Coding</vt:lpstr>
      <vt:lpstr>맑은 고딕</vt:lpstr>
      <vt:lpstr>Batang</vt:lpstr>
      <vt:lpstr>Arial</vt:lpstr>
      <vt:lpstr>Tw Cen MT</vt:lpstr>
      <vt:lpstr>Wingdings</vt:lpstr>
      <vt:lpstr>WelcomeDoc</vt:lpstr>
      <vt:lpstr>CHAPTER 7 Agent II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242</cp:revision>
  <dcterms:created xsi:type="dcterms:W3CDTF">2026-04-06T01:00:39Z</dcterms:created>
  <dcterms:modified xsi:type="dcterms:W3CDTF">2026-08-20T13:26:23Z</dcterms:modified>
  <cp:version/>
</cp:coreProperties>
</file>