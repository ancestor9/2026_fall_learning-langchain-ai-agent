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6"/>
  </p:notesMasterIdLst>
  <p:handoutMasterIdLst>
    <p:handoutMasterId r:id="rId17"/>
  </p:handoutMasterIdLst>
  <p:sldIdLst>
    <p:sldId id="256" r:id="rId2"/>
    <p:sldId id="1136" r:id="rId3"/>
    <p:sldId id="1140" r:id="rId4"/>
    <p:sldId id="1160" r:id="rId5"/>
    <p:sldId id="1164" r:id="rId6"/>
    <p:sldId id="1162" r:id="rId7"/>
    <p:sldId id="1161" r:id="rId8"/>
    <p:sldId id="1163" r:id="rId9"/>
    <p:sldId id="1165" r:id="rId10"/>
    <p:sldId id="1168" r:id="rId11"/>
    <p:sldId id="1170" r:id="rId12"/>
    <p:sldId id="1166" r:id="rId13"/>
    <p:sldId id="1171" r:id="rId14"/>
    <p:sldId id="1172" r:id="rId15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36"/>
            <p14:sldId id="1140"/>
            <p14:sldId id="1160"/>
            <p14:sldId id="1164"/>
            <p14:sldId id="1162"/>
            <p14:sldId id="1161"/>
            <p14:sldId id="1163"/>
            <p14:sldId id="1165"/>
            <p14:sldId id="1168"/>
            <p14:sldId id="1170"/>
            <p14:sldId id="1166"/>
            <p14:sldId id="1171"/>
            <p14:sldId id="1172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FF9B45"/>
    <a:srgbClr val="DD462F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505E3EF-67EA-436B-97B2-0124C06EBD24}" styleName="보통 스타일 4 - 강조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3062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874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commentAuthors" Target="commentAuthors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2026-07-20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2026-07-20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2026-07-20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7/20/2026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2026-07-20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72515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CHAPTER 6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Agent Architecture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EDBDF-4942-26B7-ECF8-D411863DF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32F42C0-07C8-1960-872A-C341FE529F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83E9E23-F77D-44D2-EB8C-9981740FAE8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Contents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D8ECA06-2FF9-E6E3-052C-37BEE3C24BCE}"/>
              </a:ext>
            </a:extLst>
          </p:cNvPr>
          <p:cNvSpPr txBox="1"/>
          <p:nvPr/>
        </p:nvSpPr>
        <p:spPr>
          <a:xfrm>
            <a:off x="2015614" y="1800907"/>
            <a:ext cx="6096000" cy="36828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Agent Architecture</a:t>
            </a:r>
          </a:p>
          <a:p>
            <a:pPr marL="457200" indent="-4572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The Plan-Do Loop </a:t>
            </a:r>
          </a:p>
          <a:p>
            <a:pPr marL="457200" indent="-4572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Building a LangGraph Agent</a:t>
            </a:r>
          </a:p>
          <a:p>
            <a:pPr marL="457200" indent="-4572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Always Calling a Tool First</a:t>
            </a:r>
          </a:p>
          <a:p>
            <a:pPr marL="457200" indent="-4572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Dealing with Many Tools</a:t>
            </a:r>
            <a:endParaRPr lang="ko-KR" altLang="en-US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270702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06AADB-16FD-D031-093A-078B9B45A5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3513C64-8E36-4C85-8182-010E8425C5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77052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w Cen MT" panose="020B0602020104020603" pitchFamily="34" charset="0"/>
              </a:rPr>
              <a:pPr/>
              <a:t>3</a:t>
            </a:fld>
            <a:endParaRPr lang="en-US" sz="1400" b="1" dirty="0">
              <a:latin typeface="Tw Cen MT" panose="020B0602020104020603" pitchFamily="34" charset="0"/>
            </a:endParaRP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FF27C86-F5A7-56AC-6B7D-6AB573A8361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Agent Architecture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A94AEEC-7671-7074-0C70-D4A519DF4CCC}"/>
              </a:ext>
            </a:extLst>
          </p:cNvPr>
          <p:cNvSpPr txBox="1"/>
          <p:nvPr/>
        </p:nvSpPr>
        <p:spPr>
          <a:xfrm>
            <a:off x="7944455" y="640901"/>
            <a:ext cx="360045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/>
              <a:t>Agent</a:t>
            </a:r>
            <a:endParaRPr lang="ko-KR" altLang="en-US" sz="2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499C983-3AE2-FB06-9FF3-84FA954B9DDD}"/>
              </a:ext>
            </a:extLst>
          </p:cNvPr>
          <p:cNvSpPr txBox="1"/>
          <p:nvPr/>
        </p:nvSpPr>
        <p:spPr>
          <a:xfrm>
            <a:off x="580103" y="1364872"/>
            <a:ext cx="10964802" cy="4238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Agent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행동하는 무언가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(something that acts)”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다음과 같이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가지 구성요건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graphicFrame>
        <p:nvGraphicFramePr>
          <p:cNvPr id="26" name="표 25">
            <a:extLst>
              <a:ext uri="{FF2B5EF4-FFF2-40B4-BE49-F238E27FC236}">
                <a16:creationId xmlns:a16="http://schemas.microsoft.com/office/drawing/2014/main" id="{231E9840-CADA-0EE2-4D6F-4FEFF0912A8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2480419"/>
              </p:ext>
            </p:extLst>
          </p:nvPr>
        </p:nvGraphicFramePr>
        <p:xfrm>
          <a:off x="1254075" y="1990735"/>
          <a:ext cx="9474299" cy="2185208"/>
        </p:xfrm>
        <a:graphic>
          <a:graphicData uri="http://schemas.openxmlformats.org/drawingml/2006/table">
            <a:tbl>
              <a:tblPr/>
              <a:tblGrid>
                <a:gridCol w="1923125">
                  <a:extLst>
                    <a:ext uri="{9D8B030D-6E8A-4147-A177-3AD203B41FA5}">
                      <a16:colId xmlns:a16="http://schemas.microsoft.com/office/drawing/2014/main" val="482231399"/>
                    </a:ext>
                  </a:extLst>
                </a:gridCol>
                <a:gridCol w="1917290">
                  <a:extLst>
                    <a:ext uri="{9D8B030D-6E8A-4147-A177-3AD203B41FA5}">
                      <a16:colId xmlns:a16="http://schemas.microsoft.com/office/drawing/2014/main" val="1007456899"/>
                    </a:ext>
                  </a:extLst>
                </a:gridCol>
                <a:gridCol w="5633884">
                  <a:extLst>
                    <a:ext uri="{9D8B030D-6E8A-4147-A177-3AD203B41FA5}">
                      <a16:colId xmlns:a16="http://schemas.microsoft.com/office/drawing/2014/main" val="2149715898"/>
                    </a:ext>
                  </a:extLst>
                </a:gridCol>
              </a:tblGrid>
              <a:tr h="403097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구성 요건</a:t>
                      </a:r>
                    </a:p>
                  </a:txBody>
                  <a:tcPr marL="19456" marR="19456" marT="12970" marB="129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의미</a:t>
                      </a:r>
                    </a:p>
                  </a:txBody>
                  <a:tcPr marL="19456" marR="19456" marT="12970" marB="1297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LLM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에서의 실제 구현 방식</a:t>
                      </a:r>
                    </a:p>
                  </a:txBody>
                  <a:tcPr marL="19456" marR="19456" marT="12970" marB="1297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5114219"/>
                  </a:ext>
                </a:extLst>
              </a:tr>
              <a:tr h="594037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1. 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의사결정 능력</a:t>
                      </a:r>
                    </a:p>
                  </a:txBody>
                  <a:tcPr marL="19456" marR="19456" marT="12970" marB="129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무엇을 할지 판단</a:t>
                      </a:r>
                    </a:p>
                  </a:txBody>
                  <a:tcPr marL="19456" marR="19456" marT="12970" marB="1297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LLM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의 추론 및 판단 능력 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(Reasoning)</a:t>
                      </a:r>
                    </a:p>
                  </a:txBody>
                  <a:tcPr marL="19456" marR="19456" marT="12970" marB="1297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5913207"/>
                  </a:ext>
                </a:extLst>
              </a:tr>
              <a:tr h="594037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2. </a:t>
                      </a: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복수의 선택지</a:t>
                      </a:r>
                    </a:p>
                  </a:txBody>
                  <a:tcPr marL="19456" marR="19456" marT="12970" marB="129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복수의 선택 대안</a:t>
                      </a:r>
                    </a:p>
                  </a:txBody>
                  <a:tcPr marL="19456" marR="19456" marT="12970" marB="1297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제공된 다양한 도구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/API 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목록 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예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: 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검색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계산기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DB 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조회 등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9456" marR="19456" marT="12970" marB="1297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31709781"/>
                  </a:ext>
                </a:extLst>
              </a:tr>
              <a:tr h="594037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3. 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외부 환경 정보</a:t>
                      </a:r>
                    </a:p>
                  </a:txBody>
                  <a:tcPr marL="19456" marR="19456" marT="12970" marB="1297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외부 상황을 인지</a:t>
                      </a:r>
                    </a:p>
                  </a:txBody>
                  <a:tcPr marL="19456" marR="19456" marT="12970" marB="1297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사용자 입력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외부 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API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의 반환 값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검색 결과 등의 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Context</a:t>
                      </a:r>
                    </a:p>
                  </a:txBody>
                  <a:tcPr marL="19456" marR="19456" marT="12970" marB="1297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28165085"/>
                  </a:ext>
                </a:extLst>
              </a:tr>
            </a:tbl>
          </a:graphicData>
        </a:graphic>
      </p:graphicFrame>
      <p:sp>
        <p:nvSpPr>
          <p:cNvPr id="29" name="TextBox 28">
            <a:extLst>
              <a:ext uri="{FF2B5EF4-FFF2-40B4-BE49-F238E27FC236}">
                <a16:creationId xmlns:a16="http://schemas.microsoft.com/office/drawing/2014/main" id="{A37EBA65-A921-094B-0F02-014CF01E54E9}"/>
              </a:ext>
            </a:extLst>
          </p:cNvPr>
          <p:cNvSpPr txBox="1"/>
          <p:nvPr/>
        </p:nvSpPr>
        <p:spPr>
          <a:xfrm>
            <a:off x="580103" y="4635147"/>
            <a:ext cx="10478422" cy="14443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 에이전트: 목표를 달성하기 위해 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[상태 파악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]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[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판단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]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[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도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구 선택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]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[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실행]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과정을 거쳐 실질적인 행동(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)을 수행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단순 LLM: 질문을 받으면 학습된 지식이나 입력된 텍스트를 바탕으로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Text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Generation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Summarization, Translation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등을 수행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516850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4C1439-BFB2-9C29-5D1A-F87C55A366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40FDF40-BCD9-1D51-C494-65CD3842A1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77052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w Cen MT" panose="020B0602020104020603" pitchFamily="34" charset="0"/>
              </a:rPr>
              <a:pPr/>
              <a:t>4</a:t>
            </a:fld>
            <a:endParaRPr lang="en-US" sz="1400" b="1" dirty="0">
              <a:latin typeface="Tw Cen MT" panose="020B0602020104020603" pitchFamily="34" charset="0"/>
            </a:endParaRP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BF6DCA4-C1AB-8C88-3CAD-F09225CF973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Agent Architecture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A6F214F-A2E8-EC80-F105-F7079D4E2692}"/>
              </a:ext>
            </a:extLst>
          </p:cNvPr>
          <p:cNvSpPr txBox="1"/>
          <p:nvPr/>
        </p:nvSpPr>
        <p:spPr>
          <a:xfrm>
            <a:off x="7944455" y="640901"/>
            <a:ext cx="360045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/>
              <a:t>Agentic</a:t>
            </a:r>
            <a:r>
              <a:rPr lang="ko-KR" altLang="en-US" sz="2000" dirty="0"/>
              <a:t> </a:t>
            </a:r>
            <a:r>
              <a:rPr lang="en-US" altLang="ko-KR" sz="2000" dirty="0"/>
              <a:t>LLM</a:t>
            </a:r>
            <a:r>
              <a:rPr lang="ko-KR" altLang="en-US" sz="2000" dirty="0"/>
              <a:t> </a:t>
            </a:r>
            <a:r>
              <a:rPr lang="en-US" altLang="ko-KR" sz="2000" dirty="0"/>
              <a:t>Application</a:t>
            </a:r>
            <a:endParaRPr lang="ko-KR" altLang="en-US" sz="20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9D2B2B3-3F98-5766-BC56-9DDFC75210BA}"/>
              </a:ext>
            </a:extLst>
          </p:cNvPr>
          <p:cNvSpPr txBox="1"/>
          <p:nvPr/>
        </p:nvSpPr>
        <p:spPr>
          <a:xfrm>
            <a:off x="580102" y="1757462"/>
            <a:ext cx="10797653" cy="116249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Agentic LLM Application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이란 특정한 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목적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달성하기 위해 현재 상태나 도달하고자 하는 다음 상태에 대한 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맥락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(Context)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주어졌을 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사용해 가능한 복수의 행동을 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선택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하는 애플리케이션으로 아래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가지 핵심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prompt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 기법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필요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A21C360-CC9F-A468-2E73-EFDBA7A5F1EE}"/>
              </a:ext>
            </a:extLst>
          </p:cNvPr>
          <p:cNvSpPr txBox="1"/>
          <p:nvPr/>
        </p:nvSpPr>
        <p:spPr>
          <a:xfrm>
            <a:off x="1828799" y="3429000"/>
            <a:ext cx="9548957" cy="10772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도구 호출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(Tool calling)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프롬프트에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활용할 수 있는 외부 함수 목록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즉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LLM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취하기로 결정할 수 있는 행동들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포함하고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생성하는 출력에서 그 선택을 어떤 형식으로 작성할지 지침을 제공하는 기법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/>
              <a:t>LM </a:t>
            </a:r>
            <a:r>
              <a:rPr lang="ko-KR" altLang="en-US" sz="1400" dirty="0"/>
              <a:t>자체는 텍스트만 생성할 수 있지</a:t>
            </a:r>
            <a:r>
              <a:rPr lang="en-US" altLang="ko-KR" sz="1400" dirty="0"/>
              <a:t>, </a:t>
            </a:r>
            <a:r>
              <a:rPr lang="ko-KR" altLang="en-US" sz="1400" dirty="0"/>
              <a:t>직접 코드를 실행하거나 외부 시스템을 작동시킬 수 없으나</a:t>
            </a:r>
            <a:r>
              <a:rPr lang="en-US" altLang="ko-KR" sz="1400" dirty="0"/>
              <a:t>  </a:t>
            </a:r>
            <a:r>
              <a:rPr lang="ko-KR" altLang="en-US" sz="1400" dirty="0"/>
              <a:t>도구 호출로 현실 세계와 상호작용</a:t>
            </a:r>
            <a:r>
              <a:rPr lang="en-US" altLang="ko-KR" sz="1400" dirty="0"/>
              <a:t>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F7898B-0FB5-6BCC-B777-3C26E57A4C68}"/>
              </a:ext>
            </a:extLst>
          </p:cNvPr>
          <p:cNvSpPr txBox="1"/>
          <p:nvPr/>
        </p:nvSpPr>
        <p:spPr>
          <a:xfrm>
            <a:off x="1828799" y="5015258"/>
            <a:ext cx="9548956" cy="10772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생각의 사슬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(Chain-of-thought)</a:t>
            </a:r>
          </a:p>
          <a:p>
            <a:pPr>
              <a:buNone/>
            </a:pPr>
            <a:endParaRPr lang="en-US" altLang="ko-KR" sz="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에게 복잡한 문제를 순차적으로 수행할 세부 단계로 나누어 추론하도록 지시할 때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더 나은 결정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내린다는 사실을 발견하였고 이는 보통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단계별로 생각하라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(think step by step)"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와 같은 지침을 추가하거나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질문과 이를 여러 단계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행동으로 분해한 예시를 포함하는 방식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왼쪽 대괄호 5">
            <a:extLst>
              <a:ext uri="{FF2B5EF4-FFF2-40B4-BE49-F238E27FC236}">
                <a16:creationId xmlns:a16="http://schemas.microsoft.com/office/drawing/2014/main" id="{C2CA7495-464E-CAD4-BF5E-FA65335F2F54}"/>
              </a:ext>
            </a:extLst>
          </p:cNvPr>
          <p:cNvSpPr/>
          <p:nvPr/>
        </p:nvSpPr>
        <p:spPr>
          <a:xfrm>
            <a:off x="1419224" y="3621885"/>
            <a:ext cx="323851" cy="2197890"/>
          </a:xfrm>
          <a:prstGeom prst="leftBracket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0358B66-A968-1D9A-40C8-728C08A38BD2}"/>
              </a:ext>
            </a:extLst>
          </p:cNvPr>
          <p:cNvSpPr txBox="1"/>
          <p:nvPr/>
        </p:nvSpPr>
        <p:spPr>
          <a:xfrm>
            <a:off x="5978928" y="2919960"/>
            <a:ext cx="5517847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50" dirty="0">
                <a:latin typeface="D2Coding" panose="020B0609020101020101" pitchFamily="49" charset="-127"/>
                <a:ea typeface="D2Coding" panose="020B0609020101020101" pitchFamily="49" charset="-127"/>
              </a:rPr>
              <a:t>최근 </a:t>
            </a:r>
            <a:r>
              <a:rPr lang="en-US" altLang="ko-KR" sz="105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050" dirty="0">
                <a:latin typeface="D2Coding" panose="020B0609020101020101" pitchFamily="49" charset="-127"/>
                <a:ea typeface="D2Coding" panose="020B0609020101020101" pitchFamily="49" charset="-127"/>
              </a:rPr>
              <a:t>은 도구 호출 및 생각의 사슬 애플리케이션에 대한 성능을 향상시키도록 </a:t>
            </a:r>
            <a:r>
              <a:rPr lang="ko-KR" altLang="en-US" sz="105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파인튜닝되어</a:t>
            </a:r>
            <a:r>
              <a:rPr lang="ko-KR" altLang="en-US" sz="1050" dirty="0">
                <a:latin typeface="D2Coding" panose="020B0609020101020101" pitchFamily="49" charset="-127"/>
                <a:ea typeface="D2Coding" panose="020B0609020101020101" pitchFamily="49" charset="-127"/>
              </a:rPr>
              <a:t> 있어</a:t>
            </a:r>
            <a:r>
              <a:rPr lang="en-US" altLang="ko-KR" sz="105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050" dirty="0">
                <a:latin typeface="D2Coding" panose="020B0609020101020101" pitchFamily="49" charset="-127"/>
                <a:ea typeface="D2Coding" panose="020B0609020101020101" pitchFamily="49" charset="-127"/>
              </a:rPr>
              <a:t>프롬프트에 이러한 구체적인 지침을 추가할 필요성이 줄어들었음</a:t>
            </a:r>
          </a:p>
        </p:txBody>
      </p:sp>
    </p:spTree>
    <p:extLst>
      <p:ext uri="{BB962C8B-B14F-4D97-AF65-F5344CB8AC3E}">
        <p14:creationId xmlns:p14="http://schemas.microsoft.com/office/powerpoint/2010/main" val="29472794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A39111-81F7-AF31-A4C9-F8E50341E2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0A09A67-2BB0-72AC-0DF1-6904998C23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77052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w Cen MT" panose="020B0602020104020603" pitchFamily="34" charset="0"/>
              </a:rPr>
              <a:pPr/>
              <a:t>5</a:t>
            </a:fld>
            <a:endParaRPr lang="en-US" sz="1400" b="1" dirty="0">
              <a:latin typeface="Tw Cen MT" panose="020B0602020104020603" pitchFamily="34" charset="0"/>
            </a:endParaRP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40B4B940-7BA0-C272-2158-801D5960217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Agent Architecture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7EEB590-3122-864F-25F7-F4BD76BC0036}"/>
              </a:ext>
            </a:extLst>
          </p:cNvPr>
          <p:cNvSpPr txBox="1"/>
          <p:nvPr/>
        </p:nvSpPr>
        <p:spPr>
          <a:xfrm>
            <a:off x="7944455" y="640901"/>
            <a:ext cx="360045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/>
              <a:t>Pseudocode</a:t>
            </a:r>
            <a:endParaRPr lang="ko-KR" altLang="en-US" sz="2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F670139-5D38-F87C-84E4-D9DFC932737E}"/>
              </a:ext>
            </a:extLst>
          </p:cNvPr>
          <p:cNvSpPr txBox="1"/>
          <p:nvPr/>
        </p:nvSpPr>
        <p:spPr>
          <a:xfrm>
            <a:off x="2047357" y="2370953"/>
            <a:ext cx="9497548" cy="3754874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def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run_static_cot_pipeline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user_query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[1단계] 정보 검색 요청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prompt_1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f"질문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user_query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}\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n단계별로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생각해서 첫 번째 도구를 호출해줘."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action_1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llm.generate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(prompt_1)  # 예: 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search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30th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president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of US"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result_1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execute_tool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(action_1)  # 검색 실행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[2단계] 미리 정해진 순서대로 무조건 계산 도구 단계로 진행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(만약 result_1에서 생년월일을 못 찾았어도 무조건 다음 단계 실행)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prompt_2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"{prompt_1}\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n결과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{result_1}\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n다음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계산 도구를 호출해줘."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action_2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llm.generate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(prompt_2)  # 예: 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calculator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1933 - 1872"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result_2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execute_tool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(action_2)  # 계산 실행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[3단계] 정해진 단계를 마치고 최종 답변 작성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final_prompt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f"계산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결과: {result_2}. 사용자 질문에 최종 답을 해줘."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final_response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llm.generate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final_prompt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final_response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9EEF0DC-A6CA-199F-7DFA-FCB148B8F92E}"/>
              </a:ext>
            </a:extLst>
          </p:cNvPr>
          <p:cNvSpPr txBox="1"/>
          <p:nvPr/>
        </p:nvSpPr>
        <p:spPr>
          <a:xfrm>
            <a:off x="580507" y="1248422"/>
            <a:ext cx="10964398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단순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+ Tool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방식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정적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선형 구조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미리 정해진 단계에 따라 순차적으로 진행하며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중간 결과가 잘못되거나 실패해도 궤도를 수정하지 못하고 고정된 순서대로 실행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188992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DCC85B-0CD6-AFD0-969E-859AD1FE98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31BC020-45B0-AEF7-14A6-46D97DE340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77052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w Cen MT" panose="020B0602020104020603" pitchFamily="34" charset="0"/>
              </a:rPr>
              <a:pPr/>
              <a:t>6</a:t>
            </a:fld>
            <a:endParaRPr lang="en-US" sz="1400" b="1" dirty="0">
              <a:latin typeface="Tw Cen MT" panose="020B0602020104020603" pitchFamily="34" charset="0"/>
            </a:endParaRP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FFFA47C-1D07-8DF8-0EF9-1F72A464BFD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Agent Architecture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A17E66E-E877-EEBA-340A-0F52B0CFA05A}"/>
              </a:ext>
            </a:extLst>
          </p:cNvPr>
          <p:cNvSpPr txBox="1"/>
          <p:nvPr/>
        </p:nvSpPr>
        <p:spPr>
          <a:xfrm>
            <a:off x="7944455" y="640901"/>
            <a:ext cx="360045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/>
              <a:t>Agentic</a:t>
            </a:r>
            <a:r>
              <a:rPr lang="ko-KR" altLang="en-US" sz="2000" dirty="0"/>
              <a:t> </a:t>
            </a:r>
            <a:r>
              <a:rPr lang="en-US" altLang="ko-KR" sz="2000" dirty="0"/>
              <a:t>LLM</a:t>
            </a:r>
            <a:r>
              <a:rPr lang="ko-KR" altLang="en-US" sz="2000" dirty="0"/>
              <a:t> </a:t>
            </a:r>
            <a:r>
              <a:rPr lang="en-US" altLang="ko-KR" sz="2000" dirty="0"/>
              <a:t>Application</a:t>
            </a:r>
            <a:endParaRPr lang="ko-KR" altLang="en-US" sz="2000" dirty="0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93005E75-42DD-948B-3FAC-261BAB01DA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72984209"/>
              </p:ext>
            </p:extLst>
          </p:nvPr>
        </p:nvGraphicFramePr>
        <p:xfrm>
          <a:off x="713466" y="2775929"/>
          <a:ext cx="10868934" cy="3345110"/>
        </p:xfrm>
        <a:graphic>
          <a:graphicData uri="http://schemas.openxmlformats.org/drawingml/2006/table">
            <a:tbl>
              <a:tblPr/>
              <a:tblGrid>
                <a:gridCol w="1819578">
                  <a:extLst>
                    <a:ext uri="{9D8B030D-6E8A-4147-A177-3AD203B41FA5}">
                      <a16:colId xmlns:a16="http://schemas.microsoft.com/office/drawing/2014/main" val="106705609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val="3766817167"/>
                    </a:ext>
                  </a:extLst>
                </a:gridCol>
                <a:gridCol w="4171950">
                  <a:extLst>
                    <a:ext uri="{9D8B030D-6E8A-4147-A177-3AD203B41FA5}">
                      <a16:colId xmlns:a16="http://schemas.microsoft.com/office/drawing/2014/main" val="21987200"/>
                    </a:ext>
                  </a:extLst>
                </a:gridCol>
                <a:gridCol w="3582006">
                  <a:extLst>
                    <a:ext uri="{9D8B030D-6E8A-4147-A177-3AD203B41FA5}">
                      <a16:colId xmlns:a16="http://schemas.microsoft.com/office/drawing/2014/main" val="3828995661"/>
                    </a:ext>
                  </a:extLst>
                </a:gridCol>
              </a:tblGrid>
              <a:tr h="151320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기법명</a:t>
                      </a:r>
                      <a:endParaRPr lang="ko-KR" altLang="en-US" sz="12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934" marR="2934" marT="1956" marB="195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핵심 역할</a:t>
                      </a:r>
                    </a:p>
                  </a:txBody>
                  <a:tcPr marL="2934" marR="2934" marT="1956" marB="1956"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주요 특징 및 작동 방식</a:t>
                      </a:r>
                    </a:p>
                  </a:txBody>
                  <a:tcPr marL="2934" marR="2934" marT="1956" marB="1956"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직관적 비유</a:t>
                      </a:r>
                    </a:p>
                  </a:txBody>
                  <a:tcPr marL="2934" marR="2934" marT="1956" marB="1956"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9072197"/>
                  </a:ext>
                </a:extLst>
              </a:tr>
              <a:tr h="373932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도구 호출</a:t>
                      </a:r>
                      <a:endParaRPr lang="en-US" altLang="ko-KR" sz="12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Tool Calling)</a:t>
                      </a:r>
                    </a:p>
                  </a:txBody>
                  <a:tcPr marL="2934" marR="2934" marT="1956" marB="195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행동 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Action)</a:t>
                      </a:r>
                    </a:p>
                  </a:txBody>
                  <a:tcPr marL="2934" marR="2934" marT="1956" marB="1956"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외부 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API, 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계산기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DB 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등을 호출할 수 있도록 규격화된 파라미터를 생성함</a:t>
                      </a:r>
                    </a:p>
                  </a:txBody>
                  <a:tcPr marL="2934" marR="2934" marT="1956" marB="1956"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현실 세계와 상호작용하는 </a:t>
                      </a:r>
                      <a:r>
                        <a:rPr lang="en-US" altLang="ko-KR" sz="12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'</a:t>
                      </a:r>
                      <a:r>
                        <a:rPr lang="ko-KR" altLang="en-US" sz="12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손과 발</a:t>
                      </a:r>
                      <a:r>
                        <a:rPr lang="en-US" altLang="ko-KR" sz="12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'</a:t>
                      </a:r>
                    </a:p>
                  </a:txBody>
                  <a:tcPr marL="0" marR="0" marT="1956" marB="1956"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818292"/>
                  </a:ext>
                </a:extLst>
              </a:tr>
              <a:tr h="299470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생각의 사슬</a:t>
                      </a:r>
                      <a:endParaRPr lang="en-US" altLang="ko-KR" sz="12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Chain-of-Thought)</a:t>
                      </a:r>
                    </a:p>
                  </a:txBody>
                  <a:tcPr marL="2934" marR="2934" marT="1956" marB="195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선형 추론 </a:t>
                      </a:r>
                      <a:endParaRPr lang="en-US" altLang="ko-KR" sz="12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Reasoning)</a:t>
                      </a:r>
                    </a:p>
                  </a:txBody>
                  <a:tcPr marL="2934" marR="2934" marT="1956" marB="1956"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복잡한 문제를 단번에 풀지 않고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단계별 순차 논리로 쪼개어 판단함</a:t>
                      </a:r>
                    </a:p>
                  </a:txBody>
                  <a:tcPr marL="2934" marR="2934" marT="1956" marB="1956"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풀이 과정을 차근차근 적는 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'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단계별 </a:t>
                      </a:r>
                      <a:r>
                        <a:rPr lang="ko-KR" altLang="en-US" sz="1200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서술식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사고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'</a:t>
                      </a:r>
                    </a:p>
                  </a:txBody>
                  <a:tcPr marL="0" marR="0" marT="1956" marB="1956"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16333246"/>
                  </a:ext>
                </a:extLst>
              </a:tr>
              <a:tr h="402452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메모리 시스템</a:t>
                      </a:r>
                      <a:endParaRPr lang="en-US" altLang="ko-KR" sz="12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Memory Systems)</a:t>
                      </a:r>
                    </a:p>
                  </a:txBody>
                  <a:tcPr marL="2934" marR="2934" marT="1956" marB="195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기억 및 </a:t>
                      </a:r>
                      <a:endParaRPr lang="en-US" altLang="ko-KR" sz="12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맥락 유지</a:t>
                      </a:r>
                    </a:p>
                  </a:txBody>
                  <a:tcPr marL="2934" marR="2934" marT="1956" marB="1956"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대화 세션이 끝난 후에도 벡터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/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그래프 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DB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에 장기 기억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·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개체 관계를 저장하고 </a:t>
                      </a:r>
                      <a:r>
                        <a:rPr lang="ko-KR" altLang="en-US" sz="1200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재참조함</a:t>
                      </a:r>
                      <a:endParaRPr lang="ko-KR" altLang="en-US" sz="12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2934" marR="2934" marT="1956" marB="1956"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에이전트의 </a:t>
                      </a:r>
                      <a:r>
                        <a:rPr lang="en-US" altLang="ko-KR" sz="12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'</a:t>
                      </a:r>
                      <a:r>
                        <a:rPr lang="ko-KR" altLang="en-US" sz="12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장</a:t>
                      </a:r>
                      <a:r>
                        <a:rPr lang="en-US" altLang="ko-KR" sz="12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·</a:t>
                      </a:r>
                      <a:r>
                        <a:rPr lang="ko-KR" altLang="en-US" sz="12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단기 기억 뇌</a:t>
                      </a:r>
                      <a:r>
                        <a:rPr lang="en-US" altLang="ko-KR" sz="12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'</a:t>
                      </a:r>
                    </a:p>
                  </a:txBody>
                  <a:tcPr marL="0" marR="0" marT="1956" marB="1956"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98955020"/>
                  </a:ext>
                </a:extLst>
              </a:tr>
              <a:tr h="402452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자기 성찰 및 수정</a:t>
                      </a:r>
                      <a:endParaRPr lang="en-US" altLang="ko-KR" sz="12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Self-Reflection)</a:t>
                      </a:r>
                    </a:p>
                  </a:txBody>
                  <a:tcPr marL="2934" marR="2934" marT="1956" marB="195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오류 검증 및 </a:t>
                      </a:r>
                      <a:endParaRPr lang="en-US" altLang="ko-KR" sz="12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피드백</a:t>
                      </a:r>
                    </a:p>
                  </a:txBody>
                  <a:tcPr marL="2934" marR="2934" marT="1956" marB="1956"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도구 실행 결과나 에러를 스스로 분석하여 정답이 나올 때까지 코드를 수정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·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재시도함</a:t>
                      </a:r>
                    </a:p>
                  </a:txBody>
                  <a:tcPr marL="2934" marR="2934" marT="1956" marB="1956"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스스로 채점하고 수정하는 </a:t>
                      </a:r>
                      <a:r>
                        <a:rPr lang="en-US" altLang="ko-KR" sz="12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'</a:t>
                      </a:r>
                      <a:r>
                        <a:rPr lang="ko-KR" altLang="en-US" sz="12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오답 노트</a:t>
                      </a:r>
                      <a:r>
                        <a:rPr lang="en-US" altLang="ko-KR" sz="12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'</a:t>
                      </a:r>
                    </a:p>
                  </a:txBody>
                  <a:tcPr marL="0" marR="0" marT="1956" marB="1956"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43518895"/>
                  </a:ext>
                </a:extLst>
              </a:tr>
              <a:tr h="373932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멀티 에이전트 협업</a:t>
                      </a:r>
                      <a:endParaRPr lang="en-US" altLang="ko-KR" sz="12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(Multi-Agent)</a:t>
                      </a:r>
                    </a:p>
                  </a:txBody>
                  <a:tcPr marL="2934" marR="2934" marT="1956" marB="195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역할 분담 및 </a:t>
                      </a:r>
                      <a:endParaRPr lang="en-US" altLang="ko-KR" sz="12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검수</a:t>
                      </a:r>
                    </a:p>
                  </a:txBody>
                  <a:tcPr marL="2934" marR="2934" marT="1956" marB="1956"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기획자</a:t>
                      </a:r>
                      <a:r>
                        <a:rPr lang="en-US" altLang="ko-KR" sz="12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2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개발자</a:t>
                      </a:r>
                      <a:r>
                        <a:rPr lang="en-US" altLang="ko-KR" sz="12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2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검수자 등 개별 에이전트가 토론하고 협력하여 대형 과제를 수행함</a:t>
                      </a:r>
                    </a:p>
                  </a:txBody>
                  <a:tcPr marL="2934" marR="2934" marT="1956" marB="1956"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각 분야 전문가들이 모인 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'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프로젝트 팀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'</a:t>
                      </a:r>
                    </a:p>
                  </a:txBody>
                  <a:tcPr marL="0" marR="0" marT="1956" marB="1956"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65847058"/>
                  </a:ext>
                </a:extLst>
              </a:tr>
              <a:tr h="430973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고급 탐색 계획</a:t>
                      </a:r>
                      <a:endParaRPr lang="en-US" altLang="ko-KR" sz="12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200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ToT</a:t>
                      </a:r>
                      <a:r>
                        <a:rPr 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/ </a:t>
                      </a:r>
                      <a:r>
                        <a:rPr lang="en-US" sz="1200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GoT</a:t>
                      </a:r>
                      <a:r>
                        <a:rPr 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/ LATS)</a:t>
                      </a:r>
                    </a:p>
                  </a:txBody>
                  <a:tcPr marL="2934" marR="2934" marT="1956" marB="195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비선형 탐색 및 </a:t>
                      </a:r>
                      <a:endParaRPr lang="en-US" altLang="ko-KR" sz="12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예측</a:t>
                      </a:r>
                    </a:p>
                  </a:txBody>
                  <a:tcPr marL="2934" marR="2934" marT="1956" marB="1956"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단선적 추론을 넘어 트리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/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그래프 구조로 여러 선택지의 시뮬레이션을 돌려 최적 경로를 탐색함</a:t>
                      </a:r>
                    </a:p>
                  </a:txBody>
                  <a:tcPr marL="2934" marR="2934" marT="1956" marB="1956"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체스나 바둑을 둘 때 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'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몇 수 앞을 미리 보는 전략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'</a:t>
                      </a:r>
                    </a:p>
                  </a:txBody>
                  <a:tcPr marL="0" marR="0" marT="1956" marB="1956"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30430241"/>
                  </a:ext>
                </a:extLst>
              </a:tr>
              <a:tr h="430973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컴퓨터 조작</a:t>
                      </a:r>
                      <a:endParaRPr lang="en-US" altLang="ko-KR" sz="12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Computer Use/OS Agent)</a:t>
                      </a:r>
                    </a:p>
                  </a:txBody>
                  <a:tcPr marL="2934" marR="2934" marT="1956" marB="195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2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GUI </a:t>
                      </a:r>
                      <a:r>
                        <a:rPr lang="ko-KR" altLang="en-US" sz="12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직접 제어</a:t>
                      </a:r>
                    </a:p>
                  </a:txBody>
                  <a:tcPr marL="2934" marR="2934" marT="1956" marB="1956"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화면 스크린샷을 시각적으로 인식해 </a:t>
                      </a:r>
                      <a:r>
                        <a:rPr lang="en-US" altLang="ko-KR" sz="12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API</a:t>
                      </a:r>
                      <a:r>
                        <a:rPr lang="ko-KR" altLang="en-US" sz="12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가 없는 프로그램의 마우스</a:t>
                      </a:r>
                      <a:r>
                        <a:rPr lang="en-US" altLang="ko-KR" sz="12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·</a:t>
                      </a:r>
                      <a:r>
                        <a:rPr lang="ko-KR" altLang="en-US" sz="12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키보드를 직접 조작함</a:t>
                      </a:r>
                    </a:p>
                  </a:txBody>
                  <a:tcPr marL="2934" marR="2934" marT="1956" marB="1956"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모니터를 보며 마우스를 잡은 </a:t>
                      </a:r>
                      <a:r>
                        <a:rPr lang="en-US" altLang="ko-KR" sz="12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'</a:t>
                      </a:r>
                      <a:r>
                        <a:rPr lang="ko-KR" altLang="en-US" sz="12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사람의 신체</a:t>
                      </a:r>
                      <a:r>
                        <a:rPr lang="en-US" altLang="ko-KR" sz="12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'</a:t>
                      </a:r>
                    </a:p>
                  </a:txBody>
                  <a:tcPr marL="0" marR="0" marT="1956" marB="1956"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81293906"/>
                  </a:ext>
                </a:extLst>
              </a:tr>
              <a:tr h="373932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에이전틱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RAG</a:t>
                      </a:r>
                    </a:p>
                    <a:p>
                      <a:pPr rtl="0" fontAlgn="b">
                        <a:buNone/>
                      </a:pPr>
                      <a:r>
                        <a:rPr 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(Agentic RAG)</a:t>
                      </a:r>
                    </a:p>
                  </a:txBody>
                  <a:tcPr marL="2934" marR="2934" marT="1956" marB="1956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능동적 지식 탐색</a:t>
                      </a:r>
                    </a:p>
                  </a:txBody>
                  <a:tcPr marL="2934" marR="2934" marT="1956" marB="1956"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단발성 검색에 그치지 않고</a:t>
                      </a:r>
                      <a:r>
                        <a:rPr lang="en-US" altLang="ko-KR" sz="12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2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정보가 부족하면 스스로 검색어를 바꿔가며 반복 조사함</a:t>
                      </a:r>
                    </a:p>
                  </a:txBody>
                  <a:tcPr marL="2934" marR="2934" marT="1956" marB="1956"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도서관에서 관련 자료를 계속 찾아 읽는 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'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연구원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'</a:t>
                      </a:r>
                    </a:p>
                  </a:txBody>
                  <a:tcPr marL="0" marR="0" marT="1956" marB="1956"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918690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9B526D70-7879-C244-5633-2C1F06384A1B}"/>
              </a:ext>
            </a:extLst>
          </p:cNvPr>
          <p:cNvSpPr txBox="1"/>
          <p:nvPr/>
        </p:nvSpPr>
        <p:spPr>
          <a:xfrm>
            <a:off x="484564" y="1205833"/>
            <a:ext cx="11069260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[도구 호출 +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]가 에이전트의 가장 기본인 "생각하고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실행한다"의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루프를 형성하고 [메모리, 자기성찰, 탐색계획,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에이전틱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RAG]는 에이전트의 두뇌 판단 수준을 대폭 향상하며 [멀티 에이전트, 컴퓨터 조작]은 에이전트가 실제 커버할 수 있는 작업의 범위와 커뮤니케이션을 확장해 줌</a:t>
            </a:r>
          </a:p>
        </p:txBody>
      </p:sp>
    </p:spTree>
    <p:extLst>
      <p:ext uri="{BB962C8B-B14F-4D97-AF65-F5344CB8AC3E}">
        <p14:creationId xmlns:p14="http://schemas.microsoft.com/office/powerpoint/2010/main" val="24219173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13E205-EDB3-09A6-0648-4C852DC874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DB3B1F4-87CE-56B6-9828-6D4ABAC34C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77052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w Cen MT" panose="020B0602020104020603" pitchFamily="34" charset="0"/>
              </a:rPr>
              <a:pPr/>
              <a:t>7</a:t>
            </a:fld>
            <a:endParaRPr lang="en-US" sz="1400" b="1" dirty="0">
              <a:latin typeface="Tw Cen MT" panose="020B0602020104020603" pitchFamily="34" charset="0"/>
            </a:endParaRP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BB7C9F0E-6C7E-F089-9D3D-ABD130218EA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Agent Architecture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6F3B0BB-03A5-1AE7-0CDD-B91687D18AB2}"/>
              </a:ext>
            </a:extLst>
          </p:cNvPr>
          <p:cNvSpPr txBox="1"/>
          <p:nvPr/>
        </p:nvSpPr>
        <p:spPr>
          <a:xfrm>
            <a:off x="7944455" y="640901"/>
            <a:ext cx="360045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/>
              <a:t>Agentic</a:t>
            </a:r>
            <a:r>
              <a:rPr lang="ko-KR" altLang="en-US" sz="2000" dirty="0"/>
              <a:t> </a:t>
            </a:r>
            <a:r>
              <a:rPr lang="en-US" altLang="ko-KR" sz="2000" dirty="0"/>
              <a:t>LLM</a:t>
            </a:r>
            <a:r>
              <a:rPr lang="ko-KR" altLang="en-US" sz="2000" dirty="0"/>
              <a:t> </a:t>
            </a:r>
            <a:r>
              <a:rPr lang="en-US" altLang="ko-KR" sz="2000" dirty="0"/>
              <a:t>Application</a:t>
            </a:r>
            <a:endParaRPr lang="ko-KR" altLang="en-US" sz="20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ADCF178-6C80-C9F7-DEEB-0676A96BA614}"/>
              </a:ext>
            </a:extLst>
          </p:cNvPr>
          <p:cNvSpPr txBox="1"/>
          <p:nvPr/>
        </p:nvSpPr>
        <p:spPr>
          <a:xfrm>
            <a:off x="593422" y="1248422"/>
            <a:ext cx="10951483" cy="791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에이전트를 만들 때는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프롬프트 기법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어떻게 지시할 것인가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시스템 아키텍처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외부 시스템과 어떻게 연결할 것인가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결합되어 하나의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에이전트 애플리케이션을 완성</a:t>
            </a:r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5466A824-153F-950E-3AB2-1FEAD2E153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9669080"/>
              </p:ext>
            </p:extLst>
          </p:nvPr>
        </p:nvGraphicFramePr>
        <p:xfrm>
          <a:off x="1140851" y="3177019"/>
          <a:ext cx="9260449" cy="2030138"/>
        </p:xfrm>
        <a:graphic>
          <a:graphicData uri="http://schemas.openxmlformats.org/drawingml/2006/table">
            <a:tbl>
              <a:tblPr/>
              <a:tblGrid>
                <a:gridCol w="991777">
                  <a:extLst>
                    <a:ext uri="{9D8B030D-6E8A-4147-A177-3AD203B41FA5}">
                      <a16:colId xmlns:a16="http://schemas.microsoft.com/office/drawing/2014/main" val="2096382663"/>
                    </a:ext>
                  </a:extLst>
                </a:gridCol>
                <a:gridCol w="3296622">
                  <a:extLst>
                    <a:ext uri="{9D8B030D-6E8A-4147-A177-3AD203B41FA5}">
                      <a16:colId xmlns:a16="http://schemas.microsoft.com/office/drawing/2014/main" val="409685987"/>
                    </a:ext>
                  </a:extLst>
                </a:gridCol>
                <a:gridCol w="4972050">
                  <a:extLst>
                    <a:ext uri="{9D8B030D-6E8A-4147-A177-3AD203B41FA5}">
                      <a16:colId xmlns:a16="http://schemas.microsoft.com/office/drawing/2014/main" val="4018357566"/>
                    </a:ext>
                  </a:extLst>
                </a:gridCol>
              </a:tblGrid>
              <a:tr h="300604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구분</a:t>
                      </a:r>
                    </a:p>
                  </a:txBody>
                  <a:tcPr marL="19834" marR="19834" marT="13223" marB="1322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순수 프롬프트 기법</a:t>
                      </a:r>
                    </a:p>
                  </a:txBody>
                  <a:tcPr marL="19834" marR="19834" marT="13223" marB="13223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시스템 및 아키텍처 기법</a:t>
                      </a:r>
                    </a:p>
                  </a:txBody>
                  <a:tcPr marL="19834" marR="19834" marT="13223" marB="13223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50880087"/>
                  </a:ext>
                </a:extLst>
              </a:tr>
              <a:tr h="607704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핵심 기법</a:t>
                      </a:r>
                    </a:p>
                  </a:txBody>
                  <a:tcPr marL="19834" marR="19834" marT="13223" marB="1322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600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CoT</a:t>
                      </a: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en-US" sz="1600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ToT</a:t>
                      </a: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/</a:t>
                      </a:r>
                      <a:r>
                        <a:rPr lang="en-US" sz="1600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GoT</a:t>
                      </a: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Self-Correction</a:t>
                      </a:r>
                    </a:p>
                  </a:txBody>
                  <a:tcPr marL="19834" marR="19834" marT="13223" marB="13223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Tool Calling, Memory, Multi-Agent, </a:t>
                      </a:r>
                    </a:p>
                    <a:p>
                      <a:pPr rtl="0" fontAlgn="b">
                        <a:buNone/>
                      </a:pPr>
                      <a:r>
                        <a:rPr 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Computer Use, Agentic RAG</a:t>
                      </a:r>
                    </a:p>
                  </a:txBody>
                  <a:tcPr marL="19834" marR="19834" marT="13223" marB="13223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4866328"/>
                  </a:ext>
                </a:extLst>
              </a:tr>
              <a:tr h="412370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필요 요소</a:t>
                      </a:r>
                    </a:p>
                  </a:txBody>
                  <a:tcPr marL="19834" marR="19834" marT="13223" marB="1322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잘 작성된 텍스트 </a:t>
                      </a:r>
                      <a:r>
                        <a:rPr lang="ko-KR" altLang="en-US" sz="1600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지시문</a:t>
                      </a:r>
                      <a:endParaRPr lang="ko-KR" altLang="en-US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9834" marR="19834" marT="13223" marB="13223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프롬프트 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+ 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파이썬</a:t>
                      </a:r>
                      <a:endParaRPr lang="en-US" altLang="ko-KR" sz="1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ko-KR" altLang="en-US" sz="1600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백엔드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코드 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+ DB/API</a:t>
                      </a:r>
                    </a:p>
                  </a:txBody>
                  <a:tcPr marL="19834" marR="19834" marT="13223" marB="13223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5796303"/>
                  </a:ext>
                </a:extLst>
              </a:tr>
              <a:tr h="607704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비유</a:t>
                      </a:r>
                    </a:p>
                  </a:txBody>
                  <a:tcPr marL="19834" marR="19834" marT="13223" marB="1322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운전자에게 주는 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'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운전 지침서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'</a:t>
                      </a:r>
                    </a:p>
                  </a:txBody>
                  <a:tcPr marL="19834" marR="19834" marT="13223" marB="13223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차선 이탈 방지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자율주행 알고리즘 등 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'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차량 제어 시스템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'</a:t>
                      </a:r>
                    </a:p>
                  </a:txBody>
                  <a:tcPr marL="19834" marR="19834" marT="13223" marB="13223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398146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156499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CC6C60-22FE-AFFE-2F5A-0CD377081E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D654A10-F27B-F5A2-ED55-62A5DCBDF5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77052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w Cen MT" panose="020B0602020104020603" pitchFamily="34" charset="0"/>
              </a:rPr>
              <a:pPr/>
              <a:t>8</a:t>
            </a:fld>
            <a:endParaRPr lang="en-US" sz="1400" b="1" dirty="0">
              <a:latin typeface="Tw Cen MT" panose="020B0602020104020603" pitchFamily="34" charset="0"/>
            </a:endParaRP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1D720EA-F94A-B336-E921-C5C7598F7BF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Plan-Do Loop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B936057-7F62-716A-5B4A-6E3962718F1F}"/>
              </a:ext>
            </a:extLst>
          </p:cNvPr>
          <p:cNvSpPr txBox="1"/>
          <p:nvPr/>
        </p:nvSpPr>
        <p:spPr>
          <a:xfrm>
            <a:off x="7067550" y="640901"/>
            <a:ext cx="447735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/>
              <a:t>LLM </a:t>
            </a:r>
            <a:r>
              <a:rPr lang="ko-KR" altLang="en-US" sz="2000" dirty="0"/>
              <a:t>기반 루프</a:t>
            </a:r>
            <a:r>
              <a:rPr lang="en-US" altLang="ko-KR" sz="2000" dirty="0"/>
              <a:t>(LLM-driven Loop)</a:t>
            </a:r>
            <a:endParaRPr lang="ko-KR" altLang="en-US" sz="20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2370FE7-1F3B-50F8-FF75-DE212090DFD6}"/>
              </a:ext>
            </a:extLst>
          </p:cNvPr>
          <p:cNvSpPr txBox="1"/>
          <p:nvPr/>
        </p:nvSpPr>
        <p:spPr>
          <a:xfrm>
            <a:off x="593422" y="1248422"/>
            <a:ext cx="10951483" cy="11211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에이전트 아키텍처의 핵심은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정지 조건을 제어하게 만드는 것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즉 루프를 언제 중단할지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스스로 결정하도록 하는 것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파이썬 코드에서 루프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(loop)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는 정지 조건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(stop condition)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 도달할 때까지 동일한 코드를 여러 번 실행하는 것을 의미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- while 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&lt; 10))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53A51EB-E62D-703C-499C-1C1CBDF3AAC7}"/>
              </a:ext>
            </a:extLst>
          </p:cNvPr>
          <p:cNvSpPr txBox="1"/>
          <p:nvPr/>
        </p:nvSpPr>
        <p:spPr>
          <a:xfrm>
            <a:off x="1880652" y="2395557"/>
            <a:ext cx="9363075" cy="4185761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def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run_agent_loop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user_query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1. 초기 맥락(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Context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설정 (종료용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도구 포함 안내)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context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f"질문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user_query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}\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n도구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search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calculator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최종답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작성 후 종료)"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2. 정답을 얻을 때까지 루프 시작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while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# [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Plan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 누적된 맥락을 토대로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LLM이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다음 행동 결정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llm.generate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context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tool_name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tool_input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parse_action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# [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Stop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LLM이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'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 도구를 선택하면 루프 탈출 및 최종 답 반환!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if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tool_name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== 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":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tool_input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# [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search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calculator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등 외부 도구 실행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result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execute_tool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tool_name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tool_input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# [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Feedback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 실행 결과를 맥락에 더해 다음 판단에 활용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context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+=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"\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n실행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결과 [{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tool_name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}]: {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result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}\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n다음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행동을 결정해줘."</a:t>
            </a:r>
          </a:p>
        </p:txBody>
      </p:sp>
      <p:sp>
        <p:nvSpPr>
          <p:cNvPr id="6" name="설명선: 굽은 선(테두리 및 강조선) 5">
            <a:extLst>
              <a:ext uri="{FF2B5EF4-FFF2-40B4-BE49-F238E27FC236}">
                <a16:creationId xmlns:a16="http://schemas.microsoft.com/office/drawing/2014/main" id="{DF4A0219-4ED7-8A2E-8D1A-ED1931730D94}"/>
              </a:ext>
            </a:extLst>
          </p:cNvPr>
          <p:cNvSpPr/>
          <p:nvPr/>
        </p:nvSpPr>
        <p:spPr>
          <a:xfrm>
            <a:off x="8190893" y="3429000"/>
            <a:ext cx="3448656" cy="934336"/>
          </a:xfrm>
          <a:prstGeom prst="accent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109650"/>
              <a:gd name="adj6" fmla="val -84506"/>
            </a:avLst>
          </a:prstGeom>
          <a:solidFill>
            <a:schemeClr val="tx1"/>
          </a:solidFill>
          <a:ln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외부 도구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(search, calculator)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인지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아니면 최종 답변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(output)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인지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백엔드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코드가 구분</a:t>
            </a:r>
          </a:p>
        </p:txBody>
      </p:sp>
    </p:spTree>
    <p:extLst>
      <p:ext uri="{BB962C8B-B14F-4D97-AF65-F5344CB8AC3E}">
        <p14:creationId xmlns:p14="http://schemas.microsoft.com/office/powerpoint/2010/main" val="21468636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BA7E3D-D075-C129-5208-0E473F0A2D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7259D5-CA0C-361D-95B4-2E88472070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77052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w Cen MT" panose="020B0602020104020603" pitchFamily="34" charset="0"/>
              </a:rPr>
              <a:pPr/>
              <a:t>9</a:t>
            </a:fld>
            <a:endParaRPr lang="en-US" sz="1400" b="1" dirty="0">
              <a:latin typeface="Tw Cen MT" panose="020B0602020104020603" pitchFamily="34" charset="0"/>
            </a:endParaRP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F9AB3A1-76F6-BFD3-BFEE-82516971A6B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Building a LangGraph Agent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27864A5-B9F6-55BA-0DC2-1B8FC96B3534}"/>
              </a:ext>
            </a:extLst>
          </p:cNvPr>
          <p:cNvSpPr txBox="1"/>
          <p:nvPr/>
        </p:nvSpPr>
        <p:spPr>
          <a:xfrm>
            <a:off x="7067550" y="640901"/>
            <a:ext cx="447735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/>
              <a:t>LLM </a:t>
            </a:r>
            <a:r>
              <a:rPr lang="ko-KR" altLang="en-US" sz="2000" dirty="0"/>
              <a:t>기반 루프</a:t>
            </a:r>
            <a:r>
              <a:rPr lang="en-US" altLang="ko-KR" sz="2000" dirty="0"/>
              <a:t>(LLM-driven Loop)</a:t>
            </a:r>
            <a:endParaRPr lang="ko-KR" altLang="en-US" sz="2000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A66B73FA-8E9E-50FF-409C-7A7FAD08CE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045" y="2482127"/>
            <a:ext cx="3101609" cy="2027096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D5191DA4-D85A-BAB4-7E13-4B4731355617}"/>
              </a:ext>
            </a:extLst>
          </p:cNvPr>
          <p:cNvSpPr txBox="1"/>
          <p:nvPr/>
        </p:nvSpPr>
        <p:spPr>
          <a:xfrm>
            <a:off x="3905337" y="1939915"/>
            <a:ext cx="8025260" cy="33784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State(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상태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의 변화 흐름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LangGraph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내부의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messages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배열은 루프를 돌며 쌓이면서 판단의 근거가 됨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HumanMessage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"How old was the 30th president...?"</a:t>
            </a:r>
          </a:p>
          <a:p>
            <a:pPr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AIMessage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search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도구 호출 요청</a:t>
            </a:r>
          </a:p>
          <a:p>
            <a:pPr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ToolMessage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검색 결과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("Calvin Coolidge, 1872–1933")</a:t>
            </a:r>
          </a:p>
          <a:p>
            <a:pPr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AIMessage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calculator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도구 호출 요청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("1933 - 1872")</a:t>
            </a:r>
          </a:p>
          <a:p>
            <a:pPr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ToolMessage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계산 결과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("61")</a:t>
            </a:r>
          </a:p>
          <a:p>
            <a:pPr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AIMessage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"Calvin Coolidge was 61 years old when he died."(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최종답변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&amp;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종료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683274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C582DD-D10E-74FA-6860-9DA4054F5D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66672CB-3DBB-0731-50CB-2417F79CAE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77052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w Cen MT" panose="020B0602020104020603" pitchFamily="34" charset="0"/>
              </a:rPr>
              <a:pPr/>
              <a:t>10</a:t>
            </a:fld>
            <a:endParaRPr lang="en-US" sz="1400" b="1" dirty="0">
              <a:latin typeface="Tw Cen MT" panose="020B0602020104020603" pitchFamily="34" charset="0"/>
            </a:endParaRP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AF2803EF-7CE5-931A-1EBD-D2DC8CA35AF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Building a LangGraph Agent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2F137C6-9222-73A1-E6D1-D321E8CD4EAB}"/>
              </a:ext>
            </a:extLst>
          </p:cNvPr>
          <p:cNvSpPr txBox="1"/>
          <p:nvPr/>
        </p:nvSpPr>
        <p:spPr>
          <a:xfrm>
            <a:off x="7067550" y="640901"/>
            <a:ext cx="447735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/>
              <a:t>LLM </a:t>
            </a:r>
            <a:r>
              <a:rPr lang="ko-KR" altLang="en-US" sz="2000" dirty="0"/>
              <a:t>기반 루프</a:t>
            </a:r>
            <a:r>
              <a:rPr lang="en-US" altLang="ko-KR" sz="2000" dirty="0"/>
              <a:t>(LLM-driven Loop)</a:t>
            </a:r>
            <a:endParaRPr lang="ko-KR" altLang="en-US" sz="2000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C83FB5A8-0DBC-951A-E2A3-E195588344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7780" y="2779252"/>
            <a:ext cx="3358593" cy="219505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17B4CBD-CA1A-EF17-D5C0-7C35C74B1994}"/>
              </a:ext>
            </a:extLst>
          </p:cNvPr>
          <p:cNvSpPr txBox="1"/>
          <p:nvPr/>
        </p:nvSpPr>
        <p:spPr>
          <a:xfrm>
            <a:off x="4859714" y="2943225"/>
            <a:ext cx="6459302" cy="2492990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1회차 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노드):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LLM이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질문을 받고 *"검색이 필요하다"*고 판단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--&gt;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search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("30th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president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of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United States") 호출 요청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1회차 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tools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노드):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DuckDuckGo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검색 실행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--&gt;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Calvin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Coolidge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(1872–1933)..." 결과를 대화 내역에 누적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2회차 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노드): 검색 결과를 읽은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LLM이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"출생/사망 연도를 알았으니 나이를 계산하자" 판단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--&gt;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calculator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("1933 - 1872") 호출 요청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2회차 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tools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노드): 파이썬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eval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() 실행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--&gt;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"61" 결과를 대화 내역에 누적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3회차 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노드): 계산 결과까지 확인한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LLM이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"미국의 30대 대통령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캘빈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쿨리지는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사망 시 61세였습니다."라는 최종 텍스트 생성 (더 이상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tool_calls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없음)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종료: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tools_condition에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의해 그래프 종료.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4E13457-E9C8-5FD1-6A16-0A3175E26D1B}"/>
              </a:ext>
            </a:extLst>
          </p:cNvPr>
          <p:cNvSpPr txBox="1"/>
          <p:nvPr/>
        </p:nvSpPr>
        <p:spPr>
          <a:xfrm>
            <a:off x="532795" y="1199929"/>
            <a:ext cx="11126410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직접 텍스트로 답하기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보다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도구를 호출하는 토큰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출력하는 쪽이 훨씬 높은 확신도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확률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가진다고 판단하여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Loop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실행하여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Agent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역할 수행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도구 호출 여부를 정확히 판단하게 만드는 핵심 열쇠는 도구의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description(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설명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3B285F2-0053-1C01-D288-0EBA7BC77852}"/>
              </a:ext>
            </a:extLst>
          </p:cNvPr>
          <p:cNvSpPr txBox="1"/>
          <p:nvPr/>
        </p:nvSpPr>
        <p:spPr>
          <a:xfrm>
            <a:off x="977780" y="5107654"/>
            <a:ext cx="2822695" cy="523220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for c in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graph.stream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(input):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print(c)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13" name="연결선: 꺾임 12">
            <a:extLst>
              <a:ext uri="{FF2B5EF4-FFF2-40B4-BE49-F238E27FC236}">
                <a16:creationId xmlns:a16="http://schemas.microsoft.com/office/drawing/2014/main" id="{F087C4E0-B029-3370-FE95-2E9FD5EEA70B}"/>
              </a:ext>
            </a:extLst>
          </p:cNvPr>
          <p:cNvCxnSpPr>
            <a:cxnSpLocks/>
            <a:stCxn id="11" idx="3"/>
            <a:endCxn id="6" idx="1"/>
          </p:cNvCxnSpPr>
          <p:nvPr/>
        </p:nvCxnSpPr>
        <p:spPr>
          <a:xfrm flipV="1">
            <a:off x="3800475" y="4189720"/>
            <a:ext cx="1059239" cy="117954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2" name="그림 21">
            <a:extLst>
              <a:ext uri="{FF2B5EF4-FFF2-40B4-BE49-F238E27FC236}">
                <a16:creationId xmlns:a16="http://schemas.microsoft.com/office/drawing/2014/main" id="{291100D6-7D55-514A-6880-0C25FE0FF1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7780" y="5630874"/>
            <a:ext cx="10341236" cy="8535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98452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9AB8E7-6A70-B21E-C547-57BCB7AA88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A6D4324-2574-98CA-F679-42184B2CDC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77052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w Cen MT" panose="020B0602020104020603" pitchFamily="34" charset="0"/>
              </a:rPr>
              <a:pPr/>
              <a:t>11</a:t>
            </a:fld>
            <a:endParaRPr lang="en-US" sz="1400" b="1" dirty="0">
              <a:latin typeface="Tw Cen MT" panose="020B0602020104020603" pitchFamily="34" charset="0"/>
            </a:endParaRP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DC229C3-6C0D-37C7-D852-BCE1135B081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Building a LangGraph Agent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92E4167-5F48-EE5F-D3D2-D4343849BED9}"/>
              </a:ext>
            </a:extLst>
          </p:cNvPr>
          <p:cNvSpPr txBox="1"/>
          <p:nvPr/>
        </p:nvSpPr>
        <p:spPr>
          <a:xfrm>
            <a:off x="7067550" y="640901"/>
            <a:ext cx="447735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/>
              <a:t>How</a:t>
            </a:r>
            <a:r>
              <a:rPr lang="ko-KR" altLang="en-US" sz="2000" dirty="0"/>
              <a:t> </a:t>
            </a:r>
            <a:r>
              <a:rPr lang="en-US" altLang="ko-KR" sz="2000" dirty="0"/>
              <a:t>to have LLM call tool</a:t>
            </a:r>
            <a:endParaRPr lang="ko-KR" altLang="en-US" sz="20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E7AA058-4474-ADA3-F535-ED32F5E635D1}"/>
              </a:ext>
            </a:extLst>
          </p:cNvPr>
          <p:cNvSpPr txBox="1"/>
          <p:nvPr/>
        </p:nvSpPr>
        <p:spPr>
          <a:xfrm>
            <a:off x="532795" y="1199929"/>
            <a:ext cx="11126410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도구 호출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(Tool Calling)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필요한지 판단하는 과정은 ① 사전 학습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(Fine-tuning),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② 프롬프트를 통한 도구 설명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(Description),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③ 확률적 토큰 생성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811B574-B99B-A273-1C87-5801C110B8A5}"/>
              </a:ext>
            </a:extLst>
          </p:cNvPr>
          <p:cNvSpPr txBox="1"/>
          <p:nvPr/>
        </p:nvSpPr>
        <p:spPr>
          <a:xfrm>
            <a:off x="663574" y="2190256"/>
            <a:ext cx="4812666" cy="42189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① 도구 명세(Tool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Description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해석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개발자가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LLM에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도구를 전달할 때, 모델은 입력 프롬프트의 일부로 도구의 이름, 설명(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Description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), 매개변수 구조를 함께 전달하면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LLM은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사용자의 질문과 자신이 전달받은 도구의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description을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대조하게 됨</a:t>
            </a:r>
          </a:p>
          <a:p>
            <a:pPr>
              <a:lnSpc>
                <a:spcPct val="150000"/>
              </a:lnSpc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② 도구 호출 전용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파인튜닝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(Tool-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calling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Fine-tuning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최신 모델(GPT-4o,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Llama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3,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Claude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등)은 다음과 같은 데이터셋으로 집중 학습 덕분에 모델은 "내 내부 지식으로 답할 수 없거나 외부 기능이 필요한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패턴"이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들어오면 일반 텍스트 대신 도구 호출용 포맷(JSON 등)을 생성하도록 확률(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Logits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)이 급상승 하게 됨</a:t>
            </a:r>
          </a:p>
          <a:p>
            <a:pPr>
              <a:lnSpc>
                <a:spcPct val="150000"/>
              </a:lnSpc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③ 지식/능력 한계 인지 및 매칭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LLM은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사용자 질문을 접했을 때 '직접 텍스트로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답하기'보다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'도구를 호출하는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토큰'을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출력하는 쪽이 훨씬 높은 확신도(확률)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가진다고 판단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CDE4BD9-C0EB-1C19-32C8-08F5E611C4EF}"/>
              </a:ext>
            </a:extLst>
          </p:cNvPr>
          <p:cNvSpPr txBox="1"/>
          <p:nvPr/>
        </p:nvSpPr>
        <p:spPr>
          <a:xfrm>
            <a:off x="5913538" y="2228671"/>
            <a:ext cx="5902542" cy="120032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JSON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search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description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"최신 뉴스나 외부 실시간 정보를 검색할 때 사용합니다.",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parameters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{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query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"검색어" }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C2DB07-E3CA-E546-B412-284FE767B4C0}"/>
              </a:ext>
            </a:extLst>
          </p:cNvPr>
          <p:cNvSpPr txBox="1"/>
          <p:nvPr/>
        </p:nvSpPr>
        <p:spPr>
          <a:xfrm>
            <a:off x="5913538" y="3775304"/>
            <a:ext cx="5902542" cy="1015663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[학습 데이터 예시]</a:t>
            </a:r>
          </a:p>
          <a:p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입력: "오늘 서울 날씨 어때?" + [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get_weather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도구 설명]</a:t>
            </a:r>
          </a:p>
          <a:p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정답 출력: {"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tool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get_weather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location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Seoul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0C4A11D-2908-F3B4-5C63-CD7F39B0A1E4}"/>
              </a:ext>
            </a:extLst>
          </p:cNvPr>
          <p:cNvSpPr txBox="1"/>
          <p:nvPr/>
        </p:nvSpPr>
        <p:spPr>
          <a:xfrm>
            <a:off x="5913538" y="5168937"/>
            <a:ext cx="5902542" cy="120032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사용자의 요청: "미국 30대 대통령 사망 나이는?"</a:t>
            </a:r>
          </a:p>
          <a:p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자신의 내부 지식/한계: "30대 대통령 이름은 아는데, 사망 시 나이 계산을 직접 하면 틀릴 확률이 높음 / 혹은 확실치 않음"</a:t>
            </a:r>
          </a:p>
          <a:p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주어진 도구 역할: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search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(대통령 정보 찾기 가능),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calculator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(수식 계산 가능)</a:t>
            </a:r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16843F10-6C88-8A40-D1BC-B0B901DB7F38}"/>
              </a:ext>
            </a:extLst>
          </p:cNvPr>
          <p:cNvCxnSpPr>
            <a:cxnSpLocks/>
            <a:endCxn id="2" idx="1"/>
          </p:cNvCxnSpPr>
          <p:nvPr/>
        </p:nvCxnSpPr>
        <p:spPr>
          <a:xfrm>
            <a:off x="5476240" y="2828836"/>
            <a:ext cx="43729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63C0C15F-7E1C-C01A-B40D-F3140D21FA15}"/>
              </a:ext>
            </a:extLst>
          </p:cNvPr>
          <p:cNvCxnSpPr>
            <a:cxnSpLocks/>
          </p:cNvCxnSpPr>
          <p:nvPr/>
        </p:nvCxnSpPr>
        <p:spPr>
          <a:xfrm>
            <a:off x="5475605" y="4305211"/>
            <a:ext cx="43729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857B98A2-535C-94C9-31DC-68B923D76163}"/>
              </a:ext>
            </a:extLst>
          </p:cNvPr>
          <p:cNvCxnSpPr>
            <a:cxnSpLocks/>
          </p:cNvCxnSpPr>
          <p:nvPr/>
        </p:nvCxnSpPr>
        <p:spPr>
          <a:xfrm>
            <a:off x="5475605" y="5781586"/>
            <a:ext cx="43729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8362913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3318DA-D664-222B-2140-C46E30974B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252D21E-4857-322E-42F3-859525BABD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77052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w Cen MT" panose="020B0602020104020603" pitchFamily="34" charset="0"/>
              </a:rPr>
              <a:pPr/>
              <a:t>12</a:t>
            </a:fld>
            <a:endParaRPr lang="en-US" sz="1400" b="1" dirty="0">
              <a:latin typeface="Tw Cen MT" panose="020B0602020104020603" pitchFamily="34" charset="0"/>
            </a:endParaRP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C4AD901-813A-183A-1537-D73404C953D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Always Calling a Tool First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5AF5AC4-B973-EF1F-96A1-96F0CF80EF2A}"/>
              </a:ext>
            </a:extLst>
          </p:cNvPr>
          <p:cNvSpPr txBox="1"/>
          <p:nvPr/>
        </p:nvSpPr>
        <p:spPr>
          <a:xfrm>
            <a:off x="7067550" y="640901"/>
            <a:ext cx="447735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/>
              <a:t>LLM </a:t>
            </a:r>
            <a:r>
              <a:rPr lang="ko-KR" altLang="en-US" sz="2000" dirty="0"/>
              <a:t>기반 루프</a:t>
            </a:r>
            <a:r>
              <a:rPr lang="en-US" altLang="ko-KR" sz="2000" dirty="0"/>
              <a:t>(LLM-driven Loop)</a:t>
            </a:r>
            <a:endParaRPr lang="ko-KR" altLang="en-US" sz="200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589C156-CA54-FE34-8200-DE48BE3EE4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2975" y="1589903"/>
            <a:ext cx="1647886" cy="357190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1757349-02FA-FBA7-0C0B-237BE5403116}"/>
              </a:ext>
            </a:extLst>
          </p:cNvPr>
          <p:cNvSpPr txBox="1"/>
          <p:nvPr/>
        </p:nvSpPr>
        <p:spPr>
          <a:xfrm>
            <a:off x="409606" y="5344246"/>
            <a:ext cx="2714623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Figure. Modifying the agent architecture to always call a specific tool first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7106F8E-9033-DE42-F3BD-89B6DB3FF34D}"/>
              </a:ext>
            </a:extLst>
          </p:cNvPr>
          <p:cNvSpPr txBox="1"/>
          <p:nvPr/>
        </p:nvSpPr>
        <p:spPr>
          <a:xfrm>
            <a:off x="3400423" y="1589903"/>
            <a:ext cx="8153401" cy="46759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개발자가 만들려는 서비스의 목적이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무조건 웹 검색 결과를 바탕으로 답변해야 하는 시스템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이라면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굳이 첫 번째 회차에서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에게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검색할까 말까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물어보며 시간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(Latency)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비용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(Token)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낭비할 필요 없이 곧바로 검색 노드로 보내는 것이 훨씬 효율적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first_model은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고정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(Hardcoding)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했을 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tools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 검색 결과를 받아온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번째 단계부터는 다시 표준 에이전트 방식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(model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노드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수행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START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first_model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(규칙 기반 강제)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tools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(검색 실행)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(LLM)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LLM을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거치지 않고 파이썬 코드가 질문 원문을 낚아채 무조건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duckduckgo_search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도구 호출(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ToolCall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객체를 인위적으로 만들어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tools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노드로 바로 수행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이전 코드는 START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(LLM 판단)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tools_condition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tools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(검색)질문을 받자마자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LLM이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먼저 질문을 읽고 검색을 할지, 어떤 검색어로 검색할지 스스로 판단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875922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8D461B-E3A9-85C6-C082-4918EC0AD5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1862C13-8FF6-5155-22D5-D9D54440CF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77052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w Cen MT" panose="020B0602020104020603" pitchFamily="34" charset="0"/>
              </a:rPr>
              <a:pPr/>
              <a:t>13</a:t>
            </a:fld>
            <a:endParaRPr lang="en-US" sz="1400" b="1" dirty="0">
              <a:latin typeface="Tw Cen MT" panose="020B0602020104020603" pitchFamily="34" charset="0"/>
            </a:endParaRP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AEC45645-3F0B-269E-705E-F83D0C00F84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Dealing with Many Tools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AA3613E-3E1F-9D4C-F4B2-53E1621405D3}"/>
              </a:ext>
            </a:extLst>
          </p:cNvPr>
          <p:cNvSpPr txBox="1"/>
          <p:nvPr/>
        </p:nvSpPr>
        <p:spPr>
          <a:xfrm>
            <a:off x="7067550" y="640901"/>
            <a:ext cx="447735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2000" dirty="0"/>
              <a:t>LLM </a:t>
            </a:r>
            <a:r>
              <a:rPr lang="ko-KR" altLang="en-US" sz="2000" dirty="0"/>
              <a:t>기반 루프</a:t>
            </a:r>
            <a:r>
              <a:rPr lang="en-US" altLang="ko-KR" sz="2000" dirty="0"/>
              <a:t>(LLM-driven Loop)</a:t>
            </a:r>
            <a:endParaRPr lang="ko-KR" altLang="en-US" sz="2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049E4B3-45EC-F011-1EF9-355F4B671CE1}"/>
              </a:ext>
            </a:extLst>
          </p:cNvPr>
          <p:cNvSpPr txBox="1"/>
          <p:nvPr/>
        </p:nvSpPr>
        <p:spPr>
          <a:xfrm>
            <a:off x="600194" y="1267472"/>
            <a:ext cx="6727456" cy="52251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에이전트 애플리케이션을 확장하다 보면 수십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~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수백 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DB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조회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Slack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전송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이메일 발송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각종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API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늘어나게 되면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엉뚱한 도구를 선택하여 환각이 발생하거나 모든 도구의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JSON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스키마를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bind_tools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전달하면 입력 토큰 비용이 급증하고 컨텍스트 창이 낭비되는 문제 발생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우아한 해결방법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도구 검색기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(Tool Retriever):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사용자의 질문이 들어오면 벡터 검색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(RAG)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통해 수백 개의 도구 중 관련된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Top-K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개의 도구만 동적으로 추려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에게 전달하는 방식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라우터 에이전트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(Router Agent / Hierarchical Architecture):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도구를 영역별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금융 도구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HR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도구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IT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지원 도구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그룹화하고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상위 에이전트가 어떤 그룹의 도구를 쓸지 먼저 분류하는 구조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DB3D0438-5E82-A4E1-7AAF-1AB6DBA710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5906" y="2325798"/>
            <a:ext cx="3638999" cy="315379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ED85DC5-643A-FE12-E645-B6C0C75B4F1D}"/>
              </a:ext>
            </a:extLst>
          </p:cNvPr>
          <p:cNvSpPr txBox="1"/>
          <p:nvPr/>
        </p:nvSpPr>
        <p:spPr>
          <a:xfrm>
            <a:off x="7938735" y="5687008"/>
            <a:ext cx="330517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Modifying the agent architecture to deal with many tools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6410668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A569A2-2E79-203D-B515-F7511CA20B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58FBAE9-2A62-2A70-FB76-46F424EADC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77052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w Cen MT" panose="020B0602020104020603" pitchFamily="34" charset="0"/>
              </a:rPr>
              <a:pPr/>
              <a:t>14</a:t>
            </a:fld>
            <a:endParaRPr lang="en-US" sz="1400" b="1" dirty="0">
              <a:latin typeface="Tw Cen MT" panose="020B0602020104020603" pitchFamily="34" charset="0"/>
            </a:endParaRP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E91B604B-5533-5CD3-94C6-BA98DDA3B9E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Summary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81CB663-D472-7F92-F542-5349CB765EB1}"/>
              </a:ext>
            </a:extLst>
          </p:cNvPr>
          <p:cNvSpPr txBox="1"/>
          <p:nvPr/>
        </p:nvSpPr>
        <p:spPr>
          <a:xfrm>
            <a:off x="475645" y="1520201"/>
            <a:ext cx="10887075" cy="4855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1️⃣ 에이전트의 본질 (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Agency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단순히 텍스트만 생성하는 모델을 넘어, 외부 도구(검색, 계산기 등)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활용해 목표 달성을 위한 다음 행동을 스스로 판단(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Plan-Do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Loop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)하게 만드는 것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2️⃣ 표준 아키텍처 (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LangGraph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Standard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Agent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(LLM 판단) </a:t>
            </a: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tools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(외부 실행) 노드가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tools_condition을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거쳐 정답을 얻을 때까지 동적으로 순환하는 무한 루프 구조</a:t>
            </a:r>
            <a:endParaRPr kumimoji="0" lang="ko-KR" altLang="ko-KR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3️⃣ 두 가지 실전 최적화 확장 기법</a:t>
            </a:r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특정 도구 선행 실행 (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first_model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도입):</a:t>
            </a:r>
            <a:endParaRPr kumimoji="0" lang="ko-KR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2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원리: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첫 번째 LLM 호출을 생략하고 파이썬 코드로 검색 도구를 즉시 실행</a:t>
            </a:r>
          </a:p>
          <a:p>
            <a:pPr lvl="2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목적: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첫 응답 지연 시간(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Latency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단축 및 검색 누락 방지</a:t>
            </a:r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대량의 도구 관리 (Tool RAG 도입):</a:t>
            </a:r>
            <a:endParaRPr kumimoji="0" lang="ko-KR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2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원리: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도구가 10개 이상일 때 RAG(검색)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사용해 질문과 관련된 상위 도구만 선별하여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LLM에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전달</a:t>
            </a:r>
          </a:p>
          <a:p>
            <a:pPr lvl="2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목적: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도구가 너무 많을 때 발생하는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LLM의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오작동(환각) 방지 및 프롬프트 토큰 비용 절감</a:t>
            </a:r>
          </a:p>
        </p:txBody>
      </p:sp>
    </p:spTree>
    <p:extLst>
      <p:ext uri="{BB962C8B-B14F-4D97-AF65-F5344CB8AC3E}">
        <p14:creationId xmlns:p14="http://schemas.microsoft.com/office/powerpoint/2010/main" val="3670898354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17179</TotalTime>
  <Words>2418</Words>
  <Application>Microsoft Office PowerPoint</Application>
  <PresentationFormat>와이드스크린</PresentationFormat>
  <Paragraphs>244</Paragraphs>
  <Slides>14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14</vt:i4>
      </vt:variant>
    </vt:vector>
  </HeadingPairs>
  <TitlesOfParts>
    <vt:vector size="21" baseType="lpstr">
      <vt:lpstr>D2Coding</vt:lpstr>
      <vt:lpstr>맑은 고딕</vt:lpstr>
      <vt:lpstr>바탕</vt:lpstr>
      <vt:lpstr>Arial</vt:lpstr>
      <vt:lpstr>Tw Cen MT</vt:lpstr>
      <vt:lpstr>Wingdings</vt:lpstr>
      <vt:lpstr>WelcomeDoc</vt:lpstr>
      <vt:lpstr>CHAPTER 6 Agent Architecture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239</cp:revision>
  <dcterms:created xsi:type="dcterms:W3CDTF">2026-04-06T01:00:39Z</dcterms:created>
  <dcterms:modified xsi:type="dcterms:W3CDTF">2026-07-22T02:23:31Z</dcterms:modified>
  <cp:version/>
</cp:coreProperties>
</file>