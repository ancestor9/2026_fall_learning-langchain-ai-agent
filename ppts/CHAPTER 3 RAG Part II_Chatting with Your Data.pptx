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1136" r:id="rId3"/>
    <p:sldId id="1140" r:id="rId4"/>
    <p:sldId id="1144" r:id="rId5"/>
    <p:sldId id="1142" r:id="rId6"/>
    <p:sldId id="1143" r:id="rId7"/>
    <p:sldId id="1141" r:id="rId8"/>
    <p:sldId id="1150" r:id="rId9"/>
    <p:sldId id="1153" r:id="rId10"/>
    <p:sldId id="1145" r:id="rId11"/>
    <p:sldId id="1147" r:id="rId12"/>
    <p:sldId id="1159" r:id="rId13"/>
    <p:sldId id="1149" r:id="rId14"/>
    <p:sldId id="1148" r:id="rId15"/>
    <p:sldId id="1146" r:id="rId16"/>
    <p:sldId id="1154" r:id="rId17"/>
    <p:sldId id="1151" r:id="rId18"/>
    <p:sldId id="1152" r:id="rId19"/>
    <p:sldId id="1155" r:id="rId20"/>
    <p:sldId id="1156" r:id="rId21"/>
    <p:sldId id="1157" r:id="rId22"/>
    <p:sldId id="1158" r:id="rId2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44"/>
            <p14:sldId id="1142"/>
            <p14:sldId id="1143"/>
            <p14:sldId id="1141"/>
            <p14:sldId id="1150"/>
            <p14:sldId id="1153"/>
            <p14:sldId id="1145"/>
            <p14:sldId id="1147"/>
            <p14:sldId id="1159"/>
            <p14:sldId id="1149"/>
            <p14:sldId id="1148"/>
            <p14:sldId id="1146"/>
            <p14:sldId id="1154"/>
            <p14:sldId id="1151"/>
            <p14:sldId id="1152"/>
            <p14:sldId id="1155"/>
            <p14:sldId id="1156"/>
            <p14:sldId id="1157"/>
            <p14:sldId id="115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50" d="100"/>
        <a:sy n="150" d="100"/>
      </p:scale>
      <p:origin x="0" y="-11232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2026-09-30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2026-09-30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2026-09-30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gchain-ai/rag-from-scratch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CHAPERT 3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 Part II: Chatting with Your Data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RAG(Retrieval-Augmented Generation)?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E27A3-7BCD-B963-0B8B-1E167166F732}"/>
              </a:ext>
            </a:extLst>
          </p:cNvPr>
          <p:cNvSpPr txBox="1"/>
          <p:nvPr/>
        </p:nvSpPr>
        <p:spPr>
          <a:xfrm>
            <a:off x="609600" y="1220714"/>
            <a:ext cx="1097280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is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automated system to fetch relevant information from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vector DB based on a user’s query, append it as context to the prompt, and then execute the generation request to the LLM.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914B3C4-49E5-C000-A4BB-024EA462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4" y="2337662"/>
            <a:ext cx="7712108" cy="358171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632C8E-0AC8-B413-126F-75B105DAB138}"/>
              </a:ext>
            </a:extLst>
          </p:cNvPr>
          <p:cNvSpPr txBox="1"/>
          <p:nvPr/>
        </p:nvSpPr>
        <p:spPr>
          <a:xfrm>
            <a:off x="8772524" y="2381615"/>
            <a:ext cx="2985367" cy="36625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(Indexing)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데이터 소스를 전처리하고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의미를 나타내는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벡터 저장소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(Vector Store)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저장하여 나중에 쉽게 검색할 수 있도록 만드는 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기반으로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저장소에 보관되어 있는 관련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임베딩과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데이터를 찾아오는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추출하는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3.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원래 질문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(Prompt)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 검색을 통해 찾아낸 관련 문서들을 하나로 결합하여 최종 프롬프트를 만들고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모델에 보내 예측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답변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유도하는 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230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50F7-41AF-AE88-E1DC-B4511268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5C9C2A0-964F-B1F3-1D67-029CEE79CE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9A1C9-9C9F-B20D-8C7D-C0613F3A5AC4}"/>
              </a:ext>
            </a:extLst>
          </p:cNvPr>
          <p:cNvSpPr txBox="1"/>
          <p:nvPr/>
        </p:nvSpPr>
        <p:spPr>
          <a:xfrm>
            <a:off x="589164" y="1348800"/>
            <a:ext cx="6507480" cy="2308324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환경 변수 및 인증 정보 설정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1)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접속 정보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앞서 확인한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API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주소와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anon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SUPABASE_URL = "https://tllrshlupjcikzaywaqm.supabase.co" 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SUPABASE_KEY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Client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(SUPABASE_URL, SUPABASE_KEY)</a:t>
            </a:r>
          </a:p>
          <a:p>
            <a:pPr>
              <a:buNone/>
            </a:pP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2)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API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 설정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YOUR_API_KEY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os.environ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["GROQ_API_KEY"] = YOUR_API_KEY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558C6B-74A4-A3A1-B6ED-C278B9DC5E2F}"/>
              </a:ext>
            </a:extLst>
          </p:cNvPr>
          <p:cNvSpPr txBox="1"/>
          <p:nvPr/>
        </p:nvSpPr>
        <p:spPr>
          <a:xfrm>
            <a:off x="4052223" y="2957594"/>
            <a:ext cx="7863552" cy="3600986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로드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분할 및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(Ingestion)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로드 및 분할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raw_documents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('./test.txt', encoding='utf-8').load()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text_splitter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chunk_size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=1000,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chunk_overlap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=200)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text_splitter.split_documents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raw_documents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수파베이스와 연동할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384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모델 설정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embeddings_model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="all-MiniLM-L6-v2")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VectorStore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데이터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Store 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인덱싱 및 저장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SupabaseVectorStore.from_documents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documents=documents,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embedding=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embeddings_model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client=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table_name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="documents",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query_name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match_documents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 # SQL Editor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등록한 함수 이름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6BF6CAC-AF26-DF9E-B5CC-1A5C070AE83B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439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7014-8714-34AC-34E8-516648C3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4F1AF93-E975-B956-7159-AE13BD3B424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68EEC-4E15-A8F4-D42E-03E389DEFB13}"/>
              </a:ext>
            </a:extLst>
          </p:cNvPr>
          <p:cNvSpPr txBox="1"/>
          <p:nvPr/>
        </p:nvSpPr>
        <p:spPr>
          <a:xfrm>
            <a:off x="344366" y="1313988"/>
            <a:ext cx="6507480" cy="3231654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검색기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(Retriever)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및 프롬프트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LLM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유사한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(cosine similarity)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개를 뽑아오는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리트리버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생성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retriever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db.as_retriever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search_kwargs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={"k": 2})</a:t>
            </a:r>
          </a:p>
          <a:p>
            <a:pPr>
              <a:buNone/>
            </a:pP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 = 'Who are the key figures in the ancient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greek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history of philosophy?'</a:t>
            </a:r>
          </a:p>
          <a:p>
            <a:pPr>
              <a:buNone/>
            </a:pP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프롬프트 템플릿 정의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prompt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ChatPromptTemplate.from_template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"""Answer the question based only on the following context: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{context}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  Question: {question}"""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초고속 가성비 모델인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(Llama 3)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모델로 교체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="llama-3.1-8b-instant", temperature=0)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492F2-B932-47EA-82F0-F939B140AD3A}"/>
              </a:ext>
            </a:extLst>
          </p:cNvPr>
          <p:cNvSpPr txBox="1"/>
          <p:nvPr/>
        </p:nvSpPr>
        <p:spPr>
          <a:xfrm>
            <a:off x="5408295" y="2797961"/>
            <a:ext cx="6507480" cy="3970318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LCEL @chain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데코레이터를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활용한 효율적인 파이썬 함수 캡슐화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print("Running RAG system using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...\n")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@chain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qa_chain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1. Retrieval: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질문과 관련된 문서 조각 가져오기</a:t>
            </a:r>
          </a:p>
          <a:p>
            <a:pPr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docs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retriever.invoke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2. Prompt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조립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질문과 컨텍스트 결합</a:t>
            </a:r>
          </a:p>
          <a:p>
            <a:pPr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formatted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prompt.invoke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({"context": docs, "question":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3. Generation: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통해 답변 생성</a:t>
            </a:r>
          </a:p>
          <a:p>
            <a:pPr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answer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llm.invoke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(formatted)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answer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RAG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체인 실행 및 결과 출력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qa_chain.invoke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print("[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 답변 결과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]")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result.content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322B9-219C-8B79-A1AA-6578697278DE}"/>
              </a:ext>
            </a:extLst>
          </p:cNvPr>
          <p:cNvSpPr txBox="1"/>
          <p:nvPr/>
        </p:nvSpPr>
        <p:spPr>
          <a:xfrm>
            <a:off x="344366" y="4783120"/>
            <a:ext cx="4754107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ancient Greek history of philosophy is a monumental chapter in human intellectual history. Greek philosophers and scientists laid the………..</a:t>
            </a:r>
          </a:p>
          <a:p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최종 답변이 안 나오는 이유는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F5C567E-897D-B18B-8602-B7B69378A81E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28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4B8C-B5B7-ACB2-470A-E3EABFB4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20C3598-52CB-E2CD-3B36-0771802B88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to build a production-ready RAG system?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5F91C8-3335-5794-A260-4E134A236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9" y="1690133"/>
            <a:ext cx="5854224" cy="4305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1FD390-1697-9486-30C6-D60725BBD184}"/>
              </a:ext>
            </a:extLst>
          </p:cNvPr>
          <p:cNvSpPr txBox="1"/>
          <p:nvPr/>
        </p:nvSpPr>
        <p:spPr>
          <a:xfrm>
            <a:off x="6638925" y="1690133"/>
            <a:ext cx="5183620" cy="461664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입력의 가변성 관리: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사용자마다 다르게 입력하는 질문의 품질(모호함, 오타 등)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어떻게 대응할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 라우팅(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Routing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데이터 소스 중 질문에 맞는 적절한 데이터 소스로 쿼리를 어떻게 분류하고 보낼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 언어 변환: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자연어 질문을 대상 데이터 소스가 이해할 수 있는 쿼리 언어(예: SQL,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NoSQL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쿼리 등)로 어떻게 변환할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프로세스 최적화: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분할(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및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과정을 어떻게 최적화할 것인가?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후처리　알고리즘：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 결과 이후에 후처리 알고리즘을 최적화 단계를 통해 어떻게 답변을 정확히 할 것인가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모델에게 '가장 정확하고, 연관성이 높으며, 깔끔하게 정리된 핵심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정보'만을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주고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결과적으로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사용자에게 매우 정확한 최종 답변을 생성하도록 유도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）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5EA3C06-A55D-1689-D119-26EBAA3AA04C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6</a:t>
            </a:fld>
            <a:endParaRPr lang="en-US" b="1" dirty="0"/>
          </a:p>
        </p:txBody>
      </p:sp>
      <p:pic>
        <p:nvPicPr>
          <p:cNvPr id="6" name="그래픽 5" descr="배지 1 단색으로 채워진">
            <a:extLst>
              <a:ext uri="{FF2B5EF4-FFF2-40B4-BE49-F238E27FC236}">
                <a16:creationId xmlns:a16="http://schemas.microsoft.com/office/drawing/2014/main" id="{42CA4610-C833-E6F0-74B2-3BB27EFA5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3601" y="1683205"/>
            <a:ext cx="330978" cy="330978"/>
          </a:xfrm>
          <a:prstGeom prst="rect">
            <a:avLst/>
          </a:prstGeom>
        </p:spPr>
      </p:pic>
      <p:pic>
        <p:nvPicPr>
          <p:cNvPr id="8" name="그래픽 7" descr="배지 단색으로 채워진">
            <a:extLst>
              <a:ext uri="{FF2B5EF4-FFF2-40B4-BE49-F238E27FC236}">
                <a16:creationId xmlns:a16="http://schemas.microsoft.com/office/drawing/2014/main" id="{63A70F36-023E-0956-1FBD-7AAB567CD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3601" y="2523496"/>
            <a:ext cx="330978" cy="330978"/>
          </a:xfrm>
          <a:prstGeom prst="rect">
            <a:avLst/>
          </a:prstGeom>
        </p:spPr>
      </p:pic>
      <p:pic>
        <p:nvPicPr>
          <p:cNvPr id="11" name="그래픽 10" descr="배지 3 단색으로 채워진">
            <a:extLst>
              <a:ext uri="{FF2B5EF4-FFF2-40B4-BE49-F238E27FC236}">
                <a16:creationId xmlns:a16="http://schemas.microsoft.com/office/drawing/2014/main" id="{84000749-85A6-DBC2-3CC4-EDC4139E5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3601" y="3395039"/>
            <a:ext cx="330978" cy="330978"/>
          </a:xfrm>
          <a:prstGeom prst="rect">
            <a:avLst/>
          </a:prstGeom>
        </p:spPr>
      </p:pic>
      <p:pic>
        <p:nvPicPr>
          <p:cNvPr id="14" name="그래픽 13" descr="배지 4 단색으로 채워진">
            <a:extLst>
              <a:ext uri="{FF2B5EF4-FFF2-40B4-BE49-F238E27FC236}">
                <a16:creationId xmlns:a16="http://schemas.microsoft.com/office/drawing/2014/main" id="{F0927B40-CD31-3AE5-612C-43478CE80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3601" y="4231433"/>
            <a:ext cx="330978" cy="330978"/>
          </a:xfrm>
          <a:prstGeom prst="rect">
            <a:avLst/>
          </a:prstGeom>
        </p:spPr>
      </p:pic>
      <p:pic>
        <p:nvPicPr>
          <p:cNvPr id="16" name="그래픽 15" descr="배지 5 단색으로 채워진">
            <a:extLst>
              <a:ext uri="{FF2B5EF4-FFF2-40B4-BE49-F238E27FC236}">
                <a16:creationId xmlns:a16="http://schemas.microsoft.com/office/drawing/2014/main" id="{546E2057-A116-5FD2-E1ED-982B353C7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3601" y="4880883"/>
            <a:ext cx="330978" cy="33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4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372F-584A-3720-5EA3-5BC174A4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D712C7-88FF-B03C-0041-0910E14CF15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Indexing &amp; Search the Vector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66EEA0-1F46-6B06-7214-66461A63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2" y="1355281"/>
            <a:ext cx="4331276" cy="50488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D42372-0CC1-F607-2405-C7C478F4983B}"/>
              </a:ext>
            </a:extLst>
          </p:cNvPr>
          <p:cNvSpPr txBox="1"/>
          <p:nvPr/>
        </p:nvSpPr>
        <p:spPr>
          <a:xfrm>
            <a:off x="5160847" y="1595429"/>
            <a:ext cx="6234542" cy="153183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An example flow of indexing documents alongside retrieval of relevant documents from a vector store; the Hierarchical Navigable Small World (HNSW) box depicts calculating similarity of documents against the user’s query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8C37FB-284E-EC98-BE38-02540B0599AA}"/>
                  </a:ext>
                </a:extLst>
              </p:cNvPr>
              <p:cNvSpPr txBox="1"/>
              <p:nvPr/>
            </p:nvSpPr>
            <p:spPr>
              <a:xfrm>
                <a:off x="5160847" y="3920062"/>
                <a:ext cx="6326909" cy="17674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8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Hierarchical Navigable Small World (HNSW)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RDBMS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의 </a:t>
                </a:r>
                <a:r>
                  <a:rPr lang="en-US" altLang="ko-KR" sz="14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B+Tree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알고리즘과 유사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: 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새로운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query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에 대해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N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개의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vectors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 대상으로 검색 시 연산 효율이 증가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4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벡터 데이터베이스(</a:t>
                </a:r>
                <a:r>
                  <a:rPr lang="ko-KR" altLang="ko-KR" sz="14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Vector</a:t>
                </a:r>
                <a:r>
                  <a:rPr lang="ko-KR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DB): </a:t>
                </a:r>
                <a:r>
                  <a:rPr lang="ko-KR" altLang="ko-KR" sz="14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Milvus</a:t>
                </a:r>
                <a:r>
                  <a:rPr lang="ko-KR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ko-KR" sz="14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Pinecone</a:t>
                </a:r>
                <a:r>
                  <a:rPr lang="ko-KR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ko-KR" sz="14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Qdrant</a:t>
                </a:r>
                <a:r>
                  <a:rPr lang="ko-KR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ko-KR" sz="14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Chroma</a:t>
                </a:r>
                <a:r>
                  <a:rPr lang="ko-KR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등 대표적인 벡터 </a:t>
                </a:r>
                <a:r>
                  <a:rPr lang="ko-KR" altLang="ko-KR" sz="14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DB에서</a:t>
                </a:r>
                <a:r>
                  <a:rPr lang="ko-KR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인덱싱 알고리즘으로 채택</a:t>
                </a:r>
                <a:endPara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8C37FB-284E-EC98-BE38-02540B059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847" y="3920062"/>
                <a:ext cx="6326909" cy="1767472"/>
              </a:xfrm>
              <a:prstGeom prst="rect">
                <a:avLst/>
              </a:prstGeom>
              <a:blipFill>
                <a:blip r:embed="rId3"/>
                <a:stretch>
                  <a:fillRect l="-770" b="-20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82948B-6D90-FF71-6DFB-D937760CF354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275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65FA-5A82-B436-A744-71C8BC1BF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7A10316-F9AC-8EAD-793D-31A1E7253398}"/>
              </a:ext>
            </a:extLst>
          </p:cNvPr>
          <p:cNvSpPr/>
          <p:nvPr/>
        </p:nvSpPr>
        <p:spPr>
          <a:xfrm>
            <a:off x="2152650" y="1400751"/>
            <a:ext cx="5676900" cy="466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3DD2CD5-595E-D34C-47F2-1533438A427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8E036-F1F3-29F5-2DCD-2E433A8FFF4F}"/>
              </a:ext>
            </a:extLst>
          </p:cNvPr>
          <p:cNvSpPr txBox="1"/>
          <p:nvPr/>
        </p:nvSpPr>
        <p:spPr>
          <a:xfrm>
            <a:off x="2733675" y="1381701"/>
            <a:ext cx="4791075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 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366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E7C5-3E23-B436-1692-8DC23B53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B1DA200-D1BD-8957-2555-D8648F8A3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050" name="Picture 2" descr="도서관에서 램프 아래서 공부하는 사람들">
            <a:extLst>
              <a:ext uri="{FF2B5EF4-FFF2-40B4-BE49-F238E27FC236}">
                <a16:creationId xmlns:a16="http://schemas.microsoft.com/office/drawing/2014/main" id="{EED2A11B-8C3A-E9C2-E4A2-7B0ABD97A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2366012"/>
            <a:ext cx="4371975" cy="28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43317B-A396-DE0D-1096-E289F92E4AD5}"/>
              </a:ext>
            </a:extLst>
          </p:cNvPr>
          <p:cNvSpPr txBox="1"/>
          <p:nvPr/>
        </p:nvSpPr>
        <p:spPr>
          <a:xfrm>
            <a:off x="5664675" y="2366012"/>
            <a:ext cx="5874327" cy="297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질문을 바꾸면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보이지 않던 정답이 보인다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!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도서관에 모인 여러 사람이 저마다의 시선으로 책을 읽듯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하나의 질문을 다양한 관점에서 질문하라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아는 만큼 질문하니 배우자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D45A09E-F796-A1A3-C410-FCAFCC020F5D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4662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245-9EDB-46A3-1F2A-4501E08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DB553A-0412-FD51-E0DB-FBD53447F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CD26D-1BF6-C93E-CACA-6F5B48C79395}"/>
              </a:ext>
            </a:extLst>
          </p:cNvPr>
          <p:cNvSpPr txBox="1"/>
          <p:nvPr/>
        </p:nvSpPr>
        <p:spPr>
          <a:xfrm>
            <a:off x="542320" y="1575886"/>
            <a:ext cx="10925780" cy="416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,..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질문을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3~4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표현으로 복제한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여러 개의 질문에서 도출된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조각 문서에 랭킹을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부여하여 찾아내기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기반으로 가상의 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(Hypothetical Document)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생성하고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문서를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유사도를 바탕으로 관련 문서를 검색하는 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1EC5CCE-6718-089C-6D4B-556CD22B4312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3265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F4E3-E67C-9BAF-371A-93DFEECB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AD7CBA-31A4-09CB-B7B4-C0EE49E65DE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6B856-0E9C-4457-343E-665F75B83343}"/>
              </a:ext>
            </a:extLst>
          </p:cNvPr>
          <p:cNvSpPr txBox="1"/>
          <p:nvPr/>
        </p:nvSpPr>
        <p:spPr>
          <a:xfrm>
            <a:off x="8077805" y="70911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57281-8E6A-D274-A120-7ACFD40C1A10}"/>
              </a:ext>
            </a:extLst>
          </p:cNvPr>
          <p:cNvSpPr txBox="1"/>
          <p:nvPr/>
        </p:nvSpPr>
        <p:spPr>
          <a:xfrm>
            <a:off x="683491" y="1301686"/>
            <a:ext cx="10904570" cy="337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입력한 원래 질문(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)을 그대로 검색에 쓰지 않고,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1차, 2차 등 여러 단계에 걸쳐 검색에 더 적합한 형태로 변환된 쿼리로 벡터스토어에서 관련 문서 조각(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)을 찾아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Rewrite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 질문을 재작성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재작성된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쿼리로 벡터스토어에서 관련 문서 검색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검색된 문서를 바탕으로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답변 생성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472D1FD-DFBE-9336-E125-D03F9C3993E9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11</a:t>
            </a:fld>
            <a:endParaRPr lang="en-US" b="1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604CC06-3756-0A75-0E7B-875D05CAC3CD}"/>
              </a:ext>
            </a:extLst>
          </p:cNvPr>
          <p:cNvCxnSpPr>
            <a:cxnSpLocks/>
          </p:cNvCxnSpPr>
          <p:nvPr/>
        </p:nvCxnSpPr>
        <p:spPr>
          <a:xfrm>
            <a:off x="1805709" y="2826327"/>
            <a:ext cx="0" cy="360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4A3BC26-3EBC-86D9-86EE-BFB68D8A11B1}"/>
              </a:ext>
            </a:extLst>
          </p:cNvPr>
          <p:cNvCxnSpPr>
            <a:cxnSpLocks/>
          </p:cNvCxnSpPr>
          <p:nvPr/>
        </p:nvCxnSpPr>
        <p:spPr>
          <a:xfrm>
            <a:off x="1805709" y="3634509"/>
            <a:ext cx="0" cy="360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427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338F9-B71E-6FC8-ED80-4F6B58A7C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0E64DC4-7DDB-5AC2-6FA0-FEE69261CA7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90AC2-ADED-B65F-8CEA-8B11F7AADE34}"/>
              </a:ext>
            </a:extLst>
          </p:cNvPr>
          <p:cNvSpPr txBox="1"/>
          <p:nvPr/>
        </p:nvSpPr>
        <p:spPr>
          <a:xfrm>
            <a:off x="8077805" y="70911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22D524D-4E95-299E-EB3B-80CC993EB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881" y="2469458"/>
            <a:ext cx="7773074" cy="37493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99CCD7-FDDB-56B8-0D57-C45233F6FD5F}"/>
              </a:ext>
            </a:extLst>
          </p:cNvPr>
          <p:cNvSpPr txBox="1"/>
          <p:nvPr/>
        </p:nvSpPr>
        <p:spPr>
          <a:xfrm>
            <a:off x="104775" y="1301686"/>
            <a:ext cx="11483286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질문을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3~4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표현으로 복제한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A0EBC61-5B54-B46B-8BF5-8720E88B02FC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962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C52D-50D8-DE43-C625-4ED19DE4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305C63E-AA27-C44C-1DAC-C4E541FCFC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05CA3-677A-03A6-7E7E-0C6E4CC16359}"/>
              </a:ext>
            </a:extLst>
          </p:cNvPr>
          <p:cNvSpPr txBox="1"/>
          <p:nvPr/>
        </p:nvSpPr>
        <p:spPr>
          <a:xfrm>
            <a:off x="8077805" y="70911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9354A-E1BC-7136-D599-84F38A0036C6}"/>
              </a:ext>
            </a:extLst>
          </p:cNvPr>
          <p:cNvSpPr txBox="1"/>
          <p:nvPr/>
        </p:nvSpPr>
        <p:spPr>
          <a:xfrm>
            <a:off x="104775" y="1235011"/>
            <a:ext cx="11483286" cy="120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검색한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모두 랭킹을 부여하여 각 사용자가 의도한 표현을 정확히 포착하고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쿼리를 효과적으로 탐색하며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검색되는 문서의 범위를 넓혀 뜻밖의 유용한 발견을 가능하게 하는 알고리즘이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8D0E03-CDFF-3C49-02F7-7E812922B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90" y="2728913"/>
            <a:ext cx="9113606" cy="341997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4B9924-C338-1A7A-E575-7C8DF3FA9D97}"/>
              </a:ext>
            </a:extLst>
          </p:cNvPr>
          <p:cNvSpPr txBox="1"/>
          <p:nvPr/>
        </p:nvSpPr>
        <p:spPr>
          <a:xfrm>
            <a:off x="991590" y="6229350"/>
            <a:ext cx="530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source : https://github.com/langchain-ai/rag-from-scratch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12654F3-7720-D3F3-00BB-A6484039E7E8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946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6FF2-8F08-1AF5-2531-DA9A1728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F8DB056-06F0-CB23-713E-F4804CF08B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16B2D-A0E4-6EBA-3C78-4F56485C0946}"/>
              </a:ext>
            </a:extLst>
          </p:cNvPr>
          <p:cNvSpPr txBox="1"/>
          <p:nvPr/>
        </p:nvSpPr>
        <p:spPr>
          <a:xfrm>
            <a:off x="7639050" y="709111"/>
            <a:ext cx="4039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93AB51-8EAB-5853-0D76-BB5F27AC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71" y="1830277"/>
            <a:ext cx="7151704" cy="4388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C4F66C-EE80-AC0E-D364-94B62758DDE9}"/>
              </a:ext>
            </a:extLst>
          </p:cNvPr>
          <p:cNvSpPr txBox="1"/>
          <p:nvPr/>
        </p:nvSpPr>
        <p:spPr>
          <a:xfrm>
            <a:off x="8086553" y="1706452"/>
            <a:ext cx="3562868" cy="361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검색할 때 원래 질문인 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연주황색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원을 그대로 사용하는 것보다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거쳐 만들어진 가짜 답변인 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연빨간색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원을 사용하면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진짜 정답 문서들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🟢🟢🟢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모여 있는 곳으로 훨씬 더 가깝게 접근할 수 있어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정확도가 높아지는 알고리즘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E7EE86D-B448-93FB-0022-080F1770DBA2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7427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CDC85-5E1A-1016-76E9-AE940CBD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1C45773-93D9-590A-3670-583BFB0FBB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 : 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8536A-089E-D4BA-543D-9B7346C3698E}"/>
              </a:ext>
            </a:extLst>
          </p:cNvPr>
          <p:cNvSpPr txBox="1"/>
          <p:nvPr/>
        </p:nvSpPr>
        <p:spPr>
          <a:xfrm>
            <a:off x="585787" y="1481168"/>
            <a:ext cx="11020425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왜 쿼리를 변형할까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던진 날것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(Raw)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그대로의 질문은 검색 엔진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(Vector Store)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이해하기에 너무 짧거나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군더더기가 많거나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문맥이 빠져 있을 수 있으니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필터이자 확장기로 사용하여 검색하기 가장 좋은 최적의 상태로 변형하는 것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altLang="ko-KR" sz="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실무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시스템 구축 시 가장 자주 쓰이는 패턴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(Prompt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가이드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노이즈 제거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(Removing irrelevant text):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안녕하세요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혹시 다름이 아니라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년 연말정산 프로세스에 대해 알고 싶어서 문의 드리는데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..."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인사말이나 불필요한 수식어를 깎아내고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2026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연말정산 프로세스라는 핵심 키워드만 남겨라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맥락 반영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(Grounding with past history):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이전에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샌프란시스코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(SF)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날씨 어때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라고 묻고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이어서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했다면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무엇을 묻는지 알 수 없습니다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이전 대화 맥락을 합쳐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LA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날씨라는 온전한 질문으로 복원하라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ConversationalRetrievalChain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검색망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넓히기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(Casting a wider net):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원리로 유의어나 연관 질문들을 여러 개 생성해 냄으로써 단 한 번의 검색으로는 놓칠 수 있었던 정답 문서들을 촘촘하게 찾아내라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845047B-6A54-8B91-7F6A-7B7922300450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4725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6E461-5CBD-3C82-01EF-70D3B1BB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BC9C171-5FD1-C19E-6578-901B156E2161}"/>
              </a:ext>
            </a:extLst>
          </p:cNvPr>
          <p:cNvSpPr/>
          <p:nvPr/>
        </p:nvSpPr>
        <p:spPr>
          <a:xfrm>
            <a:off x="2152650" y="3658176"/>
            <a:ext cx="5676900" cy="466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F3BB8CC-BF29-6D14-D7CE-44DADEBEDC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B1B7E-1C6B-C25C-D18B-96DDDF736764}"/>
              </a:ext>
            </a:extLst>
          </p:cNvPr>
          <p:cNvSpPr txBox="1"/>
          <p:nvPr/>
        </p:nvSpPr>
        <p:spPr>
          <a:xfrm>
            <a:off x="2733675" y="1381701"/>
            <a:ext cx="4791075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 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2557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B1D0-AA4E-FFDF-46BF-D75795FF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930725-FCAF-2D11-6493-8D222571269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Routing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9F91F-AC31-CCC8-D12B-09B1EC48CCA1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27F0CC-4A4B-98EB-C735-B408F541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753166"/>
            <a:ext cx="6950042" cy="31778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9D94A8-9F75-B509-5B85-70D06E5ED9C5}"/>
              </a:ext>
            </a:extLst>
          </p:cNvPr>
          <p:cNvSpPr txBox="1"/>
          <p:nvPr/>
        </p:nvSpPr>
        <p:spPr>
          <a:xfrm>
            <a:off x="552449" y="1248422"/>
            <a:ext cx="11096625" cy="111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추론 능력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활용해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보고 어느 데이터 소스로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보낼지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직접 판단하게 하는 방식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정해진 규칙대로 길을 찾는 방식으로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Pydantic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Literal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활용해 결과물의 선택지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스키마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엄격히 제한한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분석해서 이 형식에 맞춰 답해라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 명령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(Function Calling)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B56ED5-C021-65AF-865F-9F69E5B5B0F2}"/>
              </a:ext>
            </a:extLst>
          </p:cNvPr>
          <p:cNvSpPr txBox="1"/>
          <p:nvPr/>
        </p:nvSpPr>
        <p:spPr>
          <a:xfrm>
            <a:off x="7709952" y="2801597"/>
            <a:ext cx="3939122" cy="33663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장점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복잡한 조건문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비즈니스 로직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혹은 데이터 구조에 맞춘 정교하고 정밀한 분기가 가능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거쳐야 하므로 답변 속도가 상대면으로 느리고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API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비용이 발생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적합한 상황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 소스의 종류가 명확하게 정해져 있고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단순 단어 비교 이상의 깊은 문맥 판단이 필요한 경우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462DC7B-BF2F-BD00-85DC-1E8ECA46A357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17</a:t>
            </a:fld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5F254-05B5-2438-49C1-2C28CEDD3F7D}"/>
              </a:ext>
            </a:extLst>
          </p:cNvPr>
          <p:cNvSpPr txBox="1"/>
          <p:nvPr/>
        </p:nvSpPr>
        <p:spPr>
          <a:xfrm>
            <a:off x="4692074" y="4177961"/>
            <a:ext cx="2613890" cy="10618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ko-KR" sz="105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질문이 들어오면 </a:t>
            </a:r>
            <a:r>
              <a:rPr lang="ko-KR" altLang="ko-KR" sz="105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05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먼저 질문의 의도와 문맥을 분석</a:t>
            </a:r>
            <a:r>
              <a:rPr lang="ko-KR" altLang="en-US" sz="105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후</a:t>
            </a:r>
            <a:r>
              <a:rPr lang="ko-KR" altLang="ko-KR" sz="105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여러 데이터 소스(관계형 DB, 그래프 DB, 벡터 DB 등) 중 가장 적합한 곳으로 길을 안내(</a:t>
            </a:r>
            <a:r>
              <a:rPr lang="ko-KR" altLang="ko-KR" sz="105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Routing</a:t>
            </a:r>
            <a:r>
              <a:rPr lang="ko-KR" altLang="ko-KR" sz="105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)한 뒤에 검색을 수행</a:t>
            </a:r>
            <a:endParaRPr lang="ko-KR" altLang="en-US" sz="105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9948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2EEB-190A-86E9-C96A-9AF9C98A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937CC13-8946-2354-9B1C-DF61EA1DC04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Routing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DA209-6860-FCD6-3ECD-C1F3D2B90633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E604AD-BA68-FF75-86AF-82B61E31D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8" y="2511817"/>
            <a:ext cx="7250848" cy="28623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88D741-0036-4797-3EA9-C00EDA6FCAD0}"/>
              </a:ext>
            </a:extLst>
          </p:cNvPr>
          <p:cNvSpPr txBox="1"/>
          <p:nvPr/>
        </p:nvSpPr>
        <p:spPr>
          <a:xfrm>
            <a:off x="609297" y="1248422"/>
            <a:ext cx="1097340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없이 각 목적지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(DB)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대표하는 여러 개의 샘플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(Example Prompts)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벡터화하여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벡터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미리 저장한 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 벡터가 들어오면 이 샘플질문들과 코사인 유사도로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1:N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비교해 해당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찾기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31372-6152-D43F-69ED-BC1D406CF576}"/>
              </a:ext>
            </a:extLst>
          </p:cNvPr>
          <p:cNvSpPr txBox="1"/>
          <p:nvPr/>
        </p:nvSpPr>
        <p:spPr>
          <a:xfrm>
            <a:off x="7944455" y="2570049"/>
            <a:ext cx="3998082" cy="29678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장점: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추론 과정을 생략하므로 속도가 압도적으로 빠르고(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밀리초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단위), 비용이 거의 들지 않음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단점: 정해진 샘플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문장들과의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유사성'에만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의존하므로, 복잡하고 정교한 조건부 분기는 어려움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적합한 상황: 자주 들어오는 질문 패턴이 명확히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갈려있고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비용 절감과 빠른 응답 속도가 최우선인 경우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74803A8-CF07-4221-378C-12596342E6F9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67266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463D-366D-2B2B-52E1-FC802DB4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31CABE4-A4EA-3C35-D08A-90CAA5B9E1A8}"/>
              </a:ext>
            </a:extLst>
          </p:cNvPr>
          <p:cNvSpPr/>
          <p:nvPr/>
        </p:nvSpPr>
        <p:spPr>
          <a:xfrm>
            <a:off x="2152650" y="5163126"/>
            <a:ext cx="5676900" cy="466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58F8EA-6724-9B2B-13EB-451014536D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04547-CE37-5C70-211C-92CD5247E38A}"/>
              </a:ext>
            </a:extLst>
          </p:cNvPr>
          <p:cNvSpPr txBox="1"/>
          <p:nvPr/>
        </p:nvSpPr>
        <p:spPr>
          <a:xfrm>
            <a:off x="2733675" y="1381701"/>
            <a:ext cx="4791075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 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5FE464D-663F-C59E-5297-11BB651B158F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36213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156F-E80F-CCB3-ED85-5B95EFE2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84E45EB-21F8-4261-E403-625565A488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Construction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F0206-695A-0E6A-F3BF-FC530C7AC2C1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/>
              <a:t>Text-to-Metadata Filter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FCE8C-4944-E5F0-3B30-8022342A424D}"/>
              </a:ext>
            </a:extLst>
          </p:cNvPr>
          <p:cNvSpPr txBox="1"/>
          <p:nvPr/>
        </p:nvSpPr>
        <p:spPr>
          <a:xfrm>
            <a:off x="609297" y="1229950"/>
            <a:ext cx="1097340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원본데이터를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임베딩할때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본문과 메타데이터가 저장되면 데이터에 미리 꼬리표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태그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붙게 되어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나중에 검색할 때 단순 텍스트 유사도 검색만 쓰지 말고 이 그 꼬리표를 기준으로 필터링하는 메타데이터 필터링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0C00D7-C06B-18F1-0AFD-F2D3F6F20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132" y="2478457"/>
            <a:ext cx="7944170" cy="35898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EC34A5-97A3-F689-24E2-4594613A719B}"/>
              </a:ext>
            </a:extLst>
          </p:cNvPr>
          <p:cNvSpPr txBox="1"/>
          <p:nvPr/>
        </p:nvSpPr>
        <p:spPr>
          <a:xfrm>
            <a:off x="609297" y="2570049"/>
            <a:ext cx="3048000" cy="231993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“What are movies about aliens in the year 1980?” This question contains an unstructured topic that can be retrieved via embeddings (aliens), but it also contains potential structured components (year == 1980).</a:t>
            </a:r>
            <a:endParaRPr lang="ko-KR" altLang="en-US" sz="140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E2CBB94-542C-69BB-0F14-08432BBA745E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108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3007-E9EC-8882-E07C-3F4E17ECF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BAA798D-E903-3D7A-2E0C-6D1580F1015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Construction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BC8B3-2997-C2C9-FB40-4D83AFE966C8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/>
              <a:t>Text-to-SQL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DDF4A7-2C71-3D20-E265-F55C50DE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986" y="3169471"/>
            <a:ext cx="7664027" cy="3285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8D475-173F-B7C3-D2B5-3E8F3FD8026C}"/>
              </a:ext>
            </a:extLst>
          </p:cNvPr>
          <p:cNvSpPr txBox="1"/>
          <p:nvPr/>
        </p:nvSpPr>
        <p:spPr>
          <a:xfrm>
            <a:off x="2287592" y="2651289"/>
            <a:ext cx="6505426" cy="30072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langchain_classic.chains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create_sql_query_chain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D4AB0-1948-2092-5291-CDCD00B59FD0}"/>
              </a:ext>
            </a:extLst>
          </p:cNvPr>
          <p:cNvSpPr txBox="1"/>
          <p:nvPr/>
        </p:nvSpPr>
        <p:spPr>
          <a:xfrm>
            <a:off x="571500" y="1235242"/>
            <a:ext cx="1110615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우리 데이터베이스의 언어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(Dialect)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맞는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쿼리로 변환한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데이터베이스에서 해당 쿼리를 실행하지만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유의할 점은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입력으로부터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생성한 임의의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쿼리를 데이터베이스에서 그대로 실행하는 것은 실제 운영 애플리케이션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(Production)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매우 위험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0C1ED1F-0C14-EB47-B530-87E787FFA4F4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21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7518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5094-E673-444F-03F6-D964B6EAE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8BA717A-B7CB-1D8D-898B-453AE929263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EF803-CB1A-3099-B8CF-CEF24D361A42}"/>
              </a:ext>
            </a:extLst>
          </p:cNvPr>
          <p:cNvSpPr txBox="1"/>
          <p:nvPr/>
        </p:nvSpPr>
        <p:spPr>
          <a:xfrm>
            <a:off x="571219" y="1569819"/>
            <a:ext cx="11049562" cy="414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문서들을 벡터로 변환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저장하고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질문과 비슷한 걸 뽑아서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넘겨준다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기본적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구조는 실제 서비스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(Production)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환경에서 많은 한계에 부딪히는데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실제 사용자가 만족할 만한 강력한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시스템을 만들려면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 변환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사용자가 애매하게 질문했을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검색을 더 잘할 수 있도록 질문을 구체적인 여러 개로 쪼개거나 다른 표현으로 재 작성하는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 구성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단순 텍스트 검색에만 쓰는 게 아니라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나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처럼 데이터베이스가 완벽하게 이해할 수 있는 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구조화된 쿼리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빌드하는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라우팅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질문이 들어왔을 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SQL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보내야 할까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아니면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보내야 할까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판단하여 적절한 데이터 소스로 길을 찾아주는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Indexing Optimization (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인덱싱 최적화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데이터를 저장할 때부터 메타데이터를 잘 정제하고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중복을 제거하며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검색 속도와 정확도를 높일 수 있도록 데이터 구조를 최적화하는 기술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0DEF219-62E7-7523-B6B2-1511C9697162}"/>
              </a:ext>
            </a:extLst>
          </p:cNvPr>
          <p:cNvSpPr txBox="1">
            <a:spLocks/>
          </p:cNvSpPr>
          <p:nvPr/>
        </p:nvSpPr>
        <p:spPr>
          <a:xfrm>
            <a:off x="11162230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82000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14932</TotalTime>
  <Words>2049</Words>
  <Application>Microsoft Office PowerPoint</Application>
  <PresentationFormat>와이드스크린</PresentationFormat>
  <Paragraphs>255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D2Coding</vt:lpstr>
      <vt:lpstr>맑은 고딕</vt:lpstr>
      <vt:lpstr>Batang</vt:lpstr>
      <vt:lpstr>Arial</vt:lpstr>
      <vt:lpstr>Cambria Math</vt:lpstr>
      <vt:lpstr>Wingdings</vt:lpstr>
      <vt:lpstr>WelcomeDoc</vt:lpstr>
      <vt:lpstr>CHAPERT 3 RAG Part II: Chatting with Your Data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205</cp:revision>
  <dcterms:created xsi:type="dcterms:W3CDTF">2026-04-06T01:00:39Z</dcterms:created>
  <dcterms:modified xsi:type="dcterms:W3CDTF">2026-09-30T02:15:20Z</dcterms:modified>
  <cp:version/>
</cp:coreProperties>
</file>