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6" r:id="rId2"/>
    <p:sldId id="1136" r:id="rId3"/>
    <p:sldId id="1144" r:id="rId4"/>
    <p:sldId id="1145" r:id="rId5"/>
    <p:sldId id="1143" r:id="rId6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36"/>
            <p14:sldId id="1144"/>
            <p14:sldId id="1145"/>
            <p14:sldId id="1143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FF9B45"/>
    <a:srgbClr val="DD462F"/>
    <a:srgbClr val="D24726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62" autoAdjust="0"/>
    <p:restoredTop sz="94297" autoAdjust="0"/>
  </p:normalViewPr>
  <p:slideViewPr>
    <p:cSldViewPr snapToGrid="0">
      <p:cViewPr varScale="1">
        <p:scale>
          <a:sx n="104" d="100"/>
          <a:sy n="104" d="100"/>
        </p:scale>
        <p:origin x="984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2026-07-23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2026-07-23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2026-07-23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7/23/2026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2026-07-23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199" y="1806926"/>
            <a:ext cx="1072515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Get started</a:t>
            </a:r>
            <a:r>
              <a:rPr lang="ko-KR" altLang="en-US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&amp;</a:t>
            </a:r>
            <a:r>
              <a:rPr lang="ko-KR" altLang="en-US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Core</a:t>
            </a:r>
            <a:r>
              <a:rPr lang="ko-KR" altLang="en-US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components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2956321-E11D-FF84-6835-24D29A0AB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20" y="1324674"/>
            <a:ext cx="7398327" cy="964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EDBDF-4942-26B7-ECF8-D411863D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2F42C0-07C8-1960-872A-C341FE529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83E9E23-F77D-44D2-EB8C-9981740FAE8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Contents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8ECA06-2FF9-E6E3-052C-37BEE3C24BCE}"/>
              </a:ext>
            </a:extLst>
          </p:cNvPr>
          <p:cNvSpPr txBox="1"/>
          <p:nvPr/>
        </p:nvSpPr>
        <p:spPr>
          <a:xfrm>
            <a:off x="2015614" y="1856325"/>
            <a:ext cx="9052436" cy="4292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Quickstart</a:t>
            </a:r>
            <a:endParaRPr lang="en-US" altLang="ko-KR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Agents</a:t>
            </a:r>
            <a:r>
              <a:rPr lang="ko-KR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Models</a:t>
            </a:r>
            <a:r>
              <a:rPr lang="ko-KR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Messages</a:t>
            </a:r>
            <a:r>
              <a:rPr lang="ko-KR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Tools</a:t>
            </a:r>
            <a:r>
              <a:rPr lang="ko-KR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Short-term</a:t>
            </a:r>
            <a:r>
              <a:rPr lang="ko-KR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memory</a:t>
            </a:r>
            <a:r>
              <a:rPr lang="ko-KR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Event</a:t>
            </a:r>
            <a:r>
              <a:rPr lang="ko-KR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streaming</a:t>
            </a:r>
            <a:r>
              <a:rPr lang="ko-KR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Streaming</a:t>
            </a:r>
            <a:r>
              <a:rPr lang="ko-KR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Structured</a:t>
            </a:r>
            <a:r>
              <a:rPr lang="ko-KR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output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7070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0B0C7-115A-D0EE-EF49-F744C0C71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5005E2-DB39-947F-2918-DEC2C5DDB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w Cen MT" panose="020B0602020104020603" pitchFamily="34" charset="0"/>
              </a:rPr>
              <a:pPr/>
              <a:t>3</a:t>
            </a:fld>
            <a:endParaRPr lang="en-US" sz="1400" b="1" dirty="0">
              <a:latin typeface="Tw Cen MT" panose="020B0602020104020603" pitchFamily="34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4C494574-61B7-6680-C069-3913CAC9456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Quickstart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458F15-0984-99C0-3578-34F972FCA151}"/>
              </a:ext>
            </a:extLst>
          </p:cNvPr>
          <p:cNvSpPr txBox="1"/>
          <p:nvPr/>
        </p:nvSpPr>
        <p:spPr>
          <a:xfrm>
            <a:off x="6829425" y="664625"/>
            <a:ext cx="4715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Calling a Subgraph Directly</a:t>
            </a:r>
            <a:endParaRPr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9948C2-326F-9F2F-6F53-55565C75C16C}"/>
              </a:ext>
            </a:extLst>
          </p:cNvPr>
          <p:cNvSpPr txBox="1"/>
          <p:nvPr/>
        </p:nvSpPr>
        <p:spPr>
          <a:xfrm>
            <a:off x="622587" y="1543925"/>
            <a:ext cx="8964757" cy="1384995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langchain.agents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create_agent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1.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도구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(Tool)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정의</a:t>
            </a:r>
          </a:p>
          <a:p>
            <a:pPr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def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get_weather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(city: str) -&gt; str:</a:t>
            </a:r>
          </a:p>
          <a:p>
            <a:pPr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"""Get weather for a given city.""" # LLM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 </a:t>
            </a:r>
            <a:r>
              <a:rPr lang="ko-KR" altLang="ko-KR" sz="1400" dirty="0"/>
              <a:t># </a:t>
            </a:r>
            <a:r>
              <a:rPr lang="ko-KR" altLang="ko-KR" sz="1400" dirty="0" err="1"/>
              <a:t>LLM이</a:t>
            </a:r>
            <a:r>
              <a:rPr lang="ko-KR" altLang="ko-KR" sz="1400" dirty="0"/>
              <a:t> 도구의 용도를 이해하는 데 쓰이는 설명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return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f"It's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always sunny in {city}!"</a:t>
            </a:r>
          </a:p>
        </p:txBody>
      </p:sp>
      <p:sp>
        <p:nvSpPr>
          <p:cNvPr id="9" name="설명선: 굽은 선 8">
            <a:extLst>
              <a:ext uri="{FF2B5EF4-FFF2-40B4-BE49-F238E27FC236}">
                <a16:creationId xmlns:a16="http://schemas.microsoft.com/office/drawing/2014/main" id="{36ADC9DD-4BE1-EA78-B750-9DE3C5E9B38B}"/>
              </a:ext>
            </a:extLst>
          </p:cNvPr>
          <p:cNvSpPr/>
          <p:nvPr/>
        </p:nvSpPr>
        <p:spPr>
          <a:xfrm>
            <a:off x="1931916" y="3428999"/>
            <a:ext cx="4284157" cy="254692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9736"/>
              <a:gd name="adj6" fmla="val -24356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도구의 명세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(Schema)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자동 생성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Cascadia Mono SemiLight" panose="020B0609020000020004" pitchFamily="49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Cascadia Mono SemiLight" panose="020B0609020000020004" pitchFamily="49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LangChain은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Python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 함수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get_weather를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 전달받으면 이를 분석해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LLM이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 이해할 수 있는 JSON 형태로 변환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Cascadia Mono SemiLight" panose="020B0609020000020004" pitchFamily="49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Cascadia Mono SemiLight" panose="020B0609020000020004" pitchFamily="49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함수의 이름(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get_weather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), 설명("""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Get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weather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for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a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given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city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."""), 파라미터 이름과 타입(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city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: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str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)을 추출하여 모델에게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알려줌</a:t>
            </a:r>
            <a:endParaRPr lang="ko-KR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Cascadia Mono SemiLight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A67EF6-5616-632A-B0BF-E985FACD7FB7}"/>
              </a:ext>
            </a:extLst>
          </p:cNvPr>
          <p:cNvSpPr txBox="1"/>
          <p:nvPr/>
        </p:nvSpPr>
        <p:spPr>
          <a:xfrm>
            <a:off x="7019635" y="3429000"/>
            <a:ext cx="4198794" cy="313932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"name": "</a:t>
            </a:r>
            <a:r>
              <a:rPr lang="en-US" altLang="ko-KR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get_weather</a:t>
            </a: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"description": "Get weather for a given city.",</a:t>
            </a:r>
          </a:p>
          <a:p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"parameters": {</a:t>
            </a:r>
          </a:p>
          <a:p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"description": "Get weather for a given city.",</a:t>
            </a:r>
          </a:p>
          <a:p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"properties": {</a:t>
            </a:r>
          </a:p>
          <a:p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"city": {</a:t>
            </a:r>
          </a:p>
          <a:p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"title": "City",</a:t>
            </a:r>
          </a:p>
          <a:p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"type": "string"</a:t>
            </a:r>
          </a:p>
          <a:p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}</a:t>
            </a:r>
          </a:p>
          <a:p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},</a:t>
            </a:r>
          </a:p>
          <a:p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"required": [</a:t>
            </a:r>
          </a:p>
          <a:p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"city"</a:t>
            </a:r>
          </a:p>
          <a:p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],</a:t>
            </a:r>
          </a:p>
          <a:p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"title": "</a:t>
            </a:r>
            <a:r>
              <a:rPr lang="en-US" altLang="ko-KR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get_weather</a:t>
            </a: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"type": "object"</a:t>
            </a:r>
          </a:p>
          <a:p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}</a:t>
            </a:r>
          </a:p>
          <a:p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  <a:endParaRPr lang="ko-KR" altLang="en-US" sz="20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4AE4E0-ACA7-FF05-8A9B-ECA10A87DF0F}"/>
              </a:ext>
            </a:extLst>
          </p:cNvPr>
          <p:cNvSpPr txBox="1"/>
          <p:nvPr/>
        </p:nvSpPr>
        <p:spPr>
          <a:xfrm>
            <a:off x="7019636" y="2947424"/>
            <a:ext cx="39346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도구 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객체의 스키마를 JSON 형태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출력 결과 (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LLM에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실제 전달되는 JSON 구조)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4755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D7776-3F6F-3F87-4EBD-019687781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02665E-7CE5-4F5F-C477-936E02B53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w Cen MT" panose="020B0602020104020603" pitchFamily="34" charset="0"/>
              </a:rPr>
              <a:pPr/>
              <a:t>4</a:t>
            </a:fld>
            <a:endParaRPr lang="en-US" sz="1400" b="1" dirty="0">
              <a:latin typeface="Tw Cen MT" panose="020B0602020104020603" pitchFamily="34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72C49AB-7C76-05B9-988A-A676F734C77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Quickstart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B92D43-E0D1-4305-230C-16C54CBB0436}"/>
              </a:ext>
            </a:extLst>
          </p:cNvPr>
          <p:cNvSpPr txBox="1"/>
          <p:nvPr/>
        </p:nvSpPr>
        <p:spPr>
          <a:xfrm>
            <a:off x="6829425" y="664625"/>
            <a:ext cx="4715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함수의 객체화</a:t>
            </a:r>
            <a:endParaRPr lang="ko-KR" altLang="en-US" sz="20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DE9340D-4D97-96B9-523E-ED561DF757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499856"/>
              </p:ext>
            </p:extLst>
          </p:nvPr>
        </p:nvGraphicFramePr>
        <p:xfrm>
          <a:off x="1549109" y="4821775"/>
          <a:ext cx="8398455" cy="1371600"/>
        </p:xfrm>
        <a:graphic>
          <a:graphicData uri="http://schemas.openxmlformats.org/drawingml/2006/table">
            <a:tbl>
              <a:tblPr/>
              <a:tblGrid>
                <a:gridCol w="2080782">
                  <a:extLst>
                    <a:ext uri="{9D8B030D-6E8A-4147-A177-3AD203B41FA5}">
                      <a16:colId xmlns:a16="http://schemas.microsoft.com/office/drawing/2014/main" val="3769940256"/>
                    </a:ext>
                  </a:extLst>
                </a:gridCol>
                <a:gridCol w="3020291">
                  <a:extLst>
                    <a:ext uri="{9D8B030D-6E8A-4147-A177-3AD203B41FA5}">
                      <a16:colId xmlns:a16="http://schemas.microsoft.com/office/drawing/2014/main" val="3705396033"/>
                    </a:ext>
                  </a:extLst>
                </a:gridCol>
                <a:gridCol w="3297382">
                  <a:extLst>
                    <a:ext uri="{9D8B030D-6E8A-4147-A177-3AD203B41FA5}">
                      <a16:colId xmlns:a16="http://schemas.microsoft.com/office/drawing/2014/main" val="2647746452"/>
                    </a:ext>
                  </a:extLst>
                </a:gridCol>
              </a:tblGrid>
              <a:tr h="25908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buNone/>
                      </a:pPr>
                      <a:r>
                        <a:rPr 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구분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buNone/>
                      </a:pPr>
                      <a:r>
                        <a:rPr 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역할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buNone/>
                      </a:pPr>
                      <a:r>
                        <a:rPr 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주체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499819"/>
                  </a:ext>
                </a:extLst>
              </a:tr>
              <a:tr h="4102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buNone/>
                      </a:pPr>
                      <a:r>
                        <a:rPr lang="ko-KR" sz="1200" b="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LLM에게</a:t>
                      </a:r>
                      <a:r>
                        <a:rPr 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보낼</a:t>
                      </a: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용</a:t>
                      </a: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도</a:t>
                      </a:r>
                      <a:endParaRPr lang="ko-KR" sz="1200" b="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buNone/>
                      </a:pPr>
                      <a:r>
                        <a:rPr 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함수의 이름, 설명, 입력 파라미터를 JSON 스키마로 추출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buNone/>
                      </a:pPr>
                      <a:r>
                        <a:rPr lang="ko-KR" sz="1200" b="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Tool.args_schema</a:t>
                      </a:r>
                      <a:r>
                        <a:rPr 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sz="1200" b="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Tool.description</a:t>
                      </a:r>
                      <a:endParaRPr lang="ko-KR" sz="1200" b="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0406806"/>
                  </a:ext>
                </a:extLst>
              </a:tr>
              <a:tr h="4102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buNone/>
                      </a:pPr>
                      <a:r>
                        <a:rPr lang="ko-KR" sz="1200" b="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Python이</a:t>
                      </a:r>
                      <a:r>
                        <a:rPr 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실행</a:t>
                      </a: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altLang="en-US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용도</a:t>
                      </a:r>
                      <a:endParaRPr lang="ko-KR" sz="1200" b="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buNone/>
                      </a:pPr>
                      <a:r>
                        <a:rPr lang="ko-KR" sz="1200" b="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LLM이</a:t>
                      </a:r>
                      <a:r>
                        <a:rPr 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"이 도구 써줘" 요청했을 때 실제로 코드를 실행</a:t>
                      </a:r>
                      <a:r>
                        <a:rPr lang="en-US" alt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(Runnable)</a:t>
                      </a:r>
                      <a:endParaRPr lang="ko-KR" sz="1200" b="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buNone/>
                      </a:pPr>
                      <a:r>
                        <a:rPr lang="ko-KR" sz="1200" b="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Tool.run</a:t>
                      </a:r>
                      <a:r>
                        <a:rPr 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() 또는 </a:t>
                      </a:r>
                      <a:r>
                        <a:rPr lang="ko-KR" sz="1200" b="0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Tool.invoke</a:t>
                      </a:r>
                      <a:r>
                        <a:rPr lang="ko-KR" sz="1200" b="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652725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BE95632-88B0-AE4A-C24B-435BF6F668BB}"/>
              </a:ext>
            </a:extLst>
          </p:cNvPr>
          <p:cNvSpPr txBox="1"/>
          <p:nvPr/>
        </p:nvSpPr>
        <p:spPr>
          <a:xfrm>
            <a:off x="543279" y="1238142"/>
            <a:ext cx="11001626" cy="3290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ko-KR" sz="1400" b="1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도구 객체(Tool </a:t>
            </a:r>
            <a:r>
              <a:rPr lang="ko-KR" altLang="ko-KR" sz="1400" b="1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Object</a:t>
            </a:r>
            <a:r>
              <a:rPr lang="ko-KR" altLang="ko-KR" sz="1400" b="1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단순한 </a:t>
            </a:r>
            <a:r>
              <a:rPr lang="ko-KR" altLang="ko-KR" sz="140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함수(</a:t>
            </a:r>
            <a:r>
              <a:rPr lang="ko-KR" altLang="ko-KR" sz="140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def</a:t>
            </a:r>
            <a:r>
              <a:rPr lang="ko-KR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...)</a:t>
            </a:r>
            <a:r>
              <a:rPr lang="ko-KR" altLang="ko-KR" sz="140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에</a:t>
            </a:r>
            <a:r>
              <a:rPr lang="ko-KR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LangChain이</a:t>
            </a:r>
            <a:r>
              <a:rPr lang="ko-KR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필요한 부가 </a:t>
            </a: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기능들을 덧붙여서 만든 하나의 '포장된 상자(객체)'를 의미</a:t>
            </a:r>
            <a:r>
              <a:rPr lang="ko-KR" altLang="en-US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하며</a:t>
            </a: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일반 </a:t>
            </a:r>
            <a:r>
              <a:rPr lang="ko-KR" altLang="ko-KR" sz="140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함수: 오직 코드 실행만 가능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하지만</a:t>
            </a:r>
            <a:endParaRPr lang="en-US" altLang="ko-KR" sz="140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40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LangChain</a:t>
            </a:r>
            <a:r>
              <a:rPr lang="ko-KR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도구 객체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는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함수 코드 + </a:t>
            </a:r>
            <a:r>
              <a:rPr lang="ko-KR" altLang="ko-KR" sz="140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LLM이</a:t>
            </a:r>
            <a:r>
              <a:rPr lang="ko-KR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이해할 이름/설명/입력양식 + 예외 처리 기능 + 비동기 실행 기능 등이 모두 합쳐진 상태</a:t>
            </a:r>
            <a:endParaRPr lang="en-US" altLang="ko-KR" sz="140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ko-KR" sz="90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ko-KR" sz="1400" b="1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2. 왜 그냥 함수를 쓰지 않고 '</a:t>
            </a:r>
            <a:r>
              <a:rPr lang="ko-KR" altLang="ko-KR" sz="1400" b="1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객체화'할까요</a:t>
            </a:r>
            <a:r>
              <a:rPr lang="ko-KR" altLang="ko-KR" sz="1400" b="1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40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LLM은</a:t>
            </a:r>
            <a:r>
              <a:rPr lang="ko-KR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코드를 읽어서 직접 실행할 능력이 </a:t>
            </a:r>
            <a:r>
              <a:rPr lang="ko-KR" altLang="en-US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없기 때문에 </a:t>
            </a:r>
            <a:r>
              <a:rPr lang="ko-KR" altLang="ko-KR" sz="140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LLM이</a:t>
            </a:r>
            <a:r>
              <a:rPr lang="ko-KR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필요한 것은 "이 도구의 이름이 </a:t>
            </a:r>
            <a:r>
              <a:rPr lang="ko-KR" altLang="ko-KR" sz="140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뭐고</a:t>
            </a:r>
            <a:r>
              <a:rPr lang="ko-KR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어떤 매개변수를 받는지 알려주는 JSON 설명서“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sz="140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LangChain은</a:t>
            </a:r>
            <a:r>
              <a:rPr lang="ko-KR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일반 함수를 도구 객체로 변환하여 두 가지 일을 동시에 수행합니다:</a:t>
            </a:r>
          </a:p>
        </p:txBody>
      </p:sp>
    </p:spTree>
    <p:extLst>
      <p:ext uri="{BB962C8B-B14F-4D97-AF65-F5344CB8AC3E}">
        <p14:creationId xmlns:p14="http://schemas.microsoft.com/office/powerpoint/2010/main" val="617596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4453A-6059-3262-2F09-94AED3D5F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5F5A92-F3D1-2D53-87EE-54A5B352F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w Cen MT" panose="020B0602020104020603" pitchFamily="34" charset="0"/>
              </a:rPr>
              <a:pPr/>
              <a:t>5</a:t>
            </a:fld>
            <a:endParaRPr lang="en-US" sz="1400" b="1" dirty="0">
              <a:latin typeface="Tw Cen MT" panose="020B0602020104020603" pitchFamily="34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F12E9A6-56EB-A22B-01A3-52682F6DB98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Quickstart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3D53B3-BAEC-D9FC-9C0D-905EADF709CD}"/>
              </a:ext>
            </a:extLst>
          </p:cNvPr>
          <p:cNvSpPr txBox="1"/>
          <p:nvPr/>
        </p:nvSpPr>
        <p:spPr>
          <a:xfrm>
            <a:off x="6829425" y="664625"/>
            <a:ext cx="4715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Calling a Subgraph Directly</a:t>
            </a:r>
            <a:endParaRPr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7622F2-8A0B-55CF-C53C-F8565BF0B61C}"/>
              </a:ext>
            </a:extLst>
          </p:cNvPr>
          <p:cNvSpPr txBox="1"/>
          <p:nvPr/>
        </p:nvSpPr>
        <p:spPr>
          <a:xfrm>
            <a:off x="622587" y="1543925"/>
            <a:ext cx="10922317" cy="3108543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2.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에이전트 생성</a:t>
            </a:r>
          </a:p>
          <a:p>
            <a:pPr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agent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create_agent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pPr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model="google_genai:gemini-2.5-flash", 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사용할 언어 모델 지정</a:t>
            </a:r>
          </a:p>
          <a:p>
            <a:pPr>
              <a:buNone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tools=[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get_weather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],                   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에이전트가 사용할 수 있는 도구 목록</a:t>
            </a:r>
          </a:p>
          <a:p>
            <a:pPr>
              <a:buNone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system_prompt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="You are a helpful assistant", 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에이전트의 페르소나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지침</a:t>
            </a:r>
          </a:p>
          <a:p>
            <a:pPr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3.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에이전트 실행 및 질문 전달</a:t>
            </a:r>
          </a:p>
          <a:p>
            <a:pPr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result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agent.invoke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pPr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{"messages": [{"role": "user", "content": "What's the weather in San Francisco?"}]}</a:t>
            </a:r>
          </a:p>
          <a:p>
            <a:pPr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4.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최종 결과 출력</a:t>
            </a:r>
          </a:p>
          <a:p>
            <a:pPr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print(result["messages"][-1].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content_blocks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설명선: 굽은 선 12">
            <a:extLst>
              <a:ext uri="{FF2B5EF4-FFF2-40B4-BE49-F238E27FC236}">
                <a16:creationId xmlns:a16="http://schemas.microsoft.com/office/drawing/2014/main" id="{D320BCA0-8ECE-EF3E-74A3-E7DAA83F6AC0}"/>
              </a:ext>
            </a:extLst>
          </p:cNvPr>
          <p:cNvSpPr/>
          <p:nvPr/>
        </p:nvSpPr>
        <p:spPr>
          <a:xfrm>
            <a:off x="8017164" y="2332795"/>
            <a:ext cx="3825812" cy="109620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98008"/>
              <a:gd name="adj6" fmla="val -116981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2. LLM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의 의도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 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파악 및 도구 선택</a:t>
            </a: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  <a:cs typeface="Cascadia Mono SemiLight" panose="020B0609020000020004" pitchFamily="49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LLM(언어 모델)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은 자신이 아는 정보로 대답하는 대신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 함수 호출(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Function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 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Calling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)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을 하여 이때 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LLM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은 질문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(prompt)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의 핵심 인자인 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"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San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 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Francisco"를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 추출하고, 도구 명세에 적힌 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city라는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 파라미터에 매칭</a:t>
            </a:r>
            <a:endParaRPr lang="ko-KR" altLang="en-US" sz="1100" dirty="0">
              <a:latin typeface="D2Coding" panose="020B0609020101020101" pitchFamily="49" charset="-127"/>
              <a:ea typeface="D2Coding" panose="020B0609020101020101" pitchFamily="49" charset="-127"/>
              <a:cs typeface="Cascadia Mono SemiLight" panose="020B0609020000020004" pitchFamily="49" charset="0"/>
            </a:endParaRPr>
          </a:p>
        </p:txBody>
      </p:sp>
      <p:sp>
        <p:nvSpPr>
          <p:cNvPr id="15" name="설명선: 굽은 선 14">
            <a:extLst>
              <a:ext uri="{FF2B5EF4-FFF2-40B4-BE49-F238E27FC236}">
                <a16:creationId xmlns:a16="http://schemas.microsoft.com/office/drawing/2014/main" id="{4A8120F6-B9AB-1C10-CCAE-7C99F92072E8}"/>
              </a:ext>
            </a:extLst>
          </p:cNvPr>
          <p:cNvSpPr/>
          <p:nvPr/>
        </p:nvSpPr>
        <p:spPr>
          <a:xfrm>
            <a:off x="7139710" y="4104365"/>
            <a:ext cx="3825812" cy="1096205"/>
          </a:xfrm>
          <a:prstGeom prst="borderCallout2">
            <a:avLst>
              <a:gd name="adj1" fmla="val 18750"/>
              <a:gd name="adj2" fmla="val -8333"/>
              <a:gd name="adj3" fmla="val 27176"/>
              <a:gd name="adj4" fmla="val -46362"/>
              <a:gd name="adj5" fmla="val -25851"/>
              <a:gd name="adj6" fmla="val -98877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3. 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구조화된 도구 호출 요청 (Tool 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Call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 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Request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)</a:t>
            </a: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  <a:cs typeface="Cascadia Mono SemiLight" panose="020B06090200000200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LLM(언어 모델)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은 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LLM은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 단순히 텍스트를 출력하는 것이 아니라 내부적으로 다음과 같은 구조화된 요청을 반환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 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call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: 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get_weather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(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city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="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San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 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Francisco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")</a:t>
            </a:r>
          </a:p>
        </p:txBody>
      </p:sp>
      <p:sp>
        <p:nvSpPr>
          <p:cNvPr id="17" name="설명선: 굽은 선 16">
            <a:extLst>
              <a:ext uri="{FF2B5EF4-FFF2-40B4-BE49-F238E27FC236}">
                <a16:creationId xmlns:a16="http://schemas.microsoft.com/office/drawing/2014/main" id="{A12D67AB-EC0A-7ACD-9A9C-3EFD09EE0D36}"/>
              </a:ext>
            </a:extLst>
          </p:cNvPr>
          <p:cNvSpPr/>
          <p:nvPr/>
        </p:nvSpPr>
        <p:spPr>
          <a:xfrm>
            <a:off x="5226804" y="5389189"/>
            <a:ext cx="3825812" cy="931529"/>
          </a:xfrm>
          <a:prstGeom prst="borderCallout2">
            <a:avLst>
              <a:gd name="adj1" fmla="val 18750"/>
              <a:gd name="adj2" fmla="val -8333"/>
              <a:gd name="adj3" fmla="val -11709"/>
              <a:gd name="adj4" fmla="val -41533"/>
              <a:gd name="adj5" fmla="val -201395"/>
              <a:gd name="adj6" fmla="val -81495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4. Python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의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 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함수 실행</a:t>
            </a: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  <a:cs typeface="Cascadia Mono SemiLight" panose="020B06090200000200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LangChain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 에이전트 프레임워크가 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LLM의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 이 요청을 받아서 실제 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Python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 함수인 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get_weather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("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San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 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Francisco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")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를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Cascadia Mono SemiLight" panose="020B0609020000020004" pitchFamily="49" charset="0"/>
              </a:rPr>
              <a:t> 실행하고 결과</a:t>
            </a:r>
          </a:p>
        </p:txBody>
      </p:sp>
    </p:spTree>
    <p:extLst>
      <p:ext uri="{BB962C8B-B14F-4D97-AF65-F5344CB8AC3E}">
        <p14:creationId xmlns:p14="http://schemas.microsoft.com/office/powerpoint/2010/main" val="56986153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17343</TotalTime>
  <Words>665</Words>
  <Application>Microsoft Office PowerPoint</Application>
  <PresentationFormat>와이드스크린</PresentationFormat>
  <Paragraphs>90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D2Coding</vt:lpstr>
      <vt:lpstr>맑은 고딕</vt:lpstr>
      <vt:lpstr>Batang</vt:lpstr>
      <vt:lpstr>Arial</vt:lpstr>
      <vt:lpstr>Tw Cen MT</vt:lpstr>
      <vt:lpstr>Wingdings</vt:lpstr>
      <vt:lpstr>WelcomeDoc</vt:lpstr>
      <vt:lpstr>Get started &amp; Core components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조상구</cp:lastModifiedBy>
  <cp:revision>243</cp:revision>
  <dcterms:created xsi:type="dcterms:W3CDTF">2026-04-06T01:00:39Z</dcterms:created>
  <dcterms:modified xsi:type="dcterms:W3CDTF">2026-07-23T06:43:44Z</dcterms:modified>
  <cp:version/>
</cp:coreProperties>
</file>